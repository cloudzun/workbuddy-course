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120640" y="91440"/>
            <a:ext cx="402336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0" b="1" dirty="0">
                <a:solidFill>
                  <a:srgbClr val="28B894">
                    <a:alpha val="2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9000" dirty="0"/>
          </a:p>
        </p:txBody>
      </p:sp>
      <p:sp>
        <p:nvSpPr>
          <p:cNvPr id="5" name="Shape 3"/>
          <p:cNvSpPr/>
          <p:nvPr/>
        </p:nvSpPr>
        <p:spPr>
          <a:xfrm>
            <a:off x="7040880" y="-1371600"/>
            <a:ext cx="3840480" cy="3840480"/>
          </a:xfrm>
          <a:prstGeom prst="ellipse">
            <a:avLst/>
          </a:prstGeom>
          <a:solidFill>
            <a:srgbClr val="FFFFFF">
              <a:alpha val="8000"/>
            </a:srgbClr>
          </a:solidFill>
          <a:ln w="19050">
            <a:solidFill>
              <a:srgbClr val="B8E8DC">
                <a:alpha val="4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635240" y="-777240"/>
            <a:ext cx="2651760" cy="265176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280160" y="3566160"/>
            <a:ext cx="2651760" cy="265176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583680" y="411480"/>
            <a:ext cx="365760" cy="365760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6309360" y="228600"/>
            <a:ext cx="201168" cy="201168"/>
          </a:xfrm>
          <a:prstGeom prst="ellipse">
            <a:avLst/>
          </a:prstGeom>
          <a:solidFill>
            <a:srgbClr val="A8895F">
              <a:alpha val="55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548640" y="4572000"/>
            <a:ext cx="457200" cy="457200"/>
          </a:xfrm>
          <a:prstGeom prst="ellipse">
            <a:avLst/>
          </a:prstGeom>
          <a:solidFill>
            <a:srgbClr val="B8E8DC">
              <a:alpha val="30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731520" y="914400"/>
            <a:ext cx="64008" cy="237744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93268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141732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1143000" y="2487168"/>
            <a:ext cx="2011680" cy="41148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097280" y="2724912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定时触发 · 无人值守 · 后台自动执行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097280" y="3246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如果说助理解决“人不在电脑前”，那么自动化解决“人完全不在场”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972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3716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164592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192024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219456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246888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274320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3017520" y="4114800"/>
            <a:ext cx="137160" cy="137160"/>
          </a:xfrm>
          <a:prstGeom prst="ellipse">
            <a:avLst/>
          </a:prstGeom>
          <a:solidFill>
            <a:srgbClr val="28B894">
              <a:alpha val="80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4114800"/>
            <a:ext cx="137160" cy="137160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1097280" y="44805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效率进阶实训课程 · 配套实验（实验 8.1-8.4）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学习目标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1978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978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7043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阐述自动化任务的核心机制与适用场景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183794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3794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区分自动化与手动执行的边界，并在实际业务中运用混合模式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247802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7802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45059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掌握在 WorkBuddy 中创建与管理自动化任务的核心配置项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311810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11810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09067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运用提示词最佳实践，设计高效、准确的自动化任务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375818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37581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73075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识别并规避自动化执行过程中的安全与权限风险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48640" y="42976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0" name="Shape 18"/>
          <p:cNvSpPr/>
          <p:nvPr/>
        </p:nvSpPr>
        <p:spPr>
          <a:xfrm>
            <a:off x="548640" y="42976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2976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自动化把“人完全不在场”时的工作交给后台——学完本章，你将掌握配置、调度、提示词与安全边界。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8.1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自动化任务概述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8.1.1 核心概念与调度机制：周期性、重复性任务的定时执行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8.1.2 自动化与手动执行的协同：按任务性质选择执行方式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8.1.3 安全与权限边界：后台静默运行，权限校验意识不可缺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自动化任务：核心概念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自动化任务专为周期性、重复性工作设计。配置完成后，WorkBuddy 严格按照设定的时间表自动执行特定任务，并将生成的产物保存至指定目录。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201168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13232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按时间表自动执行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13232" y="21031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严格按照设定的时间表触发任务，无需人工干预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4630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10128" y="1463040"/>
            <a:ext cx="54864" cy="201168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产物保存至指定目录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474720" y="21031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执行结果自动生成并保存到配置的指定目录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71616" y="1463040"/>
            <a:ext cx="26060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071616" y="1463040"/>
            <a:ext cx="54864" cy="20116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6236208" y="1572768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内置调度器支撑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36208" y="2103120"/>
            <a:ext cx="22860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定时规则官方口径——“设置执行频率和生效日期区间”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48640" y="36576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6576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6576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文中“定时规则”等产品文案均以官方文档为口径；具体界面细节以产品实际展示为准。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官方文档《自动化》：https://www.workbuddy.cn/docs/workbuddy/From-Beginner-to-Expert-Guide/Function-Description/Automation-Guide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自动化任务的典型应用场景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41732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417320"/>
            <a:ext cx="54864" cy="14173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5453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每日晨间资讯简报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00253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定时自动搜集并汇总当日资讯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09160" y="141732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09160" y="1417320"/>
            <a:ext cx="54864" cy="141732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5453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行业新闻汇总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200253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每天上午 9 点自动汇总 AI 行业新闻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3017520"/>
            <a:ext cx="54864" cy="14173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145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本周工作汇总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31520" y="360273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周末自动生成本周工作汇总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09160" y="3017520"/>
            <a:ext cx="393192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3017520"/>
            <a:ext cx="54864" cy="141732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3145536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业务数据与个人提醒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92040" y="3602736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定期整理业务数据，或触发体检、学习计划提醒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场景共性：时间规律、重复执行、输出格式相对固定——这正是自动化最擅长的任务类型。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调度机制：循环与单次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24128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内置强大的调度器支撑自动化运行，教材将定时规则归纳为两种调度模式：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7373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91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循环模式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0" y="21031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适用于需要长期重复执行的任务。系统按设定的执行频率触发，例如设定每天早上 9 点准时执行。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31920" cy="1737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63040"/>
            <a:ext cx="54864" cy="173736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91056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单次模式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892040" y="2103120"/>
            <a:ext cx="35661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适用于只需在未来某一具体时间点执行一次的任务，执行一次后不再触发。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4290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34290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429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定时规则官方口径“设置执行频率和生效日期区间”：超出生效日期区间后，任务将自动失效。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39776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39776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运行前提：电脑开机、WorkBuddy 客户端运行、网络连接正常，且该任务未被手动禁用（运行前提详见第 7 章）。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官方文档《自动化》：https://www.workbuddy.cn/docs/workbuddy/From-Beginner-to-Expert-Guide/Function-Description/Automation-Guide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自动化与手动执行的协同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34440"/>
          <a:ext cx="8046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3429000"/>
                <a:gridCol w="342900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对比维度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自动化任务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手动执行（Ask / Craft 模式）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任务特征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重复性高、时间规律性强、输出格式相对固定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一次性探索、需要高度人工判断、创意性极强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推荐方式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采用自动化模式，强烈建议以节省精力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手动执行，带来更好的交互体验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换挡时机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流程跑通、输出稳定后转为自动化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新任务首次执行、结果待验证时先手动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65760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48640" y="365760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4"/>
          <p:cNvSpPr/>
          <p:nvPr/>
        </p:nvSpPr>
        <p:spPr>
          <a:xfrm>
            <a:off x="868680" y="365760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边界判定：任务能否“重复 + 规律 + 固定格式”三连？能 → 交给自动化后台代劳；不能 → 留给人机对话慢慢打磨。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48640" y="45262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45262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0" name="Text 7"/>
          <p:cNvSpPr/>
          <p:nvPr/>
        </p:nvSpPr>
        <p:spPr>
          <a:xfrm>
            <a:off x="777240" y="45262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上线自动化之前，建议采用“混合模式”过渡：先手动跑通并验证，再转换为自动化任务。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混合模式：上线前的过渡路径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手动跑通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94944" y="20116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先用手动执行跑通整个流程，验证提示词的输出效果与格式准确性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82112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310128" y="13716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37160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3438144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4" name="Text 12"/>
          <p:cNvSpPr/>
          <p:nvPr/>
        </p:nvSpPr>
        <p:spPr>
          <a:xfrm>
            <a:off x="3438144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68496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确认转换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56432" y="20116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确认无误后，将同一提示词配置为自动化任务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943600" y="1920240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5A6B7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000" dirty="0"/>
          </a:p>
        </p:txBody>
      </p:sp>
      <p:sp>
        <p:nvSpPr>
          <p:cNvPr id="18" name="Shape 16"/>
          <p:cNvSpPr/>
          <p:nvPr/>
        </p:nvSpPr>
        <p:spPr>
          <a:xfrm>
            <a:off x="6071616" y="1371600"/>
            <a:ext cx="26060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071616" y="1371600"/>
            <a:ext cx="54864" cy="18288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0" name="Shape 18"/>
          <p:cNvSpPr/>
          <p:nvPr/>
        </p:nvSpPr>
        <p:spPr>
          <a:xfrm>
            <a:off x="6199632" y="14813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Text 19"/>
          <p:cNvSpPr/>
          <p:nvPr/>
        </p:nvSpPr>
        <p:spPr>
          <a:xfrm>
            <a:off x="6199632" y="14813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29984" y="14630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放大调度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217920" y="201168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先以低频率试运行，确认执行结果符合预期后，再放大调度频率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48640" y="347472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8640" y="347472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6" name="Text 24"/>
          <p:cNvSpPr/>
          <p:nvPr/>
        </p:nvSpPr>
        <p:spPr>
          <a:xfrm>
            <a:off x="868680" y="347472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混合模式：上线任何自动化任务之前，先用手动方式跑通整个流程，避免因逻辑漏洞导致批量生成低质量内容。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8" name="Shape 26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9" name="Text 27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官方使用建议：新建任务后先以低频率试运行，确认 Agent 的理解与执行结果符合预期后，再放大调度频率。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安全与权限边界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自动化任务在后台静默运行，安全与权限控制尤为重要——必须建立强烈的权限校验意识。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1965960"/>
            <a:ext cx="7498080" cy="8229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8" name="Shape 6"/>
          <p:cNvSpPr/>
          <p:nvPr/>
        </p:nvSpPr>
        <p:spPr>
          <a:xfrm>
            <a:off x="960120" y="216712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1671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554480" y="203911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防范敏感数据外发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554480" y="238658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8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仔细检查任务所涉及的工作空间内容，避免将公司机密或个人隐私数据配置到会向外部发送的任务中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22960" y="2926080"/>
            <a:ext cx="7498080" cy="8229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960120" y="312724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4" name="Text 12"/>
          <p:cNvSpPr/>
          <p:nvPr/>
        </p:nvSpPr>
        <p:spPr>
          <a:xfrm>
            <a:off x="960120" y="3127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299923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核心操作人工介入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554480" y="334670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8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对于涉及对外发送邮件、发布公开文章等具有影响力的任务，建议在自动化流程中保留人工确认环节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822960" y="3886200"/>
            <a:ext cx="7498080" cy="82296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8" name="Shape 16"/>
          <p:cNvSpPr/>
          <p:nvPr/>
        </p:nvSpPr>
        <p:spPr>
          <a:xfrm>
            <a:off x="960120" y="408736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408736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554480" y="3959352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警惕不可逆操作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54480" y="4306824"/>
            <a:ext cx="6583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AF8F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避免配置删除文件、覆写重要配置等不可逆的危险操作，以免发生意外的数据丢失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48006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三条底线 = 自动化任务上线前的“安全体检清单”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8.2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创建与管理自动化任务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8.2.1 任务创建流程与核心配置：入口与官方六项配置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8.2.2 提示词编写与最佳实践：无人值守下的提示词设计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8.2.3 典型场景模板应用：工作 / 学习 / 生活 / 娱乐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8.2.4 移动端推送配置：执行结果同步至微信小程序</a:t>
            </a:r>
            <a:endParaRPr lang="en-US" sz="15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任务创建流程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161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161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打开入口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3566160" y="118872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点击左侧边栏的“自动化”图标，进入自动化任务管理中心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40080" y="18562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562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34440" y="182880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查看列表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566160" y="182880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页面上方展示“已安排任务”和“已完成任务”的列表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0080" y="249631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496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46888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新建任务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566160" y="24688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点击右上角的“添加”按钮，即可新建任务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8046720" cy="868680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64008" cy="86868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32918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产品界面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868680" y="365760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创建和管理自动化任务的操作非常直观：WorkBuddy 主界面中，所有自动化功能都集中在专用的管理模块内。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2062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2062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2062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入口统一、列表清晰、操作直观——三步即可新建一个自动化任务。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48640" y="47548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官方文档《自动化》：https://www.workbuddy.cn/docs/workbuddy/From-Beginner-to-Expert-Guide/Function-Description/Automation-Guide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核心配置项：来自官方文档的六项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18872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6217920"/>
              </a:tblGrid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配置项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说明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8B894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任务名称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为任务设定一个清晰、易于辨识的名称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工作空间（可选）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指定任务运行时所挂载的工作空间，以获取相应的上下文数据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提示词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定义 AI 在该任务中需要执行的具体指令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选择模型和技能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根据任务复杂度选择合适的模型（见第 6 章）与技能；是否支持 Agent（专家）/Team（专家团）作为执行主体，以产品实际支持为准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定时规则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配置执行频率（循环或单次）与生效日期区间，超出该区间后任务将自动失效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8B894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推送到小程序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C3E5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可选开启，将执行结果同步推送至绑定的 WorkBuddy 微信小程序</a:t>
                      </a:r>
                      <a:endParaRPr lang="en-US" sz="105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BD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4348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6" name="Shape 3"/>
          <p:cNvSpPr/>
          <p:nvPr/>
        </p:nvSpPr>
        <p:spPr>
          <a:xfrm>
            <a:off x="548640" y="443484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44348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以上为官方《自动化》文档列出的核心配置项；产品界面还可能提供访问权限等高级设置，以实际界面为准。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自动化提示词的五大要点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987552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自动化任务缺乏人工的实时干预与追问：在第 2 章任务描述三要素与歧义消除法则的基础上，还要做到——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Shape 5"/>
          <p:cNvSpPr/>
          <p:nvPr/>
        </p:nvSpPr>
        <p:spPr>
          <a:xfrm>
            <a:off x="658368" y="1709928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8" name="Text 6"/>
          <p:cNvSpPr/>
          <p:nvPr/>
        </p:nvSpPr>
        <p:spPr>
          <a:xfrm>
            <a:off x="658368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70432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明确输出格式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94944" y="22219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如“严格按照 Markdown 表格格式输出”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310128" y="160020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310128" y="1600200"/>
            <a:ext cx="54864" cy="13716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3" name="Shape 11"/>
          <p:cNvSpPr/>
          <p:nvPr/>
        </p:nvSpPr>
        <p:spPr>
          <a:xfrm>
            <a:off x="3419856" y="170992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3419856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限定字数或条数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456432" y="22219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例如 TOP 5、50 字摘要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71616" y="160020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71616" y="1600200"/>
            <a:ext cx="54864" cy="13716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9" name="Shape 17"/>
          <p:cNvSpPr/>
          <p:nvPr/>
        </p:nvSpPr>
        <p:spPr>
          <a:xfrm>
            <a:off x="6181344" y="1709928"/>
            <a:ext cx="411480" cy="411480"/>
          </a:xfrm>
          <a:prstGeom prst="ellipse">
            <a:avLst/>
          </a:prstGeom>
          <a:solidFill>
            <a:srgbClr val="2E9E83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170992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93408" y="169164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提供参考示例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217920" y="2221992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说明期望的输出样式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" y="3108960"/>
            <a:ext cx="54864" cy="1371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25" name="Shape 23"/>
          <p:cNvSpPr/>
          <p:nvPr/>
        </p:nvSpPr>
        <p:spPr>
          <a:xfrm>
            <a:off x="658368" y="3218688"/>
            <a:ext cx="411480" cy="411480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6" name="Text 24"/>
          <p:cNvSpPr/>
          <p:nvPr/>
        </p:nvSpPr>
        <p:spPr>
          <a:xfrm>
            <a:off x="658368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1170432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指定异常处理逻辑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31520" y="3730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无结果时怎么办，例如直接输出“今日无 AI 行业重要新闻”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10896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09160" y="3108960"/>
            <a:ext cx="54864" cy="13716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31" name="Shape 29"/>
          <p:cNvSpPr/>
          <p:nvPr/>
        </p:nvSpPr>
        <p:spPr>
          <a:xfrm>
            <a:off x="4818888" y="3218688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32" name="Text 30"/>
          <p:cNvSpPr/>
          <p:nvPr/>
        </p:nvSpPr>
        <p:spPr>
          <a:xfrm>
            <a:off x="4818888" y="321868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30952" y="32004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避免模糊表述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4892040" y="3730752"/>
            <a:ext cx="3566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避免“尽量”“大概”等模棱两可的说法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6" name="Shape 34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7" name="Text 35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五要点拼齐，无人值守的任务才知道“做什么、做成什么样、没结果时怎么办”。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优秀自动化提示词示例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优秀自动化提示词应具备——明确输出格式、限定字数或条数、提供参考示例、指定异常处理逻辑、避免模糊表述。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1554480"/>
          </a:xfrm>
          <a:prstGeom prst="rect">
            <a:avLst/>
          </a:prstGeom>
          <a:solidFill>
            <a:srgbClr val="2C3E50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31520" y="1554480"/>
            <a:ext cx="76809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E0F2E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每天早上 9:00，搜索今天的 AI 行业新闻，筛选出关注度最高的 TOP 5。每条新闻生成包含'标题'、'来源'和'50字摘要'的条目，并严格按照 Markdown 表格格式输出。异常处理：如果在执行时没有检索到相关新闻，请直接输出'今日无 AI 行业重要新闻'。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3291840"/>
            <a:ext cx="8046720" cy="402336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3291840"/>
            <a:ext cx="64008" cy="402336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291840"/>
            <a:ext cx="74980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把五要点写进一句话：格式明确、条数限定、异常兜底、避免模糊。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1" name="Shape 9"/>
          <p:cNvSpPr/>
          <p:nvPr/>
        </p:nvSpPr>
        <p:spPr>
          <a:xfrm>
            <a:off x="548640" y="416052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416052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同样一句话，异常处理逻辑让无人值守的任务“知道没结果时该怎么办”——这是自动化提示词的核心差异。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典型场景模板应用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为降低配置门槛，WorkBuddy 提供一系列常见场景的任务模板，用户可直接引用并微调：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572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工作类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每日行业新闻自动推送；每周五下班前的本周工作周报汇总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146304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463040"/>
            <a:ext cx="54864" cy="1371600"/>
          </a:xfrm>
          <a:prstGeom prst="rect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4892040" y="157276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学习类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892040" y="201168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每日生成特定领域的“为什么”科普知识；每天定时推送 10 个英语生词及例句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3017520"/>
            <a:ext cx="54864" cy="13716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生活类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3152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每周末提醒联系父母并生成问候语参考；每晚 9 点生成睡前故事；定期体检预约提醒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709160" y="301752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709160" y="3017520"/>
            <a:ext cx="54864" cy="13716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4892040" y="3127248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娱乐类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92040" y="3566160"/>
            <a:ext cx="3566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根据个人喜好每周推荐高分电影；每日自动生成并更换桌面壁纸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2" name="Shape 20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3" name="Text 21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不想从零编写提示词时，可直接使用任务模板，选择后按需修改即可。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移动端推送配置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除了在本地生成产物，WorkBuddy 还支持将自动化任务的执行结果推送到移动端，让您随时随地掌握信息。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4904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4904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4630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开启开关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3566160" y="146304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在自动化任务配置页的底部，勾选“推送到 WorkBuddy 微信小程序”开关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2112264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21122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34440" y="208483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云端同步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566160" y="2084832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WorkBuddy 通过加密通道将执行结果同步至云端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2734056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73405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2706624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小程序分发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566160" y="2706624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执行结果随后分发至您绑定的微信小程序中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8640" y="352044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8" name="Shape 16"/>
          <p:cNvSpPr/>
          <p:nvPr/>
        </p:nvSpPr>
        <p:spPr>
          <a:xfrm>
            <a:off x="548640" y="3520440"/>
            <a:ext cx="45720" cy="457200"/>
          </a:xfrm>
          <a:prstGeom prst="rect">
            <a:avLst/>
          </a:prstGeom>
          <a:solidFill>
            <a:srgbClr val="A8895F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352044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注意：使用该功能前，必须先完成微信小程序绑定——在客户端账号设置中完成绑定流程（绑定方法见第 7 章）。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48640" y="406908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21" name="Shape 19"/>
          <p:cNvSpPr/>
          <p:nvPr/>
        </p:nvSpPr>
        <p:spPr>
          <a:xfrm>
            <a:off x="548640" y="406908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406908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开启后无需守在电脑前：加密通道同步云端 → 绑定小程序即可收到执行结果，移动端随时掌握。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6035040" y="914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0" b="1" dirty="0">
                <a:solidFill>
                  <a:srgbClr val="28B894">
                    <a:alpha val="1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实验</a:t>
            </a:r>
            <a:endParaRPr lang="en-US" sz="15000" dirty="0"/>
          </a:p>
        </p:txBody>
      </p:sp>
      <p:sp>
        <p:nvSpPr>
          <p:cNvPr id="5" name="Shape 3"/>
          <p:cNvSpPr/>
          <p:nvPr/>
        </p:nvSpPr>
        <p:spPr>
          <a:xfrm>
            <a:off x="7223760" y="-1188720"/>
            <a:ext cx="3291840" cy="3291840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772400" y="-640080"/>
            <a:ext cx="2194560" cy="2194560"/>
          </a:xfrm>
          <a:prstGeom prst="ellipse">
            <a:avLst/>
          </a:prstGeom>
          <a:solidFill>
            <a:srgbClr val="28B894">
              <a:alpha val="13000"/>
            </a:srgbClr>
          </a:solidFill>
          <a:ln w="12700">
            <a:solidFill>
              <a:srgbClr val="B8E8DC">
                <a:alpha val="3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-1188720" y="3749040"/>
            <a:ext cx="2560320" cy="2560320"/>
          </a:xfrm>
          <a:prstGeom prst="ellipse">
            <a:avLst/>
          </a:prstGeom>
          <a:solidFill>
            <a:srgbClr val="2E9E83">
              <a:alpha val="15000"/>
            </a:srgbClr>
          </a:solidFill>
          <a:ln w="12700">
            <a:solidFill>
              <a:srgbClr val="B8E8DC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457200"/>
            <a:ext cx="292608" cy="292608"/>
          </a:xfrm>
          <a:prstGeom prst="ellipse">
            <a:avLst/>
          </a:prstGeom>
          <a:solidFill>
            <a:srgbClr val="B8E8DC">
              <a:alpha val="45000"/>
            </a:srgbClr>
          </a:solidFill>
          <a:ln/>
        </p:spPr>
      </p:sp>
      <p:sp>
        <p:nvSpPr>
          <p:cNvPr id="9" name="Shape 7"/>
          <p:cNvSpPr/>
          <p:nvPr/>
        </p:nvSpPr>
        <p:spPr>
          <a:xfrm>
            <a:off x="731520" y="914400"/>
            <a:ext cx="64008" cy="2011680"/>
          </a:xfrm>
          <a:prstGeom prst="rect">
            <a:avLst/>
          </a:prstGeom>
          <a:solidFill>
            <a:srgbClr val="B8E8DC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8229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1097280" y="169164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章配套实验（labs/ch08-labs.md）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1188720" y="28712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1508760" y="27432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8.1 创建第一个自动化任务：官方六项配置 + 每日定时资讯简报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188720" y="33284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32004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8.2 循环 vs 单次调度：执行频率与生效日期区间对比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188720" y="37856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1508760" y="36576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8.3 自动化提示词最佳实践：有无异常处理的输出对比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188720" y="4242816"/>
            <a:ext cx="164592" cy="16459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9" name="Text 17"/>
          <p:cNvSpPr/>
          <p:nvPr/>
        </p:nvSpPr>
        <p:spPr>
          <a:xfrm>
            <a:off x="1508760" y="4114800"/>
            <a:ext cx="6766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DF2E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 8.4 混合模式过渡：先手动跑通 → 验证 → 转自动化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章配套实验（labs/ch08-labs.md）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37160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463040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444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创建第一个自动化任务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13232" y="19019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官方六项配置（名称/工作空间/提示词/选择模型和技能/定时规则/推送到小程序）与每日定时资讯简报场景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13232" y="2487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83080" y="24871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1.1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709160" y="137160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09160" y="137160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4" name="Shape 12"/>
          <p:cNvSpPr/>
          <p:nvPr/>
        </p:nvSpPr>
        <p:spPr>
          <a:xfrm>
            <a:off x="4837176" y="1463040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5" name="Text 13"/>
          <p:cNvSpPr/>
          <p:nvPr/>
        </p:nvSpPr>
        <p:spPr>
          <a:xfrm>
            <a:off x="4837176" y="1463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367528" y="144475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 vs 单次调度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873752" y="190195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定时规则中的执行频率（循环/单次）与生效日期区间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873752" y="248716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0" y="248716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8.1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292608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22" name="Shape 20"/>
          <p:cNvSpPr/>
          <p:nvPr/>
        </p:nvSpPr>
        <p:spPr>
          <a:xfrm>
            <a:off x="676656" y="3017520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3" name="Text 21"/>
          <p:cNvSpPr/>
          <p:nvPr/>
        </p:nvSpPr>
        <p:spPr>
          <a:xfrm>
            <a:off x="676656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2999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自动化提示词最佳实践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3232" y="34564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明确输出格式、限定数量、提供示例、指定异常处理、避免模糊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13232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83080" y="40416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8.1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709160" y="2926080"/>
            <a:ext cx="393192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2926080"/>
            <a:ext cx="54864" cy="137160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Shape 28"/>
          <p:cNvSpPr/>
          <p:nvPr/>
        </p:nvSpPr>
        <p:spPr>
          <a:xfrm>
            <a:off x="4837176" y="3017520"/>
            <a:ext cx="411480" cy="411480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31" name="Text 29"/>
          <p:cNvSpPr/>
          <p:nvPr/>
        </p:nvSpPr>
        <p:spPr>
          <a:xfrm>
            <a:off x="4837176" y="30175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8.4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67528" y="2999232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混合模式过渡</a:t>
            </a:r>
            <a:endParaRPr lang="en-US" sz="1250" dirty="0"/>
          </a:p>
        </p:txBody>
      </p:sp>
      <p:sp>
        <p:nvSpPr>
          <p:cNvPr id="33" name="Text 31"/>
          <p:cNvSpPr/>
          <p:nvPr/>
        </p:nvSpPr>
        <p:spPr>
          <a:xfrm>
            <a:off x="4873752" y="345643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先手动跑通 → 验证 → 转自动化，对比自动化与手动验证版产出一致性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873752" y="4041648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★ 必做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43600" y="4041648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前置：完成 8.1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8640" y="43434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37" name="Shape 35"/>
          <p:cNvSpPr/>
          <p:nvPr/>
        </p:nvSpPr>
        <p:spPr>
          <a:xfrm>
            <a:off x="548640" y="43434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8" name="Text 36"/>
          <p:cNvSpPr/>
          <p:nvPr/>
        </p:nvSpPr>
        <p:spPr>
          <a:xfrm>
            <a:off x="777240" y="43434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实验顺序：8.1 → 8.2 → 8.3 → 8.4；8.2-8.4 均依赖 8.1（8.1 前置为实验 1.1），四个实验均为 ★ 必做。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548640" y="482803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F8C8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可选扩展（○，需额外账号/权限）：《实践十：一句话，管理你的所有会议》可作为实验 8.2、8.4 的扩展场景；官方文档出处详见 labs/ch08-labs.md。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E8F7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执行自主性：一路拉满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64592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章 · 手动执行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840480" y="16459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4480560" y="1719072"/>
            <a:ext cx="365760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9" name="Text 7"/>
          <p:cNvSpPr/>
          <p:nvPr/>
        </p:nvSpPr>
        <p:spPr>
          <a:xfrm>
            <a:off x="4480560" y="17190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Ask / Craft 亲自操作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14400" y="26060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章 · 远程操控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840480" y="26060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4480560" y="2679192"/>
            <a:ext cx="365760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3" name="Text 11"/>
          <p:cNvSpPr/>
          <p:nvPr/>
        </p:nvSpPr>
        <p:spPr>
          <a:xfrm>
            <a:off x="4480560" y="267919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随时发起、远程受托执行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914400" y="356616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8E8D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章 · 无人值守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840480" y="356616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E9E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4480560" y="3639312"/>
            <a:ext cx="3657600" cy="502920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17" name="Text 15"/>
          <p:cNvSpPr/>
          <p:nvPr/>
        </p:nvSpPr>
        <p:spPr>
          <a:xfrm>
            <a:off x="4480560" y="363931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自动化定时任务后台代劳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548640" y="4526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8E8E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从手动执行（第 2 章）到远程操控（第 7 章）、再到无人值守（本章），WorkBuddy 的“执行自主性”已经拉满。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本章小结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7040880" y="-1280160"/>
            <a:ext cx="3474720" cy="3474720"/>
          </a:xfrm>
          <a:prstGeom prst="ellipse">
            <a:avLst/>
          </a:prstGeom>
          <a:solidFill>
            <a:srgbClr val="FFFFFF">
              <a:alpha val="20000"/>
            </a:srgbClr>
          </a:solidFill>
          <a:ln w="15240">
            <a:solidFill>
              <a:srgbClr val="28B894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35240" y="-685800"/>
            <a:ext cx="2286000" cy="2286000"/>
          </a:xfrm>
          <a:prstGeom prst="ellipse">
            <a:avLst/>
          </a:prstGeom>
          <a:solidFill>
            <a:srgbClr val="28B894">
              <a:alpha val="12000"/>
            </a:srgbClr>
          </a:solidFill>
          <a:ln w="12700">
            <a:solidFill>
              <a:srgbClr val="D5DBDB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0" y="640080"/>
            <a:ext cx="1828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rgbClr val="28B894">
                    <a:alpha val="2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6600" dirty="0"/>
          </a:p>
        </p:txBody>
      </p:sp>
      <p:sp>
        <p:nvSpPr>
          <p:cNvPr id="7" name="Shape 5"/>
          <p:cNvSpPr/>
          <p:nvPr/>
        </p:nvSpPr>
        <p:spPr>
          <a:xfrm>
            <a:off x="-914400" y="4023360"/>
            <a:ext cx="2194560" cy="2194560"/>
          </a:xfrm>
          <a:prstGeom prst="ellipse">
            <a:avLst/>
          </a:prstGeom>
          <a:solidFill>
            <a:srgbClr val="2E9E83">
              <a:alpha val="12000"/>
            </a:srgbClr>
          </a:solidFill>
          <a:ln w="12700">
            <a:solidFill>
              <a:srgbClr val="D5DBDB">
                <a:alpha val="3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9" name="Shape 7"/>
          <p:cNvSpPr/>
          <p:nvPr/>
        </p:nvSpPr>
        <p:spPr>
          <a:xfrm>
            <a:off x="566928" y="1325880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566928" y="1298448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20700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自动化专为周期性、重复性工作设计：内置调度器按“执行频率 + 生效日期区间”自动触发，产物保存至指定目录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3" name="Shape 11"/>
          <p:cNvSpPr/>
          <p:nvPr/>
        </p:nvSpPr>
        <p:spPr>
          <a:xfrm>
            <a:off x="566928" y="1929384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566928" y="1901952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1810512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调度双模式：循环模式长期重复执行；单次模式仅在指定时间点执行一次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17" name="Shape 15"/>
          <p:cNvSpPr/>
          <p:nvPr/>
        </p:nvSpPr>
        <p:spPr>
          <a:xfrm>
            <a:off x="566928" y="2532888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" y="2505456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05840" y="2414016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混合模式过渡：先手动跑通 → 验证输出 → 转自动化，避免批量生成低质量内容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28B894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136392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3108960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0175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官方六项配置：名称、工作空间、提示词、选择模型和技能、定时规则、推送到小程序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A8895F"/>
          </a:solidFill>
          <a:ln/>
        </p:spPr>
      </p:sp>
      <p:sp>
        <p:nvSpPr>
          <p:cNvPr id="25" name="Shape 23"/>
          <p:cNvSpPr/>
          <p:nvPr/>
        </p:nvSpPr>
        <p:spPr>
          <a:xfrm>
            <a:off x="566928" y="3739896"/>
            <a:ext cx="256032" cy="256032"/>
          </a:xfrm>
          <a:prstGeom prst="ellipse">
            <a:avLst/>
          </a:prstGeom>
          <a:solidFill>
            <a:srgbClr val="FFFFFF">
              <a:alpha val="45000"/>
            </a:srgbClr>
          </a:solidFill>
          <a:ln/>
        </p:spPr>
      </p:sp>
      <p:sp>
        <p:nvSpPr>
          <p:cNvPr id="26" name="Text 24"/>
          <p:cNvSpPr/>
          <p:nvPr/>
        </p:nvSpPr>
        <p:spPr>
          <a:xfrm>
            <a:off x="566928" y="3712464"/>
            <a:ext cx="256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005840" y="362102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底线与要点：防敏感数据外发、核心操作人工介入、警惕不可逆操作；提示词做到格式明确、数量限定、给示例、定异常、避模糊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548640" y="4297680"/>
            <a:ext cx="8046720" cy="621792"/>
          </a:xfrm>
          <a:prstGeom prst="rect">
            <a:avLst/>
          </a:prstGeom>
          <a:solidFill>
            <a:srgbClr val="E9F5F1"/>
          </a:solidFill>
          <a:ln/>
          <a:effectLst>
            <a:outerShdw sx="100000" sy="100000" kx="0" ky="0" algn="bl" rotWithShape="0" blurRad="76200" dist="254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48640" y="4297680"/>
            <a:ext cx="64008" cy="621792"/>
          </a:xfrm>
          <a:prstGeom prst="rect">
            <a:avLst/>
          </a:prstGeom>
          <a:solidFill>
            <a:srgbClr val="28B894"/>
          </a:solidFill>
          <a:ln/>
        </p:spPr>
      </p:sp>
      <p:sp>
        <p:nvSpPr>
          <p:cNvPr id="30" name="Text 28"/>
          <p:cNvSpPr/>
          <p:nvPr/>
        </p:nvSpPr>
        <p:spPr>
          <a:xfrm>
            <a:off x="868680" y="4297680"/>
            <a:ext cx="7498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下一章：第 9 章 典型办公场景综合实战与 OPC 一人公司——把自动化投入真实办公战场，以 OPC 视角收官全书。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8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743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8B89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课后思考题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868680"/>
            <a:ext cx="914400" cy="32004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26187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6187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234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自动化任务与手动执行的 Ask/Craft 模式在适用场景上有何根本区别？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08483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0848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34440" y="20574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在编写自动化任务的提示词时，为什么必须包含“异常处理逻辑”？请举例说明。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290779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90779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34440" y="288036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简述在配置涉及公司业务数据的自动化任务时，应采取哪些安全防范措施。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730752"/>
            <a:ext cx="411480" cy="411480"/>
          </a:xfrm>
          <a:prstGeom prst="ellipse">
            <a:avLst/>
          </a:prstGeom>
          <a:solidFill>
            <a:srgbClr val="5A6B7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703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如果一个每天上午 10 点执行的自动化任务未能如期推送结果，请列举至少三种可能的排查方向。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4572000"/>
            <a:ext cx="8046720" cy="457200"/>
          </a:xfrm>
          <a:prstGeom prst="rect">
            <a:avLst/>
          </a:prstGeom>
          <a:solidFill>
            <a:srgbClr val="E7F3EE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572000"/>
            <a:ext cx="45720" cy="457200"/>
          </a:xfrm>
          <a:prstGeom prst="rect">
            <a:avLst/>
          </a:prstGeom>
          <a:solidFill>
            <a:srgbClr val="2E9E83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572000"/>
            <a:ext cx="7589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C3E5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建议先独立思考，再回到自动化页面与配套实验（labs/ch08-labs.md）动手验证你的答案。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 自动化</dc:title>
  <dc:subject>PptxGenJS Presentation</dc:subject>
  <dc:creator>WorkBuddy 效率进阶实训课程</dc:creator>
  <cp:lastModifiedBy>WorkBuddy 效率进阶实训课程</cp:lastModifiedBy>
  <cp:revision>1</cp:revision>
  <dcterms:created xsi:type="dcterms:W3CDTF">2026-08-17T12:53:24Z</dcterms:created>
  <dcterms:modified xsi:type="dcterms:W3CDTF">2026-08-17T12:53:24Z</dcterms:modified>
</cp:coreProperties>
</file>