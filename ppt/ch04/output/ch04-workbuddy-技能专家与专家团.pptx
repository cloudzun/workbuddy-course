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8F73"/>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2E9E83"/>
          </a:solidFill>
          <a:ln/>
        </p:spPr>
      </p:sp>
      <p:sp>
        <p:nvSpPr>
          <p:cNvPr id="3" name="Shape 1"/>
          <p:cNvSpPr/>
          <p:nvPr/>
        </p:nvSpPr>
        <p:spPr>
          <a:xfrm>
            <a:off x="0" y="5097780"/>
            <a:ext cx="9144000" cy="45720"/>
          </a:xfrm>
          <a:prstGeom prst="rect">
            <a:avLst/>
          </a:prstGeom>
          <a:solidFill>
            <a:srgbClr val="2E9E83"/>
          </a:solidFill>
          <a:ln/>
        </p:spPr>
      </p:sp>
      <p:sp>
        <p:nvSpPr>
          <p:cNvPr id="4" name="Text 2"/>
          <p:cNvSpPr/>
          <p:nvPr/>
        </p:nvSpPr>
        <p:spPr>
          <a:xfrm>
            <a:off x="5120640" y="91440"/>
            <a:ext cx="4023360" cy="4023360"/>
          </a:xfrm>
          <a:prstGeom prst="rect">
            <a:avLst/>
          </a:prstGeom>
          <a:noFill/>
          <a:ln/>
        </p:spPr>
        <p:txBody>
          <a:bodyPr wrap="square" lIns="0" tIns="0" rIns="0" bIns="0" rtlCol="0" anchor="ctr"/>
          <a:lstStyle/>
          <a:p>
            <a:pPr algn="ctr" indent="0" marL="0">
              <a:buNone/>
            </a:pPr>
            <a:r>
              <a:rPr lang="en-US" sz="19000" b="1" dirty="0">
                <a:solidFill>
                  <a:srgbClr val="28B894">
                    <a:alpha val="20000"/>
                  </a:srgbClr>
                </a:solidFill>
                <a:latin typeface="Arial" pitchFamily="34" charset="0"/>
                <a:ea typeface="Arial" pitchFamily="34" charset="-122"/>
                <a:cs typeface="Arial" pitchFamily="34" charset="-120"/>
              </a:rPr>
              <a:t>04</a:t>
            </a:r>
            <a:endParaRPr lang="en-US" sz="19000" dirty="0"/>
          </a:p>
        </p:txBody>
      </p:sp>
      <p:sp>
        <p:nvSpPr>
          <p:cNvPr id="5" name="Shape 3"/>
          <p:cNvSpPr/>
          <p:nvPr/>
        </p:nvSpPr>
        <p:spPr>
          <a:xfrm>
            <a:off x="7040880" y="-1371600"/>
            <a:ext cx="3840480" cy="3840480"/>
          </a:xfrm>
          <a:prstGeom prst="ellipse">
            <a:avLst/>
          </a:prstGeom>
          <a:solidFill>
            <a:srgbClr val="FFFFFF">
              <a:alpha val="8000"/>
            </a:srgbClr>
          </a:solidFill>
          <a:ln w="19050">
            <a:solidFill>
              <a:srgbClr val="B8E8DC">
                <a:alpha val="45000"/>
              </a:srgbClr>
            </a:solidFill>
            <a:prstDash val="solid"/>
          </a:ln>
        </p:spPr>
      </p:sp>
      <p:sp>
        <p:nvSpPr>
          <p:cNvPr id="6" name="Shape 4"/>
          <p:cNvSpPr/>
          <p:nvPr/>
        </p:nvSpPr>
        <p:spPr>
          <a:xfrm>
            <a:off x="7635240" y="-777240"/>
            <a:ext cx="2651760" cy="2651760"/>
          </a:xfrm>
          <a:prstGeom prst="ellipse">
            <a:avLst/>
          </a:prstGeom>
          <a:solidFill>
            <a:srgbClr val="28B894">
              <a:alpha val="12000"/>
            </a:srgbClr>
          </a:solidFill>
          <a:ln w="12700">
            <a:solidFill>
              <a:srgbClr val="B8E8DC">
                <a:alpha val="40000"/>
              </a:srgbClr>
            </a:solidFill>
            <a:prstDash val="solid"/>
          </a:ln>
        </p:spPr>
      </p:sp>
      <p:sp>
        <p:nvSpPr>
          <p:cNvPr id="7" name="Shape 5"/>
          <p:cNvSpPr/>
          <p:nvPr/>
        </p:nvSpPr>
        <p:spPr>
          <a:xfrm>
            <a:off x="-1280160" y="3566160"/>
            <a:ext cx="2651760" cy="2651760"/>
          </a:xfrm>
          <a:prstGeom prst="ellipse">
            <a:avLst/>
          </a:prstGeom>
          <a:solidFill>
            <a:srgbClr val="2E9E83">
              <a:alpha val="15000"/>
            </a:srgbClr>
          </a:solidFill>
          <a:ln w="12700">
            <a:solidFill>
              <a:srgbClr val="B8E8DC">
                <a:alpha val="40000"/>
              </a:srgbClr>
            </a:solidFill>
            <a:prstDash val="solid"/>
          </a:ln>
        </p:spPr>
      </p:sp>
      <p:sp>
        <p:nvSpPr>
          <p:cNvPr id="8" name="Shape 6"/>
          <p:cNvSpPr/>
          <p:nvPr/>
        </p:nvSpPr>
        <p:spPr>
          <a:xfrm>
            <a:off x="6583680" y="411480"/>
            <a:ext cx="365760" cy="365760"/>
          </a:xfrm>
          <a:prstGeom prst="ellipse">
            <a:avLst/>
          </a:prstGeom>
          <a:solidFill>
            <a:srgbClr val="B8E8DC">
              <a:alpha val="45000"/>
            </a:srgbClr>
          </a:solidFill>
          <a:ln/>
        </p:spPr>
      </p:sp>
      <p:sp>
        <p:nvSpPr>
          <p:cNvPr id="9" name="Shape 7"/>
          <p:cNvSpPr/>
          <p:nvPr/>
        </p:nvSpPr>
        <p:spPr>
          <a:xfrm>
            <a:off x="6309360" y="228600"/>
            <a:ext cx="201168" cy="201168"/>
          </a:xfrm>
          <a:prstGeom prst="ellipse">
            <a:avLst/>
          </a:prstGeom>
          <a:solidFill>
            <a:srgbClr val="A8895F">
              <a:alpha val="55000"/>
            </a:srgbClr>
          </a:solidFill>
          <a:ln/>
        </p:spPr>
      </p:sp>
      <p:sp>
        <p:nvSpPr>
          <p:cNvPr id="10" name="Shape 8"/>
          <p:cNvSpPr/>
          <p:nvPr/>
        </p:nvSpPr>
        <p:spPr>
          <a:xfrm>
            <a:off x="548640" y="4572000"/>
            <a:ext cx="457200" cy="457200"/>
          </a:xfrm>
          <a:prstGeom prst="ellipse">
            <a:avLst/>
          </a:prstGeom>
          <a:solidFill>
            <a:srgbClr val="B8E8DC">
              <a:alpha val="30000"/>
            </a:srgbClr>
          </a:solidFill>
          <a:ln/>
        </p:spPr>
      </p:sp>
      <p:sp>
        <p:nvSpPr>
          <p:cNvPr id="11" name="Shape 9"/>
          <p:cNvSpPr/>
          <p:nvPr/>
        </p:nvSpPr>
        <p:spPr>
          <a:xfrm>
            <a:off x="731520" y="914400"/>
            <a:ext cx="64008" cy="2377440"/>
          </a:xfrm>
          <a:prstGeom prst="rect">
            <a:avLst/>
          </a:prstGeom>
          <a:solidFill>
            <a:srgbClr val="B8E8DC"/>
          </a:solidFill>
          <a:ln/>
        </p:spPr>
      </p:sp>
      <p:sp>
        <p:nvSpPr>
          <p:cNvPr id="12" name="Text 10"/>
          <p:cNvSpPr/>
          <p:nvPr/>
        </p:nvSpPr>
        <p:spPr>
          <a:xfrm>
            <a:off x="1097280" y="932688"/>
            <a:ext cx="6858000" cy="457200"/>
          </a:xfrm>
          <a:prstGeom prst="rect">
            <a:avLst/>
          </a:prstGeom>
          <a:noFill/>
          <a:ln/>
        </p:spPr>
        <p:txBody>
          <a:bodyPr wrap="square" lIns="0" tIns="0" rIns="0" bIns="0" rtlCol="0" anchor="ctr"/>
          <a:lstStyle/>
          <a:p>
            <a:pPr indent="0" marL="0">
              <a:buNone/>
            </a:pPr>
            <a:r>
              <a:rPr lang="en-US" sz="1800" b="1" dirty="0">
                <a:solidFill>
                  <a:srgbClr val="B8E8DC"/>
                </a:solidFill>
                <a:latin typeface="Microsoft YaHei" pitchFamily="34" charset="0"/>
                <a:ea typeface="Microsoft YaHei" pitchFamily="34" charset="-122"/>
                <a:cs typeface="Microsoft YaHei" pitchFamily="34" charset="-120"/>
              </a:rPr>
              <a:t>第 4 章</a:t>
            </a:r>
            <a:endParaRPr lang="en-US" sz="1800" dirty="0"/>
          </a:p>
        </p:txBody>
      </p:sp>
      <p:sp>
        <p:nvSpPr>
          <p:cNvPr id="13" name="Text 11"/>
          <p:cNvSpPr/>
          <p:nvPr/>
        </p:nvSpPr>
        <p:spPr>
          <a:xfrm>
            <a:off x="1097280" y="1417320"/>
            <a:ext cx="7498080" cy="914400"/>
          </a:xfrm>
          <a:prstGeom prst="rect">
            <a:avLst/>
          </a:prstGeom>
          <a:noFill/>
          <a:ln/>
        </p:spPr>
        <p:txBody>
          <a:bodyPr wrap="square" lIns="0" tIns="0" rIns="0" bIns="0" rtlCol="0" anchor="ctr"/>
          <a:lstStyle/>
          <a:p>
            <a:pPr indent="0" marL="0">
              <a:buNone/>
            </a:pPr>
            <a:r>
              <a:rPr lang="en-US" sz="4200" b="1" dirty="0">
                <a:solidFill>
                  <a:srgbClr val="FFFFFF"/>
                </a:solidFill>
                <a:latin typeface="Microsoft YaHei" pitchFamily="34" charset="0"/>
                <a:ea typeface="Microsoft YaHei" pitchFamily="34" charset="-122"/>
                <a:cs typeface="Microsoft YaHei" pitchFamily="34" charset="-120"/>
              </a:rPr>
              <a:t>技能、专家与专家团</a:t>
            </a:r>
            <a:endParaRPr lang="en-US" sz="4200" dirty="0"/>
          </a:p>
        </p:txBody>
      </p:sp>
      <p:sp>
        <p:nvSpPr>
          <p:cNvPr id="14" name="Shape 12"/>
          <p:cNvSpPr/>
          <p:nvPr/>
        </p:nvSpPr>
        <p:spPr>
          <a:xfrm>
            <a:off x="1143000" y="2487168"/>
            <a:ext cx="2011680" cy="41148"/>
          </a:xfrm>
          <a:prstGeom prst="rect">
            <a:avLst/>
          </a:prstGeom>
          <a:solidFill>
            <a:srgbClr val="28B894"/>
          </a:solidFill>
          <a:ln/>
        </p:spPr>
      </p:sp>
      <p:sp>
        <p:nvSpPr>
          <p:cNvPr id="15" name="Text 13"/>
          <p:cNvSpPr/>
          <p:nvPr/>
        </p:nvSpPr>
        <p:spPr>
          <a:xfrm>
            <a:off x="1097280" y="2724912"/>
            <a:ext cx="7498080" cy="548640"/>
          </a:xfrm>
          <a:prstGeom prst="rect">
            <a:avLst/>
          </a:prstGeom>
          <a:noFill/>
          <a:ln/>
        </p:spPr>
        <p:txBody>
          <a:bodyPr wrap="square" lIns="0" tIns="0" rIns="0" bIns="0" rtlCol="0" anchor="ctr"/>
          <a:lstStyle/>
          <a:p>
            <a:pPr indent="0" marL="0">
              <a:buNone/>
            </a:pPr>
            <a:r>
              <a:rPr lang="en-US" sz="1500" i="1" dirty="0">
                <a:solidFill>
                  <a:srgbClr val="DDF2EC"/>
                </a:solidFill>
                <a:latin typeface="Microsoft YaHei" pitchFamily="34" charset="0"/>
                <a:ea typeface="Microsoft YaHei" pitchFamily="34" charset="-122"/>
                <a:cs typeface="Microsoft YaHei" pitchFamily="34" charset="-120"/>
              </a:rPr>
              <a:t>工具层 · 方法层 · 协作层——三大能力组件一次讲透</a:t>
            </a:r>
            <a:endParaRPr lang="en-US" sz="1500" dirty="0"/>
          </a:p>
        </p:txBody>
      </p:sp>
      <p:sp>
        <p:nvSpPr>
          <p:cNvPr id="16" name="Shape 14"/>
          <p:cNvSpPr/>
          <p:nvPr/>
        </p:nvSpPr>
        <p:spPr>
          <a:xfrm>
            <a:off x="1097280" y="4114800"/>
            <a:ext cx="137160" cy="137160"/>
          </a:xfrm>
          <a:prstGeom prst="ellipse">
            <a:avLst/>
          </a:prstGeom>
          <a:solidFill>
            <a:srgbClr val="28B894">
              <a:alpha val="80000"/>
            </a:srgbClr>
          </a:solidFill>
          <a:ln/>
        </p:spPr>
      </p:sp>
      <p:sp>
        <p:nvSpPr>
          <p:cNvPr id="17" name="Shape 15"/>
          <p:cNvSpPr/>
          <p:nvPr/>
        </p:nvSpPr>
        <p:spPr>
          <a:xfrm>
            <a:off x="1371600" y="4114800"/>
            <a:ext cx="137160" cy="137160"/>
          </a:xfrm>
          <a:prstGeom prst="ellipse">
            <a:avLst/>
          </a:prstGeom>
          <a:solidFill>
            <a:srgbClr val="28B894">
              <a:alpha val="80000"/>
            </a:srgbClr>
          </a:solidFill>
          <a:ln/>
        </p:spPr>
      </p:sp>
      <p:sp>
        <p:nvSpPr>
          <p:cNvPr id="18" name="Shape 16"/>
          <p:cNvSpPr/>
          <p:nvPr/>
        </p:nvSpPr>
        <p:spPr>
          <a:xfrm>
            <a:off x="1645920" y="4114800"/>
            <a:ext cx="137160" cy="137160"/>
          </a:xfrm>
          <a:prstGeom prst="ellipse">
            <a:avLst/>
          </a:prstGeom>
          <a:solidFill>
            <a:srgbClr val="28B894">
              <a:alpha val="80000"/>
            </a:srgbClr>
          </a:solidFill>
          <a:ln/>
        </p:spPr>
      </p:sp>
      <p:sp>
        <p:nvSpPr>
          <p:cNvPr id="19" name="Shape 17"/>
          <p:cNvSpPr/>
          <p:nvPr/>
        </p:nvSpPr>
        <p:spPr>
          <a:xfrm>
            <a:off x="1920240" y="4114800"/>
            <a:ext cx="137160" cy="137160"/>
          </a:xfrm>
          <a:prstGeom prst="ellipse">
            <a:avLst/>
          </a:prstGeom>
          <a:solidFill>
            <a:srgbClr val="28B894">
              <a:alpha val="80000"/>
            </a:srgbClr>
          </a:solidFill>
          <a:ln/>
        </p:spPr>
      </p:sp>
      <p:sp>
        <p:nvSpPr>
          <p:cNvPr id="20" name="Shape 18"/>
          <p:cNvSpPr/>
          <p:nvPr/>
        </p:nvSpPr>
        <p:spPr>
          <a:xfrm>
            <a:off x="2194560" y="4114800"/>
            <a:ext cx="137160" cy="137160"/>
          </a:xfrm>
          <a:prstGeom prst="ellipse">
            <a:avLst/>
          </a:prstGeom>
          <a:solidFill>
            <a:srgbClr val="FFFFFF">
              <a:alpha val="25000"/>
            </a:srgbClr>
          </a:solidFill>
          <a:ln/>
        </p:spPr>
      </p:sp>
      <p:sp>
        <p:nvSpPr>
          <p:cNvPr id="21" name="Shape 19"/>
          <p:cNvSpPr/>
          <p:nvPr/>
        </p:nvSpPr>
        <p:spPr>
          <a:xfrm>
            <a:off x="2468880" y="4114800"/>
            <a:ext cx="137160" cy="137160"/>
          </a:xfrm>
          <a:prstGeom prst="ellipse">
            <a:avLst/>
          </a:prstGeom>
          <a:solidFill>
            <a:srgbClr val="FFFFFF">
              <a:alpha val="25000"/>
            </a:srgbClr>
          </a:solidFill>
          <a:ln/>
        </p:spPr>
      </p:sp>
      <p:sp>
        <p:nvSpPr>
          <p:cNvPr id="22" name="Shape 20"/>
          <p:cNvSpPr/>
          <p:nvPr/>
        </p:nvSpPr>
        <p:spPr>
          <a:xfrm>
            <a:off x="2743200" y="4114800"/>
            <a:ext cx="137160" cy="137160"/>
          </a:xfrm>
          <a:prstGeom prst="ellipse">
            <a:avLst/>
          </a:prstGeom>
          <a:solidFill>
            <a:srgbClr val="FFFFFF">
              <a:alpha val="25000"/>
            </a:srgbClr>
          </a:solidFill>
          <a:ln/>
        </p:spPr>
      </p:sp>
      <p:sp>
        <p:nvSpPr>
          <p:cNvPr id="23" name="Shape 21"/>
          <p:cNvSpPr/>
          <p:nvPr/>
        </p:nvSpPr>
        <p:spPr>
          <a:xfrm>
            <a:off x="3017520" y="4114800"/>
            <a:ext cx="137160" cy="137160"/>
          </a:xfrm>
          <a:prstGeom prst="ellipse">
            <a:avLst/>
          </a:prstGeom>
          <a:solidFill>
            <a:srgbClr val="FFFFFF">
              <a:alpha val="25000"/>
            </a:srgbClr>
          </a:solidFill>
          <a:ln/>
        </p:spPr>
      </p:sp>
      <p:sp>
        <p:nvSpPr>
          <p:cNvPr id="24" name="Shape 22"/>
          <p:cNvSpPr/>
          <p:nvPr/>
        </p:nvSpPr>
        <p:spPr>
          <a:xfrm>
            <a:off x="3291840" y="4114800"/>
            <a:ext cx="137160" cy="137160"/>
          </a:xfrm>
          <a:prstGeom prst="ellipse">
            <a:avLst/>
          </a:prstGeom>
          <a:solidFill>
            <a:srgbClr val="FFFFFF">
              <a:alpha val="25000"/>
            </a:srgbClr>
          </a:solidFill>
          <a:ln/>
        </p:spPr>
      </p:sp>
      <p:sp>
        <p:nvSpPr>
          <p:cNvPr id="25" name="Text 23"/>
          <p:cNvSpPr/>
          <p:nvPr/>
        </p:nvSpPr>
        <p:spPr>
          <a:xfrm>
            <a:off x="1097280" y="4480560"/>
            <a:ext cx="7315200" cy="365760"/>
          </a:xfrm>
          <a:prstGeom prst="rect">
            <a:avLst/>
          </a:prstGeom>
          <a:noFill/>
          <a:ln/>
        </p:spPr>
        <p:txBody>
          <a:bodyPr wrap="square" lIns="0" tIns="0" rIns="0" bIns="0" rtlCol="0" anchor="ctr"/>
          <a:lstStyle/>
          <a:p>
            <a:pPr indent="0" marL="0">
              <a:buNone/>
            </a:pPr>
            <a:r>
              <a:rPr lang="en-US" sz="1200" dirty="0">
                <a:solidFill>
                  <a:srgbClr val="C8E8E0"/>
                </a:solidFill>
                <a:latin typeface="Microsoft YaHei" pitchFamily="34" charset="0"/>
                <a:ea typeface="Microsoft YaHei" pitchFamily="34" charset="-122"/>
                <a:cs typeface="Microsoft YaHei" pitchFamily="34" charset="-120"/>
              </a:rPr>
              <a:t>WorkBuddy 效率进阶实训课程 · 配套实验（实验 4.1-4.6）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8F6"/>
        </a:solidFill>
      </p:bgPr>
    </p:bg>
    <p:spTree>
      <p:nvGrpSpPr>
        <p:cNvPr id="1" name=""/>
        <p:cNvGrpSpPr/>
        <p:nvPr/>
      </p:nvGrpSpPr>
      <p:grpSpPr>
        <a:xfrm>
          <a:off x="0" y="0"/>
          <a:ext cx="0" cy="0"/>
          <a:chOff x="0" y="0"/>
          <a:chExt cx="0" cy="0"/>
        </a:xfrm>
      </p:grpSpPr>
      <p:sp>
        <p:nvSpPr>
          <p:cNvPr id="2" name="Text 0"/>
          <p:cNvSpPr/>
          <p:nvPr/>
        </p:nvSpPr>
        <p:spPr>
          <a:xfrm>
            <a:off x="548640" y="274320"/>
            <a:ext cx="8046720" cy="594360"/>
          </a:xfrm>
          <a:prstGeom prst="rect">
            <a:avLst/>
          </a:prstGeom>
          <a:noFill/>
          <a:ln/>
        </p:spPr>
        <p:txBody>
          <a:bodyPr wrap="square" lIns="0" tIns="0" rIns="0" bIns="0" rtlCol="0" anchor="ctr"/>
          <a:lstStyle/>
          <a:p>
            <a:pPr indent="0" marL="0">
              <a:buNone/>
            </a:pPr>
            <a:r>
              <a:rPr lang="en-US" sz="2600" b="1" dirty="0">
                <a:solidFill>
                  <a:srgbClr val="28B894"/>
                </a:solidFill>
                <a:latin typeface="Microsoft YaHei" pitchFamily="34" charset="0"/>
                <a:ea typeface="Microsoft YaHei" pitchFamily="34" charset="-122"/>
                <a:cs typeface="Microsoft YaHei" pitchFamily="34" charset="-120"/>
              </a:rPr>
              <a:t>学习目标</a:t>
            </a:r>
            <a:endParaRPr lang="en-US" sz="2600" dirty="0"/>
          </a:p>
        </p:txBody>
      </p:sp>
      <p:sp>
        <p:nvSpPr>
          <p:cNvPr id="3" name="Shape 1"/>
          <p:cNvSpPr/>
          <p:nvPr/>
        </p:nvSpPr>
        <p:spPr>
          <a:xfrm>
            <a:off x="548640" y="868680"/>
            <a:ext cx="914400" cy="32004"/>
          </a:xfrm>
          <a:prstGeom prst="rect">
            <a:avLst/>
          </a:prstGeom>
          <a:solidFill>
            <a:srgbClr val="2E9E83"/>
          </a:solidFill>
          <a:ln/>
        </p:spPr>
      </p:sp>
      <p:sp>
        <p:nvSpPr>
          <p:cNvPr id="4" name="Shape 2"/>
          <p:cNvSpPr/>
          <p:nvPr/>
        </p:nvSpPr>
        <p:spPr>
          <a:xfrm>
            <a:off x="640080" y="1216152"/>
            <a:ext cx="411480" cy="411480"/>
          </a:xfrm>
          <a:prstGeom prst="ellipse">
            <a:avLst/>
          </a:prstGeom>
          <a:solidFill>
            <a:srgbClr val="5A6B7F"/>
          </a:solidFill>
          <a:ln/>
        </p:spPr>
      </p:sp>
      <p:sp>
        <p:nvSpPr>
          <p:cNvPr id="5" name="Text 3"/>
          <p:cNvSpPr/>
          <p:nvPr/>
        </p:nvSpPr>
        <p:spPr>
          <a:xfrm>
            <a:off x="640080" y="121615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01</a:t>
            </a:r>
            <a:endParaRPr lang="en-US" sz="1400" dirty="0"/>
          </a:p>
        </p:txBody>
      </p:sp>
      <p:sp>
        <p:nvSpPr>
          <p:cNvPr id="6" name="Text 4"/>
          <p:cNvSpPr/>
          <p:nvPr/>
        </p:nvSpPr>
        <p:spPr>
          <a:xfrm>
            <a:off x="1234440" y="1188720"/>
            <a:ext cx="7315200" cy="502920"/>
          </a:xfrm>
          <a:prstGeom prst="rect">
            <a:avLst/>
          </a:prstGeom>
          <a:noFill/>
          <a:ln/>
        </p:spPr>
        <p:txBody>
          <a:bodyPr wrap="square" lIns="0" tIns="0" rIns="0" bIns="0" rtlCol="0" anchor="ctr"/>
          <a:lstStyle/>
          <a:p>
            <a:pPr indent="0" marL="0">
              <a:buNone/>
            </a:pPr>
            <a:r>
              <a:rPr lang="en-US" sz="1400" dirty="0">
                <a:solidFill>
                  <a:srgbClr val="2C3E50"/>
                </a:solidFill>
                <a:latin typeface="Microsoft YaHei" pitchFamily="34" charset="0"/>
                <a:ea typeface="Microsoft YaHei" pitchFamily="34" charset="-122"/>
                <a:cs typeface="Microsoft YaHei" pitchFamily="34" charset="-120"/>
              </a:rPr>
              <a:t>深入理解技能与普通对话的核心区别，以及技能的底层运行机制</a:t>
            </a:r>
            <a:endParaRPr lang="en-US" sz="1400" dirty="0"/>
          </a:p>
        </p:txBody>
      </p:sp>
      <p:sp>
        <p:nvSpPr>
          <p:cNvPr id="7" name="Shape 5"/>
          <p:cNvSpPr/>
          <p:nvPr/>
        </p:nvSpPr>
        <p:spPr>
          <a:xfrm>
            <a:off x="640080" y="1874520"/>
            <a:ext cx="411480" cy="411480"/>
          </a:xfrm>
          <a:prstGeom prst="ellipse">
            <a:avLst/>
          </a:prstGeom>
          <a:solidFill>
            <a:srgbClr val="5A6B7F"/>
          </a:solidFill>
          <a:ln/>
        </p:spPr>
      </p:sp>
      <p:sp>
        <p:nvSpPr>
          <p:cNvPr id="8" name="Text 6"/>
          <p:cNvSpPr/>
          <p:nvPr/>
        </p:nvSpPr>
        <p:spPr>
          <a:xfrm>
            <a:off x="640080" y="187452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02</a:t>
            </a:r>
            <a:endParaRPr lang="en-US" sz="1400" dirty="0"/>
          </a:p>
        </p:txBody>
      </p:sp>
      <p:sp>
        <p:nvSpPr>
          <p:cNvPr id="9" name="Text 7"/>
          <p:cNvSpPr/>
          <p:nvPr/>
        </p:nvSpPr>
        <p:spPr>
          <a:xfrm>
            <a:off x="1234440" y="1847088"/>
            <a:ext cx="7315200" cy="502920"/>
          </a:xfrm>
          <a:prstGeom prst="rect">
            <a:avLst/>
          </a:prstGeom>
          <a:noFill/>
          <a:ln/>
        </p:spPr>
        <p:txBody>
          <a:bodyPr wrap="square" lIns="0" tIns="0" rIns="0" bIns="0" rtlCol="0" anchor="ctr"/>
          <a:lstStyle/>
          <a:p>
            <a:pPr indent="0" marL="0">
              <a:buNone/>
            </a:pPr>
            <a:r>
              <a:rPr lang="en-US" sz="1400" dirty="0">
                <a:solidFill>
                  <a:srgbClr val="2C3E50"/>
                </a:solidFill>
                <a:latin typeface="Microsoft YaHei" pitchFamily="34" charset="0"/>
                <a:ea typeface="Microsoft YaHei" pitchFamily="34" charset="-122"/>
                <a:cs typeface="Microsoft YaHei" pitchFamily="34" charset="-120"/>
              </a:rPr>
              <a:t>掌握技能的多种安装方式与日常管理操作，熟悉常用零成本技能</a:t>
            </a:r>
            <a:endParaRPr lang="en-US" sz="1400" dirty="0"/>
          </a:p>
        </p:txBody>
      </p:sp>
      <p:sp>
        <p:nvSpPr>
          <p:cNvPr id="10" name="Shape 8"/>
          <p:cNvSpPr/>
          <p:nvPr/>
        </p:nvSpPr>
        <p:spPr>
          <a:xfrm>
            <a:off x="640080" y="2532888"/>
            <a:ext cx="411480" cy="411480"/>
          </a:xfrm>
          <a:prstGeom prst="ellipse">
            <a:avLst/>
          </a:prstGeom>
          <a:solidFill>
            <a:srgbClr val="5A6B7F"/>
          </a:solidFill>
          <a:ln/>
        </p:spPr>
      </p:sp>
      <p:sp>
        <p:nvSpPr>
          <p:cNvPr id="11" name="Text 9"/>
          <p:cNvSpPr/>
          <p:nvPr/>
        </p:nvSpPr>
        <p:spPr>
          <a:xfrm>
            <a:off x="640080" y="253288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03</a:t>
            </a:r>
            <a:endParaRPr lang="en-US" sz="1400" dirty="0"/>
          </a:p>
        </p:txBody>
      </p:sp>
      <p:sp>
        <p:nvSpPr>
          <p:cNvPr id="12" name="Text 10"/>
          <p:cNvSpPr/>
          <p:nvPr/>
        </p:nvSpPr>
        <p:spPr>
          <a:xfrm>
            <a:off x="1234440" y="2505456"/>
            <a:ext cx="7315200" cy="502920"/>
          </a:xfrm>
          <a:prstGeom prst="rect">
            <a:avLst/>
          </a:prstGeom>
          <a:noFill/>
          <a:ln/>
        </p:spPr>
        <p:txBody>
          <a:bodyPr wrap="square" lIns="0" tIns="0" rIns="0" bIns="0" rtlCol="0" anchor="ctr"/>
          <a:lstStyle/>
          <a:p>
            <a:pPr indent="0" marL="0">
              <a:buNone/>
            </a:pPr>
            <a:r>
              <a:rPr lang="en-US" sz="1400" dirty="0">
                <a:solidFill>
                  <a:srgbClr val="2C3E50"/>
                </a:solidFill>
                <a:latin typeface="Microsoft YaHei" pitchFamily="34" charset="0"/>
                <a:ea typeface="Microsoft YaHei" pitchFamily="34" charset="-122"/>
                <a:cs typeface="Microsoft YaHei" pitchFamily="34" charset="-120"/>
              </a:rPr>
              <a:t>区分专家与专家团的概念，及二者在不同复杂度任务中的适用场景</a:t>
            </a:r>
            <a:endParaRPr lang="en-US" sz="1400" dirty="0"/>
          </a:p>
        </p:txBody>
      </p:sp>
      <p:sp>
        <p:nvSpPr>
          <p:cNvPr id="13" name="Shape 11"/>
          <p:cNvSpPr/>
          <p:nvPr/>
        </p:nvSpPr>
        <p:spPr>
          <a:xfrm>
            <a:off x="640080" y="3191256"/>
            <a:ext cx="411480" cy="411480"/>
          </a:xfrm>
          <a:prstGeom prst="ellipse">
            <a:avLst/>
          </a:prstGeom>
          <a:solidFill>
            <a:srgbClr val="5A6B7F"/>
          </a:solidFill>
          <a:ln/>
        </p:spPr>
      </p:sp>
      <p:sp>
        <p:nvSpPr>
          <p:cNvPr id="14" name="Text 12"/>
          <p:cNvSpPr/>
          <p:nvPr/>
        </p:nvSpPr>
        <p:spPr>
          <a:xfrm>
            <a:off x="640080" y="319125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04</a:t>
            </a:r>
            <a:endParaRPr lang="en-US" sz="1400" dirty="0"/>
          </a:p>
        </p:txBody>
      </p:sp>
      <p:sp>
        <p:nvSpPr>
          <p:cNvPr id="15" name="Text 13"/>
          <p:cNvSpPr/>
          <p:nvPr/>
        </p:nvSpPr>
        <p:spPr>
          <a:xfrm>
            <a:off x="1234440" y="3163824"/>
            <a:ext cx="7315200" cy="502920"/>
          </a:xfrm>
          <a:prstGeom prst="rect">
            <a:avLst/>
          </a:prstGeom>
          <a:noFill/>
          <a:ln/>
        </p:spPr>
        <p:txBody>
          <a:bodyPr wrap="square" lIns="0" tIns="0" rIns="0" bIns="0" rtlCol="0" anchor="ctr"/>
          <a:lstStyle/>
          <a:p>
            <a:pPr indent="0" marL="0">
              <a:buNone/>
            </a:pPr>
            <a:r>
              <a:rPr lang="en-US" sz="1400" dirty="0">
                <a:solidFill>
                  <a:srgbClr val="2C3E50"/>
                </a:solidFill>
                <a:latin typeface="Microsoft YaHei" pitchFamily="34" charset="0"/>
                <a:ea typeface="Microsoft YaHei" pitchFamily="34" charset="-122"/>
                <a:cs typeface="Microsoft YaHei" pitchFamily="34" charset="-120"/>
              </a:rPr>
              <a:t>掌握召唤与创建自定义专家、专家团的完整流程，理解 Multi-Agent 协作原理</a:t>
            </a:r>
            <a:endParaRPr lang="en-US" sz="1400" dirty="0"/>
          </a:p>
        </p:txBody>
      </p:sp>
      <p:sp>
        <p:nvSpPr>
          <p:cNvPr id="16" name="Shape 14"/>
          <p:cNvSpPr/>
          <p:nvPr/>
        </p:nvSpPr>
        <p:spPr>
          <a:xfrm>
            <a:off x="640080" y="3849624"/>
            <a:ext cx="411480" cy="411480"/>
          </a:xfrm>
          <a:prstGeom prst="ellipse">
            <a:avLst/>
          </a:prstGeom>
          <a:solidFill>
            <a:srgbClr val="5A6B7F"/>
          </a:solidFill>
          <a:ln/>
        </p:spPr>
      </p:sp>
      <p:sp>
        <p:nvSpPr>
          <p:cNvPr id="17" name="Text 15"/>
          <p:cNvSpPr/>
          <p:nvPr/>
        </p:nvSpPr>
        <p:spPr>
          <a:xfrm>
            <a:off x="640080" y="3849624"/>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05</a:t>
            </a:r>
            <a:endParaRPr lang="en-US" sz="1400" dirty="0"/>
          </a:p>
        </p:txBody>
      </p:sp>
      <p:sp>
        <p:nvSpPr>
          <p:cNvPr id="18" name="Text 16"/>
          <p:cNvSpPr/>
          <p:nvPr/>
        </p:nvSpPr>
        <p:spPr>
          <a:xfrm>
            <a:off x="1234440" y="3822192"/>
            <a:ext cx="7315200" cy="502920"/>
          </a:xfrm>
          <a:prstGeom prst="rect">
            <a:avLst/>
          </a:prstGeom>
          <a:noFill/>
          <a:ln/>
        </p:spPr>
        <p:txBody>
          <a:bodyPr wrap="square" lIns="0" tIns="0" rIns="0" bIns="0" rtlCol="0" anchor="ctr"/>
          <a:lstStyle/>
          <a:p>
            <a:pPr indent="0" marL="0">
              <a:buNone/>
            </a:pPr>
            <a:r>
              <a:rPr lang="en-US" sz="1400" dirty="0">
                <a:solidFill>
                  <a:srgbClr val="2C3E50"/>
                </a:solidFill>
                <a:latin typeface="Microsoft YaHei" pitchFamily="34" charset="0"/>
                <a:ea typeface="Microsoft YaHei" pitchFamily="34" charset="-122"/>
                <a:cs typeface="Microsoft YaHei" pitchFamily="34" charset="-120"/>
              </a:rPr>
              <a:t>对比 Skill、专家与专家团的差异，熟悉专家中心的领域覆盖与五类典型专家团的应用</a:t>
            </a:r>
            <a:endParaRPr lang="en-US" sz="1400" dirty="0"/>
          </a:p>
        </p:txBody>
      </p:sp>
      <p:sp>
        <p:nvSpPr>
          <p:cNvPr id="19" name="Shape 17"/>
          <p:cNvSpPr/>
          <p:nvPr/>
        </p:nvSpPr>
        <p:spPr>
          <a:xfrm>
            <a:off x="548640" y="4297680"/>
            <a:ext cx="8046720" cy="457200"/>
          </a:xfrm>
          <a:prstGeom prst="rect">
            <a:avLst/>
          </a:prstGeom>
          <a:solidFill>
            <a:srgbClr val="E7F3EE"/>
          </a:solidFill>
          <a:ln/>
        </p:spPr>
      </p:sp>
      <p:sp>
        <p:nvSpPr>
          <p:cNvPr id="20" name="Shape 18"/>
          <p:cNvSpPr/>
          <p:nvPr/>
        </p:nvSpPr>
        <p:spPr>
          <a:xfrm>
            <a:off x="548640" y="4297680"/>
            <a:ext cx="45720" cy="457200"/>
          </a:xfrm>
          <a:prstGeom prst="rect">
            <a:avLst/>
          </a:prstGeom>
          <a:solidFill>
            <a:srgbClr val="2E9E83"/>
          </a:solidFill>
          <a:ln/>
        </p:spPr>
      </p:sp>
      <p:sp>
        <p:nvSpPr>
          <p:cNvPr id="21" name="Text 19"/>
          <p:cNvSpPr/>
          <p:nvPr/>
        </p:nvSpPr>
        <p:spPr>
          <a:xfrm>
            <a:off x="777240" y="4297680"/>
            <a:ext cx="7589520" cy="457200"/>
          </a:xfrm>
          <a:prstGeom prst="rect">
            <a:avLst/>
          </a:prstGeom>
          <a:noFill/>
          <a:ln/>
        </p:spPr>
        <p:txBody>
          <a:bodyPr wrap="square" lIns="0" tIns="0" rIns="0" bIns="0" rtlCol="0" anchor="ctr"/>
          <a:lstStyle/>
          <a:p>
            <a:pPr indent="0" marL="0">
              <a:buNone/>
            </a:pPr>
            <a:r>
              <a:rPr lang="en-US" sz="1200" dirty="0">
                <a:solidFill>
                  <a:srgbClr val="2C3E50"/>
                </a:solidFill>
                <a:latin typeface="Microsoft YaHei" pitchFamily="34" charset="0"/>
                <a:ea typeface="Microsoft YaHei" pitchFamily="34" charset="-122"/>
                <a:cs typeface="Microsoft YaHei" pitchFamily="34" charset="-120"/>
              </a:rPr>
              <a:t>学完本章，你将能拆解灵感背后的能力体系：技能（工具）→ 专家（方法与角色）→ 专家团（协作）。</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8F73"/>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2E9E83"/>
          </a:solidFill>
          <a:ln/>
        </p:spPr>
      </p:sp>
      <p:sp>
        <p:nvSpPr>
          <p:cNvPr id="3" name="Shape 1"/>
          <p:cNvSpPr/>
          <p:nvPr/>
        </p:nvSpPr>
        <p:spPr>
          <a:xfrm>
            <a:off x="0" y="5097780"/>
            <a:ext cx="9144000" cy="45720"/>
          </a:xfrm>
          <a:prstGeom prst="rect">
            <a:avLst/>
          </a:prstGeom>
          <a:solidFill>
            <a:srgbClr val="2E9E83"/>
          </a:solidFill>
          <a:ln/>
        </p:spPr>
      </p:sp>
      <p:sp>
        <p:nvSpPr>
          <p:cNvPr id="4" name="Text 2"/>
          <p:cNvSpPr/>
          <p:nvPr/>
        </p:nvSpPr>
        <p:spPr>
          <a:xfrm>
            <a:off x="6035040" y="91440"/>
            <a:ext cx="3108960" cy="3108960"/>
          </a:xfrm>
          <a:prstGeom prst="rect">
            <a:avLst/>
          </a:prstGeom>
          <a:noFill/>
          <a:ln/>
        </p:spPr>
        <p:txBody>
          <a:bodyPr wrap="square" lIns="0" tIns="0" rIns="0" bIns="0" rtlCol="0" anchor="ctr"/>
          <a:lstStyle/>
          <a:p>
            <a:pPr algn="ctr" indent="0" marL="0">
              <a:buNone/>
            </a:pPr>
            <a:r>
              <a:rPr lang="en-US" sz="15000" b="1" dirty="0">
                <a:solidFill>
                  <a:srgbClr val="28B894">
                    <a:alpha val="18000"/>
                  </a:srgbClr>
                </a:solidFill>
                <a:latin typeface="Arial" pitchFamily="34" charset="0"/>
                <a:ea typeface="Arial" pitchFamily="34" charset="-122"/>
                <a:cs typeface="Arial" pitchFamily="34" charset="-120"/>
              </a:rPr>
              <a:t>4.1</a:t>
            </a:r>
            <a:endParaRPr lang="en-US" sz="15000" dirty="0"/>
          </a:p>
        </p:txBody>
      </p:sp>
      <p:sp>
        <p:nvSpPr>
          <p:cNvPr id="5" name="Shape 3"/>
          <p:cNvSpPr/>
          <p:nvPr/>
        </p:nvSpPr>
        <p:spPr>
          <a:xfrm>
            <a:off x="7223760" y="-1188720"/>
            <a:ext cx="3291840" cy="3291840"/>
          </a:xfrm>
          <a:prstGeom prst="ellipse">
            <a:avLst/>
          </a:prstGeom>
          <a:solidFill>
            <a:srgbClr val="FFFFFF">
              <a:alpha val="7000"/>
            </a:srgbClr>
          </a:solidFill>
          <a:ln w="15240">
            <a:solidFill>
              <a:srgbClr val="B8E8DC">
                <a:alpha val="40000"/>
              </a:srgbClr>
            </a:solidFill>
            <a:prstDash val="solid"/>
          </a:ln>
        </p:spPr>
      </p:sp>
      <p:sp>
        <p:nvSpPr>
          <p:cNvPr id="6" name="Shape 4"/>
          <p:cNvSpPr/>
          <p:nvPr/>
        </p:nvSpPr>
        <p:spPr>
          <a:xfrm>
            <a:off x="7772400" y="-640080"/>
            <a:ext cx="2194560" cy="2194560"/>
          </a:xfrm>
          <a:prstGeom prst="ellipse">
            <a:avLst/>
          </a:prstGeom>
          <a:solidFill>
            <a:srgbClr val="28B894">
              <a:alpha val="13000"/>
            </a:srgbClr>
          </a:solidFill>
          <a:ln w="12700">
            <a:solidFill>
              <a:srgbClr val="B8E8DC">
                <a:alpha val="35000"/>
              </a:srgbClr>
            </a:solidFill>
            <a:prstDash val="solid"/>
          </a:ln>
        </p:spPr>
      </p:sp>
      <p:sp>
        <p:nvSpPr>
          <p:cNvPr id="7" name="Shape 5"/>
          <p:cNvSpPr/>
          <p:nvPr/>
        </p:nvSpPr>
        <p:spPr>
          <a:xfrm>
            <a:off x="-1188720" y="3749040"/>
            <a:ext cx="2560320" cy="2560320"/>
          </a:xfrm>
          <a:prstGeom prst="ellipse">
            <a:avLst/>
          </a:prstGeom>
          <a:solidFill>
            <a:srgbClr val="2E9E83">
              <a:alpha val="15000"/>
            </a:srgbClr>
          </a:solidFill>
          <a:ln w="12700">
            <a:solidFill>
              <a:srgbClr val="B8E8DC">
                <a:alpha val="40000"/>
              </a:srgbClr>
            </a:solidFill>
            <a:prstDash val="solid"/>
          </a:ln>
        </p:spPr>
      </p:sp>
      <p:sp>
        <p:nvSpPr>
          <p:cNvPr id="8" name="Shape 6"/>
          <p:cNvSpPr/>
          <p:nvPr/>
        </p:nvSpPr>
        <p:spPr>
          <a:xfrm>
            <a:off x="502920" y="457200"/>
            <a:ext cx="292608" cy="292608"/>
          </a:xfrm>
          <a:prstGeom prst="ellipse">
            <a:avLst/>
          </a:prstGeom>
          <a:solidFill>
            <a:srgbClr val="B8E8DC">
              <a:alpha val="45000"/>
            </a:srgbClr>
          </a:solidFill>
          <a:ln/>
        </p:spPr>
      </p:sp>
      <p:sp>
        <p:nvSpPr>
          <p:cNvPr id="9" name="Shape 7"/>
          <p:cNvSpPr/>
          <p:nvPr/>
        </p:nvSpPr>
        <p:spPr>
          <a:xfrm>
            <a:off x="731520" y="914400"/>
            <a:ext cx="64008" cy="2011680"/>
          </a:xfrm>
          <a:prstGeom prst="rect">
            <a:avLst/>
          </a:prstGeom>
          <a:solidFill>
            <a:srgbClr val="B8E8DC"/>
          </a:solidFill>
          <a:ln/>
        </p:spPr>
      </p:sp>
      <p:sp>
        <p:nvSpPr>
          <p:cNvPr id="10" name="Text 8"/>
          <p:cNvSpPr/>
          <p:nvPr/>
        </p:nvSpPr>
        <p:spPr>
          <a:xfrm>
            <a:off x="1097280" y="822960"/>
            <a:ext cx="2286000" cy="822960"/>
          </a:xfrm>
          <a:prstGeom prst="rect">
            <a:avLst/>
          </a:prstGeom>
          <a:noFill/>
          <a:ln/>
        </p:spPr>
        <p:txBody>
          <a:bodyPr wrap="square" lIns="0" tIns="0" rIns="0" bIns="0" rtlCol="0" anchor="ctr"/>
          <a:lstStyle/>
          <a:p>
            <a:pPr indent="0" marL="0">
              <a:buNone/>
            </a:pPr>
            <a:r>
              <a:rPr lang="en-US" sz="3200" b="1" dirty="0">
                <a:solidFill>
                  <a:srgbClr val="B8E8DC"/>
                </a:solidFill>
                <a:latin typeface="Microsoft YaHei" pitchFamily="34" charset="0"/>
                <a:ea typeface="Microsoft YaHei" pitchFamily="34" charset="-122"/>
                <a:cs typeface="Microsoft YaHei" pitchFamily="34" charset="-120"/>
              </a:rPr>
              <a:t>4.1</a:t>
            </a:r>
            <a:endParaRPr lang="en-US" sz="3200" dirty="0"/>
          </a:p>
        </p:txBody>
      </p:sp>
      <p:sp>
        <p:nvSpPr>
          <p:cNvPr id="11" name="Text 9"/>
          <p:cNvSpPr/>
          <p:nvPr/>
        </p:nvSpPr>
        <p:spPr>
          <a:xfrm>
            <a:off x="1097280" y="1691640"/>
            <a:ext cx="6858000" cy="731520"/>
          </a:xfrm>
          <a:prstGeom prst="rect">
            <a:avLst/>
          </a:prstGeom>
          <a:noFill/>
          <a:ln/>
        </p:spPr>
        <p:txBody>
          <a:bodyPr wrap="square" lIns="0" tIns="0" rIns="0" bIns="0" rtlCol="0" anchor="ctr"/>
          <a:lstStyle/>
          <a:p>
            <a:pPr indent="0" marL="0">
              <a:buNone/>
            </a:pPr>
            <a:r>
              <a:rPr lang="en-US" sz="2400" b="1" dirty="0">
                <a:solidFill>
                  <a:srgbClr val="FFFFFF"/>
                </a:solidFill>
                <a:latin typeface="Microsoft YaHei" pitchFamily="34" charset="0"/>
                <a:ea typeface="Microsoft YaHei" pitchFamily="34" charset="-122"/>
                <a:cs typeface="Microsoft YaHei" pitchFamily="34" charset="-120"/>
              </a:rPr>
              <a:t>技能系统</a:t>
            </a:r>
            <a:endParaRPr lang="en-US" sz="2400" dirty="0"/>
          </a:p>
        </p:txBody>
      </p:sp>
      <p:sp>
        <p:nvSpPr>
          <p:cNvPr id="12" name="Shape 10"/>
          <p:cNvSpPr/>
          <p:nvPr/>
        </p:nvSpPr>
        <p:spPr>
          <a:xfrm>
            <a:off x="1188720" y="2871216"/>
            <a:ext cx="164592" cy="164592"/>
          </a:xfrm>
          <a:prstGeom prst="ellipse">
            <a:avLst/>
          </a:prstGeom>
          <a:solidFill>
            <a:srgbClr val="28B894"/>
          </a:solidFill>
          <a:ln/>
        </p:spPr>
      </p:sp>
      <p:sp>
        <p:nvSpPr>
          <p:cNvPr id="13" name="Text 11"/>
          <p:cNvSpPr/>
          <p:nvPr/>
        </p:nvSpPr>
        <p:spPr>
          <a:xfrm>
            <a:off x="1508760" y="2743200"/>
            <a:ext cx="6766560" cy="411480"/>
          </a:xfrm>
          <a:prstGeom prst="rect">
            <a:avLst/>
          </a:prstGeom>
          <a:noFill/>
          <a:ln/>
        </p:spPr>
        <p:txBody>
          <a:bodyPr wrap="square" lIns="0" tIns="0" rIns="0" bIns="0" rtlCol="0" anchor="ctr"/>
          <a:lstStyle/>
          <a:p>
            <a:pPr indent="0" marL="0">
              <a:buNone/>
            </a:pPr>
            <a:r>
              <a:rPr lang="en-US" sz="1500" dirty="0">
                <a:solidFill>
                  <a:srgbClr val="DDF2EC"/>
                </a:solidFill>
                <a:latin typeface="Microsoft YaHei" pitchFamily="34" charset="0"/>
                <a:ea typeface="Microsoft YaHei" pitchFamily="34" charset="-122"/>
                <a:cs typeface="Microsoft YaHei" pitchFamily="34" charset="-120"/>
              </a:rPr>
              <a:t>技能与普通对话的区别：专业工具箱 vs 模型发散推理</a:t>
            </a:r>
            <a:endParaRPr lang="en-US" sz="1500" dirty="0"/>
          </a:p>
        </p:txBody>
      </p:sp>
      <p:sp>
        <p:nvSpPr>
          <p:cNvPr id="14" name="Shape 12"/>
          <p:cNvSpPr/>
          <p:nvPr/>
        </p:nvSpPr>
        <p:spPr>
          <a:xfrm>
            <a:off x="1188720" y="3328416"/>
            <a:ext cx="164592" cy="164592"/>
          </a:xfrm>
          <a:prstGeom prst="ellipse">
            <a:avLst/>
          </a:prstGeom>
          <a:solidFill>
            <a:srgbClr val="28B894"/>
          </a:solidFill>
          <a:ln/>
        </p:spPr>
      </p:sp>
      <p:sp>
        <p:nvSpPr>
          <p:cNvPr id="15" name="Text 13"/>
          <p:cNvSpPr/>
          <p:nvPr/>
        </p:nvSpPr>
        <p:spPr>
          <a:xfrm>
            <a:off x="1508760" y="3200400"/>
            <a:ext cx="6766560" cy="411480"/>
          </a:xfrm>
          <a:prstGeom prst="rect">
            <a:avLst/>
          </a:prstGeom>
          <a:noFill/>
          <a:ln/>
        </p:spPr>
        <p:txBody>
          <a:bodyPr wrap="square" lIns="0" tIns="0" rIns="0" bIns="0" rtlCol="0" anchor="ctr"/>
          <a:lstStyle/>
          <a:p>
            <a:pPr indent="0" marL="0">
              <a:buNone/>
            </a:pPr>
            <a:r>
              <a:rPr lang="en-US" sz="1500" dirty="0">
                <a:solidFill>
                  <a:srgbClr val="DDF2EC"/>
                </a:solidFill>
                <a:latin typeface="Microsoft YaHei" pitchFamily="34" charset="0"/>
                <a:ea typeface="Microsoft YaHei" pitchFamily="34" charset="-122"/>
                <a:cs typeface="Microsoft YaHei" pitchFamily="34" charset="-120"/>
              </a:rPr>
              <a:t>底层运行机制：预定义工具函数（TOOL）+ Function Calling</a:t>
            </a:r>
            <a:endParaRPr lang="en-US" sz="1500" dirty="0"/>
          </a:p>
        </p:txBody>
      </p:sp>
      <p:sp>
        <p:nvSpPr>
          <p:cNvPr id="16" name="Shape 14"/>
          <p:cNvSpPr/>
          <p:nvPr/>
        </p:nvSpPr>
        <p:spPr>
          <a:xfrm>
            <a:off x="1188720" y="3785616"/>
            <a:ext cx="164592" cy="164592"/>
          </a:xfrm>
          <a:prstGeom prst="ellipse">
            <a:avLst/>
          </a:prstGeom>
          <a:solidFill>
            <a:srgbClr val="28B894"/>
          </a:solidFill>
          <a:ln/>
        </p:spPr>
      </p:sp>
      <p:sp>
        <p:nvSpPr>
          <p:cNvPr id="17" name="Text 15"/>
          <p:cNvSpPr/>
          <p:nvPr/>
        </p:nvSpPr>
        <p:spPr>
          <a:xfrm>
            <a:off x="1508760" y="3657600"/>
            <a:ext cx="6766560" cy="411480"/>
          </a:xfrm>
          <a:prstGeom prst="rect">
            <a:avLst/>
          </a:prstGeom>
          <a:noFill/>
          <a:ln/>
        </p:spPr>
        <p:txBody>
          <a:bodyPr wrap="square" lIns="0" tIns="0" rIns="0" bIns="0" rtlCol="0" anchor="ctr"/>
          <a:lstStyle/>
          <a:p>
            <a:pPr indent="0" marL="0">
              <a:buNone/>
            </a:pPr>
            <a:r>
              <a:rPr lang="en-US" sz="1500" dirty="0">
                <a:solidFill>
                  <a:srgbClr val="DDF2EC"/>
                </a:solidFill>
                <a:latin typeface="Microsoft YaHei" pitchFamily="34" charset="0"/>
                <a:ea typeface="Microsoft YaHei" pitchFamily="34" charset="-122"/>
                <a:cs typeface="Microsoft YaHei" pitchFamily="34" charset="-120"/>
              </a:rPr>
              <a:t>安全沙箱：隔离目录、按需授权、危险操作人工确认</a:t>
            </a:r>
            <a:endParaRPr lang="en-US" sz="1500" dirty="0"/>
          </a:p>
        </p:txBody>
      </p:sp>
      <p:sp>
        <p:nvSpPr>
          <p:cNvPr id="18" name="Shape 16"/>
          <p:cNvSpPr/>
          <p:nvPr/>
        </p:nvSpPr>
        <p:spPr>
          <a:xfrm>
            <a:off x="1188720" y="4242816"/>
            <a:ext cx="164592" cy="164592"/>
          </a:xfrm>
          <a:prstGeom prst="ellipse">
            <a:avLst/>
          </a:prstGeom>
          <a:solidFill>
            <a:srgbClr val="28B894"/>
          </a:solidFill>
          <a:ln/>
        </p:spPr>
      </p:sp>
      <p:sp>
        <p:nvSpPr>
          <p:cNvPr id="19" name="Text 17"/>
          <p:cNvSpPr/>
          <p:nvPr/>
        </p:nvSpPr>
        <p:spPr>
          <a:xfrm>
            <a:off x="1508760" y="4114800"/>
            <a:ext cx="6766560" cy="411480"/>
          </a:xfrm>
          <a:prstGeom prst="rect">
            <a:avLst/>
          </a:prstGeom>
          <a:noFill/>
          <a:ln/>
        </p:spPr>
        <p:txBody>
          <a:bodyPr wrap="square" lIns="0" tIns="0" rIns="0" bIns="0" rtlCol="0" anchor="ctr"/>
          <a:lstStyle/>
          <a:p>
            <a:pPr indent="0" marL="0">
              <a:buNone/>
            </a:pPr>
            <a:r>
              <a:rPr lang="en-US" sz="1500" dirty="0">
                <a:solidFill>
                  <a:srgbClr val="DDF2EC"/>
                </a:solidFill>
                <a:latin typeface="Microsoft YaHei" pitchFamily="34" charset="0"/>
                <a:ea typeface="Microsoft YaHei" pitchFamily="34" charset="-122"/>
                <a:cs typeface="Microsoft YaHei" pitchFamily="34" charset="-120"/>
              </a:rPr>
              <a:t>技能市场与日常管理：推荐区/已安装区、启停、搜索、卸载</a:t>
            </a:r>
            <a:endParaRPr lang="en-US" sz="1500" dirty="0"/>
          </a:p>
        </p:txBody>
      </p:sp>
      <p:sp>
        <p:nvSpPr>
          <p:cNvPr id="20" name="Shape 18"/>
          <p:cNvSpPr/>
          <p:nvPr/>
        </p:nvSpPr>
        <p:spPr>
          <a:xfrm>
            <a:off x="1188720" y="4700016"/>
            <a:ext cx="164592" cy="164592"/>
          </a:xfrm>
          <a:prstGeom prst="ellipse">
            <a:avLst/>
          </a:prstGeom>
          <a:solidFill>
            <a:srgbClr val="28B894"/>
          </a:solidFill>
          <a:ln/>
        </p:spPr>
      </p:sp>
      <p:sp>
        <p:nvSpPr>
          <p:cNvPr id="21" name="Text 19"/>
          <p:cNvSpPr/>
          <p:nvPr/>
        </p:nvSpPr>
        <p:spPr>
          <a:xfrm>
            <a:off x="1508760" y="4572000"/>
            <a:ext cx="6766560" cy="411480"/>
          </a:xfrm>
          <a:prstGeom prst="rect">
            <a:avLst/>
          </a:prstGeom>
          <a:noFill/>
          <a:ln/>
        </p:spPr>
        <p:txBody>
          <a:bodyPr wrap="square" lIns="0" tIns="0" rIns="0" bIns="0" rtlCol="0" anchor="ctr"/>
          <a:lstStyle/>
          <a:p>
            <a:pPr indent="0" marL="0">
              <a:buNone/>
            </a:pPr>
            <a:r>
              <a:rPr lang="en-US" sz="1500" dirty="0">
                <a:solidFill>
                  <a:srgbClr val="DDF2EC"/>
                </a:solidFill>
                <a:latin typeface="Microsoft YaHei" pitchFamily="34" charset="0"/>
                <a:ea typeface="Microsoft YaHei" pitchFamily="34" charset="-122"/>
                <a:cs typeface="Microsoft YaHei" pitchFamily="34" charset="-120"/>
              </a:rPr>
              <a:t>三种安装方式：上传导入 / 查找与推荐 / 对话式创建</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8F6"/>
        </a:solidFill>
      </p:bgPr>
    </p:bg>
    <p:spTree>
      <p:nvGrpSpPr>
        <p:cNvPr id="1" name=""/>
        <p:cNvGrpSpPr/>
        <p:nvPr/>
      </p:nvGrpSpPr>
      <p:grpSpPr>
        <a:xfrm>
          <a:off x="0" y="0"/>
          <a:ext cx="0" cy="0"/>
          <a:chOff x="0" y="0"/>
          <a:chExt cx="0" cy="0"/>
        </a:xfrm>
      </p:grpSpPr>
      <p:sp>
        <p:nvSpPr>
          <p:cNvPr id="2" name="Text 0"/>
          <p:cNvSpPr/>
          <p:nvPr/>
        </p:nvSpPr>
        <p:spPr>
          <a:xfrm>
            <a:off x="548640" y="274320"/>
            <a:ext cx="8046720" cy="594360"/>
          </a:xfrm>
          <a:prstGeom prst="rect">
            <a:avLst/>
          </a:prstGeom>
          <a:noFill/>
          <a:ln/>
        </p:spPr>
        <p:txBody>
          <a:bodyPr wrap="square" lIns="0" tIns="0" rIns="0" bIns="0" rtlCol="0" anchor="ctr"/>
          <a:lstStyle/>
          <a:p>
            <a:pPr indent="0" marL="0">
              <a:buNone/>
            </a:pPr>
            <a:r>
              <a:rPr lang="en-US" sz="2600" b="1" dirty="0">
                <a:solidFill>
                  <a:srgbClr val="28B894"/>
                </a:solidFill>
                <a:latin typeface="Microsoft YaHei" pitchFamily="34" charset="0"/>
                <a:ea typeface="Microsoft YaHei" pitchFamily="34" charset="-122"/>
                <a:cs typeface="Microsoft YaHei" pitchFamily="34" charset="-120"/>
              </a:rPr>
              <a:t>技能与普通对话的区别</a:t>
            </a:r>
            <a:endParaRPr lang="en-US" sz="2600" dirty="0"/>
          </a:p>
        </p:txBody>
      </p:sp>
      <p:sp>
        <p:nvSpPr>
          <p:cNvPr id="3" name="Shape 1"/>
          <p:cNvSpPr/>
          <p:nvPr/>
        </p:nvSpPr>
        <p:spPr>
          <a:xfrm>
            <a:off x="548640" y="868680"/>
            <a:ext cx="914400" cy="32004"/>
          </a:xfrm>
          <a:prstGeom prst="rect">
            <a:avLst/>
          </a:prstGeom>
          <a:solidFill>
            <a:srgbClr val="2E9E83"/>
          </a:solidFill>
          <a:ln/>
        </p:spPr>
      </p:sp>
      <p:sp>
        <p:nvSpPr>
          <p:cNvPr id="4" name="Text 2"/>
          <p:cNvSpPr/>
          <p:nvPr/>
        </p:nvSpPr>
        <p:spPr>
          <a:xfrm>
            <a:off x="548640" y="1024128"/>
            <a:ext cx="8046720" cy="365760"/>
          </a:xfrm>
          <a:prstGeom prst="rect">
            <a:avLst/>
          </a:prstGeom>
          <a:noFill/>
          <a:ln/>
        </p:spPr>
        <p:txBody>
          <a:bodyPr wrap="square" lIns="0" tIns="0" rIns="0" bIns="0" rtlCol="0" anchor="ctr"/>
          <a:lstStyle/>
          <a:p>
            <a:pPr indent="0" marL="0">
              <a:buNone/>
            </a:pPr>
            <a:r>
              <a:rPr lang="en-US" sz="1250" dirty="0">
                <a:solidFill>
                  <a:srgbClr val="7F8C8D"/>
                </a:solidFill>
                <a:latin typeface="Microsoft YaHei" pitchFamily="34" charset="0"/>
                <a:ea typeface="Microsoft YaHei" pitchFamily="34" charset="-122"/>
                <a:cs typeface="Microsoft YaHei" pitchFamily="34" charset="-120"/>
              </a:rPr>
              <a:t>用户与 WorkBuddy 的交互主要分为普通对话和技能调用，两者走的是完全不同的执行路径：</a:t>
            </a:r>
            <a:endParaRPr lang="en-US" sz="1250" dirty="0"/>
          </a:p>
        </p:txBody>
      </p:sp>
      <p:sp>
        <p:nvSpPr>
          <p:cNvPr id="5" name="Shape 3"/>
          <p:cNvSpPr/>
          <p:nvPr/>
        </p:nvSpPr>
        <p:spPr>
          <a:xfrm>
            <a:off x="548640" y="1463040"/>
            <a:ext cx="3931920" cy="19659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6" name="Shape 4"/>
          <p:cNvSpPr/>
          <p:nvPr/>
        </p:nvSpPr>
        <p:spPr>
          <a:xfrm>
            <a:off x="548640" y="1463040"/>
            <a:ext cx="54864" cy="1965960"/>
          </a:xfrm>
          <a:prstGeom prst="rect">
            <a:avLst/>
          </a:prstGeom>
          <a:solidFill>
            <a:srgbClr val="5A6B7F"/>
          </a:solidFill>
          <a:ln/>
        </p:spPr>
      </p:sp>
      <p:sp>
        <p:nvSpPr>
          <p:cNvPr id="7" name="Text 5"/>
          <p:cNvSpPr/>
          <p:nvPr/>
        </p:nvSpPr>
        <p:spPr>
          <a:xfrm>
            <a:off x="731520" y="1572768"/>
            <a:ext cx="3566160" cy="411480"/>
          </a:xfrm>
          <a:prstGeom prst="rect">
            <a:avLst/>
          </a:prstGeom>
          <a:noFill/>
          <a:ln/>
        </p:spPr>
        <p:txBody>
          <a:bodyPr wrap="square" lIns="0" tIns="0" rIns="0" bIns="0" rtlCol="0" anchor="ctr"/>
          <a:lstStyle/>
          <a:p>
            <a:pPr indent="0" marL="0">
              <a:buNone/>
            </a:pPr>
            <a:r>
              <a:rPr lang="en-US" sz="1500" b="1" dirty="0">
                <a:solidFill>
                  <a:srgbClr val="28B894"/>
                </a:solidFill>
                <a:latin typeface="Microsoft YaHei" pitchFamily="34" charset="0"/>
                <a:ea typeface="Microsoft YaHei" pitchFamily="34" charset="-122"/>
                <a:cs typeface="Microsoft YaHei" pitchFamily="34" charset="-120"/>
              </a:rPr>
              <a:t>普通对话</a:t>
            </a:r>
            <a:endParaRPr lang="en-US" sz="1500" dirty="0"/>
          </a:p>
        </p:txBody>
      </p:sp>
      <p:sp>
        <p:nvSpPr>
          <p:cNvPr id="8" name="Text 6"/>
          <p:cNvSpPr/>
          <p:nvPr/>
        </p:nvSpPr>
        <p:spPr>
          <a:xfrm>
            <a:off x="731520" y="2057400"/>
            <a:ext cx="3566160" cy="1280160"/>
          </a:xfrm>
          <a:prstGeom prst="rect">
            <a:avLst/>
          </a:prstGeom>
          <a:noFill/>
          <a:ln/>
        </p:spPr>
        <p:txBody>
          <a:bodyPr wrap="square" lIns="0" tIns="0" rIns="0" bIns="0" rtlCol="0" anchor="t"/>
          <a:lstStyle/>
          <a:p>
            <a:pPr indent="0" marL="0">
              <a:lnSpc>
                <a:spcPct val="125000"/>
              </a:lnSpc>
              <a:buNone/>
            </a:pPr>
            <a:r>
              <a:rPr lang="en-US" sz="1100" dirty="0">
                <a:solidFill>
                  <a:srgbClr val="2C3E50"/>
                </a:solidFill>
                <a:latin typeface="Microsoft YaHei" pitchFamily="34" charset="0"/>
                <a:ea typeface="Microsoft YaHei" pitchFamily="34" charset="-122"/>
                <a:cs typeface="Microsoft YaHei" pitchFamily="34" charset="-120"/>
              </a:rPr>
              <a:t>依赖 AI 模型在训练阶段学到的庞大知识库，具备通用和发散的特点。普通提问或闲聊时，模型根据概率生成回答，在需要精确执行的任务上结果可能出现微小波动。</a:t>
            </a:r>
            <a:endParaRPr lang="en-US" sz="1100" dirty="0"/>
          </a:p>
        </p:txBody>
      </p:sp>
      <p:sp>
        <p:nvSpPr>
          <p:cNvPr id="9" name="Shape 7"/>
          <p:cNvSpPr/>
          <p:nvPr/>
        </p:nvSpPr>
        <p:spPr>
          <a:xfrm>
            <a:off x="4709160" y="1463040"/>
            <a:ext cx="3931920" cy="19659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0" name="Shape 8"/>
          <p:cNvSpPr/>
          <p:nvPr/>
        </p:nvSpPr>
        <p:spPr>
          <a:xfrm>
            <a:off x="4709160" y="1463040"/>
            <a:ext cx="54864" cy="1965960"/>
          </a:xfrm>
          <a:prstGeom prst="rect">
            <a:avLst/>
          </a:prstGeom>
          <a:solidFill>
            <a:srgbClr val="28B894"/>
          </a:solidFill>
          <a:ln/>
        </p:spPr>
      </p:sp>
      <p:sp>
        <p:nvSpPr>
          <p:cNvPr id="11" name="Text 9"/>
          <p:cNvSpPr/>
          <p:nvPr/>
        </p:nvSpPr>
        <p:spPr>
          <a:xfrm>
            <a:off x="4892040" y="1572768"/>
            <a:ext cx="3566160" cy="411480"/>
          </a:xfrm>
          <a:prstGeom prst="rect">
            <a:avLst/>
          </a:prstGeom>
          <a:noFill/>
          <a:ln/>
        </p:spPr>
        <p:txBody>
          <a:bodyPr wrap="square" lIns="0" tIns="0" rIns="0" bIns="0" rtlCol="0" anchor="ctr"/>
          <a:lstStyle/>
          <a:p>
            <a:pPr indent="0" marL="0">
              <a:buNone/>
            </a:pPr>
            <a:r>
              <a:rPr lang="en-US" sz="1500" b="1" dirty="0">
                <a:solidFill>
                  <a:srgbClr val="28B894"/>
                </a:solidFill>
                <a:latin typeface="Microsoft YaHei" pitchFamily="34" charset="0"/>
                <a:ea typeface="Microsoft YaHei" pitchFamily="34" charset="-122"/>
                <a:cs typeface="Microsoft YaHei" pitchFamily="34" charset="-120"/>
              </a:rPr>
              <a:t>技能（Skill）</a:t>
            </a:r>
            <a:endParaRPr lang="en-US" sz="1500" dirty="0"/>
          </a:p>
        </p:txBody>
      </p:sp>
      <p:sp>
        <p:nvSpPr>
          <p:cNvPr id="12" name="Text 10"/>
          <p:cNvSpPr/>
          <p:nvPr/>
        </p:nvSpPr>
        <p:spPr>
          <a:xfrm>
            <a:off x="4892040" y="2057400"/>
            <a:ext cx="3566160" cy="1280160"/>
          </a:xfrm>
          <a:prstGeom prst="rect">
            <a:avLst/>
          </a:prstGeom>
          <a:noFill/>
          <a:ln/>
        </p:spPr>
        <p:txBody>
          <a:bodyPr wrap="square" lIns="0" tIns="0" rIns="0" bIns="0" rtlCol="0" anchor="t"/>
          <a:lstStyle/>
          <a:p>
            <a:pPr indent="0" marL="0">
              <a:lnSpc>
                <a:spcPct val="125000"/>
              </a:lnSpc>
              <a:buNone/>
            </a:pPr>
            <a:r>
              <a:rPr lang="en-US" sz="1100" dirty="0">
                <a:solidFill>
                  <a:srgbClr val="2C3E50"/>
                </a:solidFill>
                <a:latin typeface="Microsoft YaHei" pitchFamily="34" charset="0"/>
                <a:ea typeface="Microsoft YaHei" pitchFamily="34" charset="-122"/>
                <a:cs typeface="Microsoft YaHei" pitchFamily="34" charset="-120"/>
              </a:rPr>
              <a:t>更像是给 AI 配备的“专业工具箱”。处于技能模式或调用特定技能包时，遵循技能包中预先定义好的工具函数与操作逻辑，输出稳定、可预期、高度专注，适合具有明确流程的专业领域任务。</a:t>
            </a:r>
            <a:endParaRPr lang="en-US" sz="1100" dirty="0"/>
          </a:p>
        </p:txBody>
      </p:sp>
      <p:sp>
        <p:nvSpPr>
          <p:cNvPr id="13" name="Shape 11"/>
          <p:cNvSpPr/>
          <p:nvPr/>
        </p:nvSpPr>
        <p:spPr>
          <a:xfrm>
            <a:off x="548640" y="3611880"/>
            <a:ext cx="8046720" cy="402336"/>
          </a:xfrm>
          <a:prstGeom prst="rect">
            <a:avLst/>
          </a:prstGeom>
          <a:solidFill>
            <a:srgbClr val="E9F5F1"/>
          </a:solidFill>
          <a:ln/>
          <a:effectLst>
            <a:outerShdw sx="100000" sy="100000" kx="0" ky="0" algn="bl" rotWithShape="0" blurRad="76200" dist="25400" dir="8100000">
              <a:srgbClr val="000000">
                <a:alpha val="8000"/>
              </a:srgbClr>
            </a:outerShdw>
          </a:effectLst>
        </p:spPr>
      </p:sp>
      <p:sp>
        <p:nvSpPr>
          <p:cNvPr id="14" name="Shape 12"/>
          <p:cNvSpPr/>
          <p:nvPr/>
        </p:nvSpPr>
        <p:spPr>
          <a:xfrm>
            <a:off x="548640" y="3611880"/>
            <a:ext cx="64008" cy="402336"/>
          </a:xfrm>
          <a:prstGeom prst="rect">
            <a:avLst/>
          </a:prstGeom>
          <a:solidFill>
            <a:srgbClr val="28B894"/>
          </a:solidFill>
          <a:ln/>
        </p:spPr>
      </p:sp>
      <p:sp>
        <p:nvSpPr>
          <p:cNvPr id="15" name="Text 13"/>
          <p:cNvSpPr/>
          <p:nvPr/>
        </p:nvSpPr>
        <p:spPr>
          <a:xfrm>
            <a:off x="868680" y="3611880"/>
            <a:ext cx="7498080" cy="402336"/>
          </a:xfrm>
          <a:prstGeom prst="rect">
            <a:avLst/>
          </a:prstGeom>
          <a:noFill/>
          <a:ln/>
        </p:spPr>
        <p:txBody>
          <a:bodyPr wrap="square" lIns="0" tIns="0" rIns="0" bIns="0" rtlCol="0" anchor="ctr">
            <a:normAutofit/>
          </a:bodyPr>
          <a:lstStyle/>
          <a:p>
            <a:pPr indent="0" marL="0">
              <a:lnSpc>
                <a:spcPct val="120000"/>
              </a:lnSpc>
              <a:buNone/>
            </a:pPr>
            <a:r>
              <a:rPr lang="en-US" sz="1200" b="1" dirty="0">
                <a:solidFill>
                  <a:srgbClr val="28B894"/>
                </a:solidFill>
                <a:latin typeface="Microsoft YaHei" pitchFamily="34" charset="0"/>
                <a:ea typeface="Microsoft YaHei" pitchFamily="34" charset="-122"/>
                <a:cs typeface="Microsoft YaHei" pitchFamily="34" charset="-120"/>
              </a:rPr>
              <a:t>核心区别：普通对话靠“模型记忆发散”，技能靠“预定义工具逻辑”稳定执行。</a:t>
            </a:r>
            <a:endParaRPr lang="en-US" sz="1200" dirty="0"/>
          </a:p>
        </p:txBody>
      </p:sp>
      <p:sp>
        <p:nvSpPr>
          <p:cNvPr id="16" name="Shape 14"/>
          <p:cNvSpPr/>
          <p:nvPr/>
        </p:nvSpPr>
        <p:spPr>
          <a:xfrm>
            <a:off x="548640" y="4526280"/>
            <a:ext cx="8046720" cy="457200"/>
          </a:xfrm>
          <a:prstGeom prst="rect">
            <a:avLst/>
          </a:prstGeom>
          <a:solidFill>
            <a:srgbClr val="E7F3EE"/>
          </a:solidFill>
          <a:ln/>
        </p:spPr>
      </p:sp>
      <p:sp>
        <p:nvSpPr>
          <p:cNvPr id="17" name="Shape 15"/>
          <p:cNvSpPr/>
          <p:nvPr/>
        </p:nvSpPr>
        <p:spPr>
          <a:xfrm>
            <a:off x="548640" y="4526280"/>
            <a:ext cx="45720" cy="457200"/>
          </a:xfrm>
          <a:prstGeom prst="rect">
            <a:avLst/>
          </a:prstGeom>
          <a:solidFill>
            <a:srgbClr val="2E9E83"/>
          </a:solidFill>
          <a:ln/>
        </p:spPr>
      </p:sp>
      <p:sp>
        <p:nvSpPr>
          <p:cNvPr id="18" name="Text 16"/>
          <p:cNvSpPr/>
          <p:nvPr/>
        </p:nvSpPr>
        <p:spPr>
          <a:xfrm>
            <a:off x="777240" y="4526280"/>
            <a:ext cx="7589520" cy="457200"/>
          </a:xfrm>
          <a:prstGeom prst="rect">
            <a:avLst/>
          </a:prstGeom>
          <a:noFill/>
          <a:ln/>
        </p:spPr>
        <p:txBody>
          <a:bodyPr wrap="square" lIns="0" tIns="0" rIns="0" bIns="0" rtlCol="0" anchor="ctr"/>
          <a:lstStyle/>
          <a:p>
            <a:pPr indent="0" marL="0">
              <a:buNone/>
            </a:pPr>
            <a:r>
              <a:rPr lang="en-US" sz="1200" dirty="0">
                <a:solidFill>
                  <a:srgbClr val="2C3E50"/>
                </a:solidFill>
                <a:latin typeface="Microsoft YaHei" pitchFamily="34" charset="0"/>
                <a:ea typeface="Microsoft YaHei" pitchFamily="34" charset="-122"/>
                <a:cs typeface="Microsoft YaHei" pitchFamily="34" charset="-120"/>
              </a:rPr>
              <a:t>技能更接近“确定的执行器”，适合需要精确、可预期结果的业务流程性任务。</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594360"/>
          </a:xfrm>
          <a:prstGeom prst="rect">
            <a:avLst/>
          </a:prstGeom>
          <a:noFill/>
          <a:ln/>
        </p:spPr>
        <p:txBody>
          <a:bodyPr wrap="square" lIns="0" tIns="0" rIns="0" bIns="0" rtlCol="0" anchor="ctr"/>
          <a:lstStyle/>
          <a:p>
            <a:pPr indent="0" marL="0">
              <a:buNone/>
            </a:pPr>
            <a:r>
              <a:rPr lang="en-US" sz="2600" b="1" dirty="0">
                <a:solidFill>
                  <a:srgbClr val="28B894"/>
                </a:solidFill>
                <a:latin typeface="Microsoft YaHei" pitchFamily="34" charset="0"/>
                <a:ea typeface="Microsoft YaHei" pitchFamily="34" charset="-122"/>
                <a:cs typeface="Microsoft YaHei" pitchFamily="34" charset="-120"/>
              </a:rPr>
              <a:t>技能的底层运行机制</a:t>
            </a:r>
            <a:endParaRPr lang="en-US" sz="2600" dirty="0"/>
          </a:p>
        </p:txBody>
      </p:sp>
      <p:sp>
        <p:nvSpPr>
          <p:cNvPr id="3" name="Shape 1"/>
          <p:cNvSpPr/>
          <p:nvPr/>
        </p:nvSpPr>
        <p:spPr>
          <a:xfrm>
            <a:off x="548640" y="868680"/>
            <a:ext cx="914400" cy="32004"/>
          </a:xfrm>
          <a:prstGeom prst="rect">
            <a:avLst/>
          </a:prstGeom>
          <a:solidFill>
            <a:srgbClr val="2E9E83"/>
          </a:solidFill>
          <a:ln/>
        </p:spPr>
      </p:sp>
      <p:sp>
        <p:nvSpPr>
          <p:cNvPr id="4" name="Shape 2"/>
          <p:cNvSpPr/>
          <p:nvPr/>
        </p:nvSpPr>
        <p:spPr>
          <a:xfrm>
            <a:off x="548640" y="1371600"/>
            <a:ext cx="1920240" cy="1737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5" name="Shape 3"/>
          <p:cNvSpPr/>
          <p:nvPr/>
        </p:nvSpPr>
        <p:spPr>
          <a:xfrm>
            <a:off x="548640" y="1371600"/>
            <a:ext cx="54864" cy="1737360"/>
          </a:xfrm>
          <a:prstGeom prst="rect">
            <a:avLst/>
          </a:prstGeom>
          <a:solidFill>
            <a:srgbClr val="28B894"/>
          </a:solidFill>
          <a:ln/>
        </p:spPr>
      </p:sp>
      <p:sp>
        <p:nvSpPr>
          <p:cNvPr id="6" name="Shape 4"/>
          <p:cNvSpPr/>
          <p:nvPr/>
        </p:nvSpPr>
        <p:spPr>
          <a:xfrm>
            <a:off x="676656" y="1481328"/>
            <a:ext cx="411480" cy="411480"/>
          </a:xfrm>
          <a:prstGeom prst="ellipse">
            <a:avLst/>
          </a:prstGeom>
          <a:solidFill>
            <a:srgbClr val="28B894"/>
          </a:solidFill>
          <a:ln/>
        </p:spPr>
      </p:sp>
      <p:sp>
        <p:nvSpPr>
          <p:cNvPr id="7" name="Text 5"/>
          <p:cNvSpPr/>
          <p:nvPr/>
        </p:nvSpPr>
        <p:spPr>
          <a:xfrm>
            <a:off x="676656" y="148132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01</a:t>
            </a:r>
            <a:endParaRPr lang="en-US" sz="1400" dirty="0"/>
          </a:p>
        </p:txBody>
      </p:sp>
      <p:sp>
        <p:nvSpPr>
          <p:cNvPr id="8" name="Text 6"/>
          <p:cNvSpPr/>
          <p:nvPr/>
        </p:nvSpPr>
        <p:spPr>
          <a:xfrm>
            <a:off x="1207008" y="1463040"/>
            <a:ext cx="1188720" cy="457200"/>
          </a:xfrm>
          <a:prstGeom prst="rect">
            <a:avLst/>
          </a:prstGeom>
          <a:noFill/>
          <a:ln/>
        </p:spPr>
        <p:txBody>
          <a:bodyPr wrap="square" lIns="0" tIns="0" rIns="0" bIns="0" rtlCol="0" anchor="ctr"/>
          <a:lstStyle/>
          <a:p>
            <a:pPr indent="0" marL="0">
              <a:buNone/>
            </a:pPr>
            <a:r>
              <a:rPr lang="en-US" sz="1250" b="1" dirty="0">
                <a:solidFill>
                  <a:srgbClr val="28B894"/>
                </a:solidFill>
                <a:latin typeface="Microsoft YaHei" pitchFamily="34" charset="0"/>
                <a:ea typeface="Microsoft YaHei" pitchFamily="34" charset="-122"/>
                <a:cs typeface="Microsoft YaHei" pitchFamily="34" charset="-120"/>
              </a:rPr>
              <a:t>AI 自主决策</a:t>
            </a:r>
            <a:endParaRPr lang="en-US" sz="1250" dirty="0"/>
          </a:p>
        </p:txBody>
      </p:sp>
      <p:sp>
        <p:nvSpPr>
          <p:cNvPr id="9" name="Text 7"/>
          <p:cNvSpPr/>
          <p:nvPr/>
        </p:nvSpPr>
        <p:spPr>
          <a:xfrm>
            <a:off x="694944" y="2011680"/>
            <a:ext cx="1645920" cy="1005840"/>
          </a:xfrm>
          <a:prstGeom prst="rect">
            <a:avLst/>
          </a:prstGeom>
          <a:noFill/>
          <a:ln/>
        </p:spPr>
        <p:txBody>
          <a:bodyPr wrap="square" lIns="0" tIns="0" rIns="0" bIns="0" rtlCol="0" anchor="t"/>
          <a:lstStyle/>
          <a:p>
            <a:pPr indent="0" marL="0">
              <a:lnSpc>
                <a:spcPct val="120000"/>
              </a:lnSpc>
              <a:buNone/>
            </a:pPr>
            <a:r>
              <a:rPr lang="en-US" sz="1000" dirty="0">
                <a:solidFill>
                  <a:srgbClr val="2C3E50"/>
                </a:solidFill>
                <a:latin typeface="Microsoft YaHei" pitchFamily="34" charset="0"/>
                <a:ea typeface="Microsoft YaHei" pitchFamily="34" charset="-122"/>
                <a:cs typeface="Microsoft YaHei" pitchFamily="34" charset="-120"/>
              </a:rPr>
              <a:t>根据用户输入和上下文意图，自动判断是否需要调用技能、调用哪一个</a:t>
            </a:r>
            <a:endParaRPr lang="en-US" sz="1000" dirty="0"/>
          </a:p>
        </p:txBody>
      </p:sp>
      <p:sp>
        <p:nvSpPr>
          <p:cNvPr id="10" name="Text 8"/>
          <p:cNvSpPr/>
          <p:nvPr/>
        </p:nvSpPr>
        <p:spPr>
          <a:xfrm>
            <a:off x="2487168" y="1828800"/>
            <a:ext cx="274320" cy="365760"/>
          </a:xfrm>
          <a:prstGeom prst="rect">
            <a:avLst/>
          </a:prstGeom>
          <a:noFill/>
          <a:ln/>
        </p:spPr>
        <p:txBody>
          <a:bodyPr wrap="square" lIns="0" tIns="0" rIns="0" bIns="0" rtlCol="0" anchor="ctr"/>
          <a:lstStyle/>
          <a:p>
            <a:pPr algn="ctr" indent="0" marL="0">
              <a:buNone/>
            </a:pPr>
            <a:r>
              <a:rPr lang="en-US" sz="2000" b="1" dirty="0">
                <a:solidFill>
                  <a:srgbClr val="5A6B7F"/>
                </a:solidFill>
                <a:latin typeface="Microsoft YaHei" pitchFamily="34" charset="0"/>
                <a:ea typeface="Microsoft YaHei" pitchFamily="34" charset="-122"/>
                <a:cs typeface="Microsoft YaHei" pitchFamily="34" charset="-120"/>
              </a:rPr>
              <a:t>→</a:t>
            </a:r>
            <a:endParaRPr lang="en-US" sz="2000" dirty="0"/>
          </a:p>
        </p:txBody>
      </p:sp>
      <p:sp>
        <p:nvSpPr>
          <p:cNvPr id="11" name="Shape 9"/>
          <p:cNvSpPr/>
          <p:nvPr/>
        </p:nvSpPr>
        <p:spPr>
          <a:xfrm>
            <a:off x="2615184" y="1371600"/>
            <a:ext cx="1920240" cy="1737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2" name="Shape 10"/>
          <p:cNvSpPr/>
          <p:nvPr/>
        </p:nvSpPr>
        <p:spPr>
          <a:xfrm>
            <a:off x="2615184" y="1371600"/>
            <a:ext cx="54864" cy="1737360"/>
          </a:xfrm>
          <a:prstGeom prst="rect">
            <a:avLst/>
          </a:prstGeom>
          <a:solidFill>
            <a:srgbClr val="28B894"/>
          </a:solidFill>
          <a:ln/>
        </p:spPr>
      </p:sp>
      <p:sp>
        <p:nvSpPr>
          <p:cNvPr id="13" name="Shape 11"/>
          <p:cNvSpPr/>
          <p:nvPr/>
        </p:nvSpPr>
        <p:spPr>
          <a:xfrm>
            <a:off x="2743200" y="1481328"/>
            <a:ext cx="411480" cy="411480"/>
          </a:xfrm>
          <a:prstGeom prst="ellipse">
            <a:avLst/>
          </a:prstGeom>
          <a:solidFill>
            <a:srgbClr val="28B894"/>
          </a:solidFill>
          <a:ln/>
        </p:spPr>
      </p:sp>
      <p:sp>
        <p:nvSpPr>
          <p:cNvPr id="14" name="Text 12"/>
          <p:cNvSpPr/>
          <p:nvPr/>
        </p:nvSpPr>
        <p:spPr>
          <a:xfrm>
            <a:off x="2743200" y="148132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02</a:t>
            </a:r>
            <a:endParaRPr lang="en-US" sz="1400" dirty="0"/>
          </a:p>
        </p:txBody>
      </p:sp>
      <p:sp>
        <p:nvSpPr>
          <p:cNvPr id="15" name="Text 13"/>
          <p:cNvSpPr/>
          <p:nvPr/>
        </p:nvSpPr>
        <p:spPr>
          <a:xfrm>
            <a:off x="3273552" y="1463040"/>
            <a:ext cx="1188720" cy="457200"/>
          </a:xfrm>
          <a:prstGeom prst="rect">
            <a:avLst/>
          </a:prstGeom>
          <a:noFill/>
          <a:ln/>
        </p:spPr>
        <p:txBody>
          <a:bodyPr wrap="square" lIns="0" tIns="0" rIns="0" bIns="0" rtlCol="0" anchor="ctr"/>
          <a:lstStyle/>
          <a:p>
            <a:pPr indent="0" marL="0">
              <a:buNone/>
            </a:pPr>
            <a:r>
              <a:rPr lang="en-US" sz="1250" b="1" dirty="0">
                <a:solidFill>
                  <a:srgbClr val="28B894"/>
                </a:solidFill>
                <a:latin typeface="Microsoft YaHei" pitchFamily="34" charset="0"/>
                <a:ea typeface="Microsoft YaHei" pitchFamily="34" charset="-122"/>
                <a:cs typeface="Microsoft YaHei" pitchFamily="34" charset="-120"/>
              </a:rPr>
              <a:t>参数推理</a:t>
            </a:r>
            <a:endParaRPr lang="en-US" sz="1250" dirty="0"/>
          </a:p>
        </p:txBody>
      </p:sp>
      <p:sp>
        <p:nvSpPr>
          <p:cNvPr id="16" name="Text 14"/>
          <p:cNvSpPr/>
          <p:nvPr/>
        </p:nvSpPr>
        <p:spPr>
          <a:xfrm>
            <a:off x="2761488" y="2011680"/>
            <a:ext cx="1645920" cy="1005840"/>
          </a:xfrm>
          <a:prstGeom prst="rect">
            <a:avLst/>
          </a:prstGeom>
          <a:noFill/>
          <a:ln/>
        </p:spPr>
        <p:txBody>
          <a:bodyPr wrap="square" lIns="0" tIns="0" rIns="0" bIns="0" rtlCol="0" anchor="t"/>
          <a:lstStyle/>
          <a:p>
            <a:pPr indent="0" marL="0">
              <a:lnSpc>
                <a:spcPct val="120000"/>
              </a:lnSpc>
              <a:buNone/>
            </a:pPr>
            <a:r>
              <a:rPr lang="en-US" sz="1000" dirty="0">
                <a:solidFill>
                  <a:srgbClr val="2C3E50"/>
                </a:solidFill>
                <a:latin typeface="Microsoft YaHei" pitchFamily="34" charset="0"/>
                <a:ea typeface="Microsoft YaHei" pitchFamily="34" charset="-122"/>
                <a:cs typeface="Microsoft YaHei" pitchFamily="34" charset="-120"/>
              </a:rPr>
              <a:t>从对话中提取必要参数，信息不全时主动引导用户补充</a:t>
            </a:r>
            <a:endParaRPr lang="en-US" sz="1000" dirty="0"/>
          </a:p>
        </p:txBody>
      </p:sp>
      <p:sp>
        <p:nvSpPr>
          <p:cNvPr id="17" name="Text 15"/>
          <p:cNvSpPr/>
          <p:nvPr/>
        </p:nvSpPr>
        <p:spPr>
          <a:xfrm>
            <a:off x="4553712" y="1828800"/>
            <a:ext cx="274320" cy="365760"/>
          </a:xfrm>
          <a:prstGeom prst="rect">
            <a:avLst/>
          </a:prstGeom>
          <a:noFill/>
          <a:ln/>
        </p:spPr>
        <p:txBody>
          <a:bodyPr wrap="square" lIns="0" tIns="0" rIns="0" bIns="0" rtlCol="0" anchor="ctr"/>
          <a:lstStyle/>
          <a:p>
            <a:pPr algn="ctr" indent="0" marL="0">
              <a:buNone/>
            </a:pPr>
            <a:r>
              <a:rPr lang="en-US" sz="2000" b="1" dirty="0">
                <a:solidFill>
                  <a:srgbClr val="5A6B7F"/>
                </a:solidFill>
                <a:latin typeface="Microsoft YaHei" pitchFamily="34" charset="0"/>
                <a:ea typeface="Microsoft YaHei" pitchFamily="34" charset="-122"/>
                <a:cs typeface="Microsoft YaHei" pitchFamily="34" charset="-120"/>
              </a:rPr>
              <a:t>→</a:t>
            </a:r>
            <a:endParaRPr lang="en-US" sz="2000" dirty="0"/>
          </a:p>
        </p:txBody>
      </p:sp>
      <p:sp>
        <p:nvSpPr>
          <p:cNvPr id="18" name="Shape 16"/>
          <p:cNvSpPr/>
          <p:nvPr/>
        </p:nvSpPr>
        <p:spPr>
          <a:xfrm>
            <a:off x="4681728" y="1371600"/>
            <a:ext cx="1920240" cy="1737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9" name="Shape 17"/>
          <p:cNvSpPr/>
          <p:nvPr/>
        </p:nvSpPr>
        <p:spPr>
          <a:xfrm>
            <a:off x="4681728" y="1371600"/>
            <a:ext cx="54864" cy="1737360"/>
          </a:xfrm>
          <a:prstGeom prst="rect">
            <a:avLst/>
          </a:prstGeom>
          <a:solidFill>
            <a:srgbClr val="28B894"/>
          </a:solidFill>
          <a:ln/>
        </p:spPr>
      </p:sp>
      <p:sp>
        <p:nvSpPr>
          <p:cNvPr id="20" name="Shape 18"/>
          <p:cNvSpPr/>
          <p:nvPr/>
        </p:nvSpPr>
        <p:spPr>
          <a:xfrm>
            <a:off x="4809744" y="1481328"/>
            <a:ext cx="411480" cy="411480"/>
          </a:xfrm>
          <a:prstGeom prst="ellipse">
            <a:avLst/>
          </a:prstGeom>
          <a:solidFill>
            <a:srgbClr val="28B894"/>
          </a:solidFill>
          <a:ln/>
        </p:spPr>
      </p:sp>
      <p:sp>
        <p:nvSpPr>
          <p:cNvPr id="21" name="Text 19"/>
          <p:cNvSpPr/>
          <p:nvPr/>
        </p:nvSpPr>
        <p:spPr>
          <a:xfrm>
            <a:off x="4809744" y="148132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03</a:t>
            </a:r>
            <a:endParaRPr lang="en-US" sz="1400" dirty="0"/>
          </a:p>
        </p:txBody>
      </p:sp>
      <p:sp>
        <p:nvSpPr>
          <p:cNvPr id="22" name="Text 20"/>
          <p:cNvSpPr/>
          <p:nvPr/>
        </p:nvSpPr>
        <p:spPr>
          <a:xfrm>
            <a:off x="5340096" y="1463040"/>
            <a:ext cx="1188720" cy="457200"/>
          </a:xfrm>
          <a:prstGeom prst="rect">
            <a:avLst/>
          </a:prstGeom>
          <a:noFill/>
          <a:ln/>
        </p:spPr>
        <p:txBody>
          <a:bodyPr wrap="square" lIns="0" tIns="0" rIns="0" bIns="0" rtlCol="0" anchor="ctr"/>
          <a:lstStyle/>
          <a:p>
            <a:pPr indent="0" marL="0">
              <a:buNone/>
            </a:pPr>
            <a:r>
              <a:rPr lang="en-US" sz="1250" b="1" dirty="0">
                <a:solidFill>
                  <a:srgbClr val="28B894"/>
                </a:solidFill>
                <a:latin typeface="Microsoft YaHei" pitchFamily="34" charset="0"/>
                <a:ea typeface="Microsoft YaHei" pitchFamily="34" charset="-122"/>
                <a:cs typeface="Microsoft YaHei" pitchFamily="34" charset="-120"/>
              </a:rPr>
              <a:t>结果整合</a:t>
            </a:r>
            <a:endParaRPr lang="en-US" sz="1250" dirty="0"/>
          </a:p>
        </p:txBody>
      </p:sp>
      <p:sp>
        <p:nvSpPr>
          <p:cNvPr id="23" name="Text 21"/>
          <p:cNvSpPr/>
          <p:nvPr/>
        </p:nvSpPr>
        <p:spPr>
          <a:xfrm>
            <a:off x="4828032" y="2011680"/>
            <a:ext cx="1645920" cy="1005840"/>
          </a:xfrm>
          <a:prstGeom prst="rect">
            <a:avLst/>
          </a:prstGeom>
          <a:noFill/>
          <a:ln/>
        </p:spPr>
        <p:txBody>
          <a:bodyPr wrap="square" lIns="0" tIns="0" rIns="0" bIns="0" rtlCol="0" anchor="t"/>
          <a:lstStyle/>
          <a:p>
            <a:pPr indent="0" marL="0">
              <a:lnSpc>
                <a:spcPct val="120000"/>
              </a:lnSpc>
              <a:buNone/>
            </a:pPr>
            <a:r>
              <a:rPr lang="en-US" sz="1000" dirty="0">
                <a:solidFill>
                  <a:srgbClr val="2C3E50"/>
                </a:solidFill>
                <a:latin typeface="Microsoft YaHei" pitchFamily="34" charset="0"/>
                <a:ea typeface="Microsoft YaHei" pitchFamily="34" charset="-122"/>
                <a:cs typeface="Microsoft YaHei" pitchFamily="34" charset="-120"/>
              </a:rPr>
              <a:t>理解并组织工具返回的原始数据与执行状态，以自然语言回复用户</a:t>
            </a:r>
            <a:endParaRPr lang="en-US" sz="1000" dirty="0"/>
          </a:p>
        </p:txBody>
      </p:sp>
      <p:sp>
        <p:nvSpPr>
          <p:cNvPr id="24" name="Text 22"/>
          <p:cNvSpPr/>
          <p:nvPr/>
        </p:nvSpPr>
        <p:spPr>
          <a:xfrm>
            <a:off x="6620256" y="1828800"/>
            <a:ext cx="274320" cy="365760"/>
          </a:xfrm>
          <a:prstGeom prst="rect">
            <a:avLst/>
          </a:prstGeom>
          <a:noFill/>
          <a:ln/>
        </p:spPr>
        <p:txBody>
          <a:bodyPr wrap="square" lIns="0" tIns="0" rIns="0" bIns="0" rtlCol="0" anchor="ctr"/>
          <a:lstStyle/>
          <a:p>
            <a:pPr algn="ctr" indent="0" marL="0">
              <a:buNone/>
            </a:pPr>
            <a:r>
              <a:rPr lang="en-US" sz="2000" b="1" dirty="0">
                <a:solidFill>
                  <a:srgbClr val="5A6B7F"/>
                </a:solidFill>
                <a:latin typeface="Microsoft YaHei" pitchFamily="34" charset="0"/>
                <a:ea typeface="Microsoft YaHei" pitchFamily="34" charset="-122"/>
                <a:cs typeface="Microsoft YaHei" pitchFamily="34" charset="-120"/>
              </a:rPr>
              <a:t>→</a:t>
            </a:r>
            <a:endParaRPr lang="en-US" sz="2000" dirty="0"/>
          </a:p>
        </p:txBody>
      </p:sp>
      <p:sp>
        <p:nvSpPr>
          <p:cNvPr id="25" name="Shape 23"/>
          <p:cNvSpPr/>
          <p:nvPr/>
        </p:nvSpPr>
        <p:spPr>
          <a:xfrm>
            <a:off x="6748272" y="1371600"/>
            <a:ext cx="1920240" cy="1737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6" name="Shape 24"/>
          <p:cNvSpPr/>
          <p:nvPr/>
        </p:nvSpPr>
        <p:spPr>
          <a:xfrm>
            <a:off x="6748272" y="1371600"/>
            <a:ext cx="54864" cy="1737360"/>
          </a:xfrm>
          <a:prstGeom prst="rect">
            <a:avLst/>
          </a:prstGeom>
          <a:solidFill>
            <a:srgbClr val="2E9E83"/>
          </a:solidFill>
          <a:ln/>
        </p:spPr>
      </p:sp>
      <p:sp>
        <p:nvSpPr>
          <p:cNvPr id="27" name="Shape 25"/>
          <p:cNvSpPr/>
          <p:nvPr/>
        </p:nvSpPr>
        <p:spPr>
          <a:xfrm>
            <a:off x="6876288" y="1481328"/>
            <a:ext cx="411480" cy="411480"/>
          </a:xfrm>
          <a:prstGeom prst="ellipse">
            <a:avLst/>
          </a:prstGeom>
          <a:solidFill>
            <a:srgbClr val="2E9E83"/>
          </a:solidFill>
          <a:ln/>
        </p:spPr>
      </p:sp>
      <p:sp>
        <p:nvSpPr>
          <p:cNvPr id="28" name="Text 26"/>
          <p:cNvSpPr/>
          <p:nvPr/>
        </p:nvSpPr>
        <p:spPr>
          <a:xfrm>
            <a:off x="6876288" y="148132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04</a:t>
            </a:r>
            <a:endParaRPr lang="en-US" sz="1400" dirty="0"/>
          </a:p>
        </p:txBody>
      </p:sp>
      <p:sp>
        <p:nvSpPr>
          <p:cNvPr id="29" name="Text 27"/>
          <p:cNvSpPr/>
          <p:nvPr/>
        </p:nvSpPr>
        <p:spPr>
          <a:xfrm>
            <a:off x="7406640" y="1463040"/>
            <a:ext cx="1188720" cy="457200"/>
          </a:xfrm>
          <a:prstGeom prst="rect">
            <a:avLst/>
          </a:prstGeom>
          <a:noFill/>
          <a:ln/>
        </p:spPr>
        <p:txBody>
          <a:bodyPr wrap="square" lIns="0" tIns="0" rIns="0" bIns="0" rtlCol="0" anchor="ctr"/>
          <a:lstStyle/>
          <a:p>
            <a:pPr indent="0" marL="0">
              <a:buNone/>
            </a:pPr>
            <a:r>
              <a:rPr lang="en-US" sz="1250" b="1" dirty="0">
                <a:solidFill>
                  <a:srgbClr val="28B894"/>
                </a:solidFill>
                <a:latin typeface="Microsoft YaHei" pitchFamily="34" charset="0"/>
                <a:ea typeface="Microsoft YaHei" pitchFamily="34" charset="-122"/>
                <a:cs typeface="Microsoft YaHei" pitchFamily="34" charset="-120"/>
              </a:rPr>
              <a:t>多技能编排</a:t>
            </a:r>
            <a:endParaRPr lang="en-US" sz="1250" dirty="0"/>
          </a:p>
        </p:txBody>
      </p:sp>
      <p:sp>
        <p:nvSpPr>
          <p:cNvPr id="30" name="Text 28"/>
          <p:cNvSpPr/>
          <p:nvPr/>
        </p:nvSpPr>
        <p:spPr>
          <a:xfrm>
            <a:off x="6894576" y="2011680"/>
            <a:ext cx="1645920" cy="1005840"/>
          </a:xfrm>
          <a:prstGeom prst="rect">
            <a:avLst/>
          </a:prstGeom>
          <a:noFill/>
          <a:ln/>
        </p:spPr>
        <p:txBody>
          <a:bodyPr wrap="square" lIns="0" tIns="0" rIns="0" bIns="0" rtlCol="0" anchor="t"/>
          <a:lstStyle/>
          <a:p>
            <a:pPr indent="0" marL="0">
              <a:lnSpc>
                <a:spcPct val="120000"/>
              </a:lnSpc>
              <a:buNone/>
            </a:pPr>
            <a:r>
              <a:rPr lang="en-US" sz="1000" dirty="0">
                <a:solidFill>
                  <a:srgbClr val="2C3E50"/>
                </a:solidFill>
                <a:latin typeface="Microsoft YaHei" pitchFamily="34" charset="0"/>
                <a:ea typeface="Microsoft YaHei" pitchFamily="34" charset="-122"/>
                <a:cs typeface="Microsoft YaHei" pitchFamily="34" charset="-120"/>
              </a:rPr>
              <a:t>复杂任务依次调用多个技能，将它们串联成一条工具链</a:t>
            </a:r>
            <a:endParaRPr lang="en-US" sz="1000" dirty="0"/>
          </a:p>
        </p:txBody>
      </p:sp>
      <p:sp>
        <p:nvSpPr>
          <p:cNvPr id="31" name="Shape 29"/>
          <p:cNvSpPr/>
          <p:nvPr/>
        </p:nvSpPr>
        <p:spPr>
          <a:xfrm>
            <a:off x="548640" y="3383280"/>
            <a:ext cx="8046720" cy="621792"/>
          </a:xfrm>
          <a:prstGeom prst="rect">
            <a:avLst/>
          </a:prstGeom>
          <a:solidFill>
            <a:srgbClr val="E9F5F1"/>
          </a:solidFill>
          <a:ln/>
          <a:effectLst>
            <a:outerShdw sx="100000" sy="100000" kx="0" ky="0" algn="bl" rotWithShape="0" blurRad="76200" dist="25400" dir="8100000">
              <a:srgbClr val="000000">
                <a:alpha val="8000"/>
              </a:srgbClr>
            </a:outerShdw>
          </a:effectLst>
        </p:spPr>
      </p:sp>
      <p:sp>
        <p:nvSpPr>
          <p:cNvPr id="32" name="Shape 30"/>
          <p:cNvSpPr/>
          <p:nvPr/>
        </p:nvSpPr>
        <p:spPr>
          <a:xfrm>
            <a:off x="548640" y="3383280"/>
            <a:ext cx="64008" cy="621792"/>
          </a:xfrm>
          <a:prstGeom prst="rect">
            <a:avLst/>
          </a:prstGeom>
          <a:solidFill>
            <a:srgbClr val="28B894"/>
          </a:solidFill>
          <a:ln/>
        </p:spPr>
      </p:sp>
      <p:sp>
        <p:nvSpPr>
          <p:cNvPr id="33" name="Text 31"/>
          <p:cNvSpPr/>
          <p:nvPr/>
        </p:nvSpPr>
        <p:spPr>
          <a:xfrm>
            <a:off x="868680" y="3383280"/>
            <a:ext cx="7498080" cy="621792"/>
          </a:xfrm>
          <a:prstGeom prst="rect">
            <a:avLst/>
          </a:prstGeom>
          <a:noFill/>
          <a:ln/>
        </p:spPr>
        <p:txBody>
          <a:bodyPr wrap="square" lIns="0" tIns="0" rIns="0" bIns="0" rtlCol="0" anchor="ctr">
            <a:normAutofit/>
          </a:bodyPr>
          <a:lstStyle/>
          <a:p>
            <a:pPr indent="0" marL="0">
              <a:lnSpc>
                <a:spcPct val="120000"/>
              </a:lnSpc>
              <a:buNone/>
            </a:pPr>
            <a:r>
              <a:rPr lang="en-US" sz="1200" b="1" dirty="0">
                <a:solidFill>
                  <a:srgbClr val="28B894"/>
                </a:solidFill>
                <a:latin typeface="Microsoft YaHei" pitchFamily="34" charset="0"/>
                <a:ea typeface="Microsoft YaHei" pitchFamily="34" charset="-122"/>
                <a:cs typeface="Microsoft YaHei" pitchFamily="34" charset="-120"/>
              </a:rPr>
              <a:t>技能在底层本质上是预定义的工具函数（TOOL），WorkBuddy 通过 Function Calling 让 AI 模型与工具函数交互。</a:t>
            </a:r>
            <a:endParaRPr lang="en-US" sz="1200" dirty="0"/>
          </a:p>
        </p:txBody>
      </p:sp>
      <p:sp>
        <p:nvSpPr>
          <p:cNvPr id="34" name="Shape 32"/>
          <p:cNvSpPr/>
          <p:nvPr/>
        </p:nvSpPr>
        <p:spPr>
          <a:xfrm>
            <a:off x="548640" y="4343400"/>
            <a:ext cx="8046720" cy="457200"/>
          </a:xfrm>
          <a:prstGeom prst="rect">
            <a:avLst/>
          </a:prstGeom>
          <a:solidFill>
            <a:srgbClr val="E7F3EE"/>
          </a:solidFill>
          <a:ln/>
        </p:spPr>
      </p:sp>
      <p:sp>
        <p:nvSpPr>
          <p:cNvPr id="35" name="Shape 33"/>
          <p:cNvSpPr/>
          <p:nvPr/>
        </p:nvSpPr>
        <p:spPr>
          <a:xfrm>
            <a:off x="548640" y="4343400"/>
            <a:ext cx="45720" cy="457200"/>
          </a:xfrm>
          <a:prstGeom prst="rect">
            <a:avLst/>
          </a:prstGeom>
          <a:solidFill>
            <a:srgbClr val="2E9E83"/>
          </a:solidFill>
          <a:ln/>
        </p:spPr>
      </p:sp>
      <p:sp>
        <p:nvSpPr>
          <p:cNvPr id="36" name="Text 34"/>
          <p:cNvSpPr/>
          <p:nvPr/>
        </p:nvSpPr>
        <p:spPr>
          <a:xfrm>
            <a:off x="777240" y="4343400"/>
            <a:ext cx="7589520" cy="457200"/>
          </a:xfrm>
          <a:prstGeom prst="rect">
            <a:avLst/>
          </a:prstGeom>
          <a:noFill/>
          <a:ln/>
        </p:spPr>
        <p:txBody>
          <a:bodyPr wrap="square" lIns="0" tIns="0" rIns="0" bIns="0" rtlCol="0" anchor="ctr"/>
          <a:lstStyle/>
          <a:p>
            <a:pPr indent="0" marL="0">
              <a:buNone/>
            </a:pPr>
            <a:r>
              <a:rPr lang="en-US" sz="1200" dirty="0">
                <a:solidFill>
                  <a:srgbClr val="2C3E50"/>
                </a:solidFill>
                <a:latin typeface="Microsoft YaHei" pitchFamily="34" charset="0"/>
                <a:ea typeface="Microsoft YaHei" pitchFamily="34" charset="-122"/>
                <a:cs typeface="Microsoft YaHei" pitchFamily="34" charset="-120"/>
              </a:rPr>
              <a:t>示例工具链：先调用搜索技能获取信息，再调用文档技能生成报告。</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8F6"/>
        </a:solidFill>
      </p:bgPr>
    </p:bg>
    <p:spTree>
      <p:nvGrpSpPr>
        <p:cNvPr id="1" name=""/>
        <p:cNvGrpSpPr/>
        <p:nvPr/>
      </p:nvGrpSpPr>
      <p:grpSpPr>
        <a:xfrm>
          <a:off x="0" y="0"/>
          <a:ext cx="0" cy="0"/>
          <a:chOff x="0" y="0"/>
          <a:chExt cx="0" cy="0"/>
        </a:xfrm>
      </p:grpSpPr>
      <p:sp>
        <p:nvSpPr>
          <p:cNvPr id="2" name="Text 0"/>
          <p:cNvSpPr/>
          <p:nvPr/>
        </p:nvSpPr>
        <p:spPr>
          <a:xfrm>
            <a:off x="548640" y="274320"/>
            <a:ext cx="8046720" cy="594360"/>
          </a:xfrm>
          <a:prstGeom prst="rect">
            <a:avLst/>
          </a:prstGeom>
          <a:noFill/>
          <a:ln/>
        </p:spPr>
        <p:txBody>
          <a:bodyPr wrap="square" lIns="0" tIns="0" rIns="0" bIns="0" rtlCol="0" anchor="ctr"/>
          <a:lstStyle/>
          <a:p>
            <a:pPr indent="0" marL="0">
              <a:buNone/>
            </a:pPr>
            <a:r>
              <a:rPr lang="en-US" sz="2600" b="1" dirty="0">
                <a:solidFill>
                  <a:srgbClr val="28B894"/>
                </a:solidFill>
                <a:latin typeface="Microsoft YaHei" pitchFamily="34" charset="0"/>
                <a:ea typeface="Microsoft YaHei" pitchFamily="34" charset="-122"/>
                <a:cs typeface="Microsoft YaHei" pitchFamily="34" charset="-120"/>
              </a:rPr>
              <a:t>技能的安全沙箱机制</a:t>
            </a:r>
            <a:endParaRPr lang="en-US" sz="2600" dirty="0"/>
          </a:p>
        </p:txBody>
      </p:sp>
      <p:sp>
        <p:nvSpPr>
          <p:cNvPr id="3" name="Shape 1"/>
          <p:cNvSpPr/>
          <p:nvPr/>
        </p:nvSpPr>
        <p:spPr>
          <a:xfrm>
            <a:off x="548640" y="868680"/>
            <a:ext cx="914400" cy="32004"/>
          </a:xfrm>
          <a:prstGeom prst="rect">
            <a:avLst/>
          </a:prstGeom>
          <a:solidFill>
            <a:srgbClr val="2E9E83"/>
          </a:solidFill>
          <a:ln/>
        </p:spPr>
      </p:sp>
      <p:sp>
        <p:nvSpPr>
          <p:cNvPr id="4" name="Shape 2"/>
          <p:cNvSpPr/>
          <p:nvPr/>
        </p:nvSpPr>
        <p:spPr>
          <a:xfrm>
            <a:off x="548640" y="1234440"/>
            <a:ext cx="3931920" cy="13258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5" name="Shape 3"/>
          <p:cNvSpPr/>
          <p:nvPr/>
        </p:nvSpPr>
        <p:spPr>
          <a:xfrm>
            <a:off x="548640" y="1234440"/>
            <a:ext cx="54864" cy="1325880"/>
          </a:xfrm>
          <a:prstGeom prst="rect">
            <a:avLst/>
          </a:prstGeom>
          <a:solidFill>
            <a:srgbClr val="28B894"/>
          </a:solidFill>
          <a:ln/>
        </p:spPr>
      </p:sp>
      <p:sp>
        <p:nvSpPr>
          <p:cNvPr id="6" name="Text 4"/>
          <p:cNvSpPr/>
          <p:nvPr/>
        </p:nvSpPr>
        <p:spPr>
          <a:xfrm>
            <a:off x="731520" y="1344168"/>
            <a:ext cx="3566160" cy="365760"/>
          </a:xfrm>
          <a:prstGeom prst="rect">
            <a:avLst/>
          </a:prstGeom>
          <a:noFill/>
          <a:ln/>
        </p:spPr>
        <p:txBody>
          <a:bodyPr wrap="square" lIns="0" tIns="0" rIns="0" bIns="0" rtlCol="0" anchor="ctr"/>
          <a:lstStyle/>
          <a:p>
            <a:pPr indent="0" marL="0">
              <a:buNone/>
            </a:pPr>
            <a:r>
              <a:rPr lang="en-US" sz="1350" b="1" dirty="0">
                <a:solidFill>
                  <a:srgbClr val="28B894"/>
                </a:solidFill>
                <a:latin typeface="Microsoft YaHei" pitchFamily="34" charset="0"/>
                <a:ea typeface="Microsoft YaHei" pitchFamily="34" charset="-122"/>
                <a:cs typeface="Microsoft YaHei" pitchFamily="34" charset="-120"/>
              </a:rPr>
              <a:t>隔离工作目录</a:t>
            </a:r>
            <a:endParaRPr lang="en-US" sz="1350" dirty="0"/>
          </a:p>
        </p:txBody>
      </p:sp>
      <p:sp>
        <p:nvSpPr>
          <p:cNvPr id="7" name="Text 5"/>
          <p:cNvSpPr/>
          <p:nvPr/>
        </p:nvSpPr>
        <p:spPr>
          <a:xfrm>
            <a:off x="731520" y="1737360"/>
            <a:ext cx="3566160" cy="749808"/>
          </a:xfrm>
          <a:prstGeom prst="rect">
            <a:avLst/>
          </a:prstGeom>
          <a:noFill/>
          <a:ln/>
        </p:spPr>
        <p:txBody>
          <a:bodyPr wrap="square" lIns="0" tIns="0" rIns="0" bIns="0" rtlCol="0" anchor="t"/>
          <a:lstStyle/>
          <a:p>
            <a:pPr indent="0" marL="0">
              <a:lnSpc>
                <a:spcPct val="120000"/>
              </a:lnSpc>
              <a:buNone/>
            </a:pPr>
            <a:r>
              <a:rPr lang="en-US" sz="1050" dirty="0">
                <a:solidFill>
                  <a:srgbClr val="2C3E50"/>
                </a:solidFill>
                <a:latin typeface="Microsoft YaHei" pitchFamily="34" charset="0"/>
                <a:ea typeface="Microsoft YaHei" pitchFamily="34" charset="-122"/>
                <a:cs typeface="Microsoft YaHei" pitchFamily="34" charset="-120"/>
              </a:rPr>
              <a:t>系统为技能执行分配隔离的工作目录，防止技能随意读取或修改用户系统的敏感文件。</a:t>
            </a:r>
            <a:endParaRPr lang="en-US" sz="1050" dirty="0"/>
          </a:p>
        </p:txBody>
      </p:sp>
      <p:sp>
        <p:nvSpPr>
          <p:cNvPr id="8" name="Shape 6"/>
          <p:cNvSpPr/>
          <p:nvPr/>
        </p:nvSpPr>
        <p:spPr>
          <a:xfrm>
            <a:off x="4709160" y="1234440"/>
            <a:ext cx="3931920" cy="13258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9" name="Shape 7"/>
          <p:cNvSpPr/>
          <p:nvPr/>
        </p:nvSpPr>
        <p:spPr>
          <a:xfrm>
            <a:off x="4709160" y="1234440"/>
            <a:ext cx="54864" cy="1325880"/>
          </a:xfrm>
          <a:prstGeom prst="rect">
            <a:avLst/>
          </a:prstGeom>
          <a:solidFill>
            <a:srgbClr val="5A6B7F"/>
          </a:solidFill>
          <a:ln/>
        </p:spPr>
      </p:sp>
      <p:sp>
        <p:nvSpPr>
          <p:cNvPr id="10" name="Text 8"/>
          <p:cNvSpPr/>
          <p:nvPr/>
        </p:nvSpPr>
        <p:spPr>
          <a:xfrm>
            <a:off x="4892040" y="1344168"/>
            <a:ext cx="3566160" cy="365760"/>
          </a:xfrm>
          <a:prstGeom prst="rect">
            <a:avLst/>
          </a:prstGeom>
          <a:noFill/>
          <a:ln/>
        </p:spPr>
        <p:txBody>
          <a:bodyPr wrap="square" lIns="0" tIns="0" rIns="0" bIns="0" rtlCol="0" anchor="ctr"/>
          <a:lstStyle/>
          <a:p>
            <a:pPr indent="0" marL="0">
              <a:buNone/>
            </a:pPr>
            <a:r>
              <a:rPr lang="en-US" sz="1350" b="1" dirty="0">
                <a:solidFill>
                  <a:srgbClr val="28B894"/>
                </a:solidFill>
                <a:latin typeface="Microsoft YaHei" pitchFamily="34" charset="0"/>
                <a:ea typeface="Microsoft YaHei" pitchFamily="34" charset="-122"/>
                <a:cs typeface="Microsoft YaHei" pitchFamily="34" charset="-120"/>
              </a:rPr>
              <a:t>按需授权</a:t>
            </a:r>
            <a:endParaRPr lang="en-US" sz="1350" dirty="0"/>
          </a:p>
        </p:txBody>
      </p:sp>
      <p:sp>
        <p:nvSpPr>
          <p:cNvPr id="11" name="Text 9"/>
          <p:cNvSpPr/>
          <p:nvPr/>
        </p:nvSpPr>
        <p:spPr>
          <a:xfrm>
            <a:off x="4892040" y="1737360"/>
            <a:ext cx="3566160" cy="749808"/>
          </a:xfrm>
          <a:prstGeom prst="rect">
            <a:avLst/>
          </a:prstGeom>
          <a:noFill/>
          <a:ln/>
        </p:spPr>
        <p:txBody>
          <a:bodyPr wrap="square" lIns="0" tIns="0" rIns="0" bIns="0" rtlCol="0" anchor="t"/>
          <a:lstStyle/>
          <a:p>
            <a:pPr indent="0" marL="0">
              <a:lnSpc>
                <a:spcPct val="120000"/>
              </a:lnSpc>
              <a:buNone/>
            </a:pPr>
            <a:r>
              <a:rPr lang="en-US" sz="1050" dirty="0">
                <a:solidFill>
                  <a:srgbClr val="2C3E50"/>
                </a:solidFill>
                <a:latin typeface="Microsoft YaHei" pitchFamily="34" charset="0"/>
                <a:ea typeface="Microsoft YaHei" pitchFamily="34" charset="-122"/>
                <a:cs typeface="Microsoft YaHei" pitchFamily="34" charset="-120"/>
              </a:rPr>
              <a:t>技能权限“按需授予”，仅开放其完成任务所必需的接口。</a:t>
            </a:r>
            <a:endParaRPr lang="en-US" sz="1050" dirty="0"/>
          </a:p>
        </p:txBody>
      </p:sp>
      <p:sp>
        <p:nvSpPr>
          <p:cNvPr id="12" name="Shape 10"/>
          <p:cNvSpPr/>
          <p:nvPr/>
        </p:nvSpPr>
        <p:spPr>
          <a:xfrm>
            <a:off x="548640" y="2697480"/>
            <a:ext cx="3931920" cy="13258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3" name="Shape 11"/>
          <p:cNvSpPr/>
          <p:nvPr/>
        </p:nvSpPr>
        <p:spPr>
          <a:xfrm>
            <a:off x="548640" y="2697480"/>
            <a:ext cx="54864" cy="1325880"/>
          </a:xfrm>
          <a:prstGeom prst="rect">
            <a:avLst/>
          </a:prstGeom>
          <a:solidFill>
            <a:srgbClr val="2E9E83"/>
          </a:solidFill>
          <a:ln/>
        </p:spPr>
      </p:sp>
      <p:sp>
        <p:nvSpPr>
          <p:cNvPr id="14" name="Text 12"/>
          <p:cNvSpPr/>
          <p:nvPr/>
        </p:nvSpPr>
        <p:spPr>
          <a:xfrm>
            <a:off x="731520" y="2807208"/>
            <a:ext cx="3566160" cy="365760"/>
          </a:xfrm>
          <a:prstGeom prst="rect">
            <a:avLst/>
          </a:prstGeom>
          <a:noFill/>
          <a:ln/>
        </p:spPr>
        <p:txBody>
          <a:bodyPr wrap="square" lIns="0" tIns="0" rIns="0" bIns="0" rtlCol="0" anchor="ctr"/>
          <a:lstStyle/>
          <a:p>
            <a:pPr indent="0" marL="0">
              <a:buNone/>
            </a:pPr>
            <a:r>
              <a:rPr lang="en-US" sz="1350" b="1" dirty="0">
                <a:solidFill>
                  <a:srgbClr val="28B894"/>
                </a:solidFill>
                <a:latin typeface="Microsoft YaHei" pitchFamily="34" charset="0"/>
                <a:ea typeface="Microsoft YaHei" pitchFamily="34" charset="-122"/>
                <a:cs typeface="Microsoft YaHei" pitchFamily="34" charset="-120"/>
              </a:rPr>
              <a:t>人工确认</a:t>
            </a:r>
            <a:endParaRPr lang="en-US" sz="1350" dirty="0"/>
          </a:p>
        </p:txBody>
      </p:sp>
      <p:sp>
        <p:nvSpPr>
          <p:cNvPr id="15" name="Text 13"/>
          <p:cNvSpPr/>
          <p:nvPr/>
        </p:nvSpPr>
        <p:spPr>
          <a:xfrm>
            <a:off x="731520" y="3200400"/>
            <a:ext cx="3566160" cy="749808"/>
          </a:xfrm>
          <a:prstGeom prst="rect">
            <a:avLst/>
          </a:prstGeom>
          <a:noFill/>
          <a:ln/>
        </p:spPr>
        <p:txBody>
          <a:bodyPr wrap="square" lIns="0" tIns="0" rIns="0" bIns="0" rtlCol="0" anchor="t"/>
          <a:lstStyle/>
          <a:p>
            <a:pPr indent="0" marL="0">
              <a:lnSpc>
                <a:spcPct val="120000"/>
              </a:lnSpc>
              <a:buNone/>
            </a:pPr>
            <a:r>
              <a:rPr lang="en-US" sz="1050" dirty="0">
                <a:solidFill>
                  <a:srgbClr val="2C3E50"/>
                </a:solidFill>
                <a:latin typeface="Microsoft YaHei" pitchFamily="34" charset="0"/>
                <a:ea typeface="Microsoft YaHei" pitchFamily="34" charset="-122"/>
                <a:cs typeface="Microsoft YaHei" pitchFamily="34" charset="-120"/>
              </a:rPr>
              <a:t>涉及删除文件或调用外部高危接口等危险操作时，系统会弹出确认框，要求用户手动授权，过程完全由用户可控。</a:t>
            </a:r>
            <a:endParaRPr lang="en-US" sz="1050" dirty="0"/>
          </a:p>
        </p:txBody>
      </p:sp>
      <p:sp>
        <p:nvSpPr>
          <p:cNvPr id="16" name="Shape 14"/>
          <p:cNvSpPr/>
          <p:nvPr/>
        </p:nvSpPr>
        <p:spPr>
          <a:xfrm>
            <a:off x="4709160" y="2697480"/>
            <a:ext cx="3931920" cy="13258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7" name="Shape 15"/>
          <p:cNvSpPr/>
          <p:nvPr/>
        </p:nvSpPr>
        <p:spPr>
          <a:xfrm>
            <a:off x="4709160" y="2697480"/>
            <a:ext cx="54864" cy="1325880"/>
          </a:xfrm>
          <a:prstGeom prst="rect">
            <a:avLst/>
          </a:prstGeom>
          <a:solidFill>
            <a:srgbClr val="A8895F"/>
          </a:solidFill>
          <a:ln/>
        </p:spPr>
      </p:sp>
      <p:sp>
        <p:nvSpPr>
          <p:cNvPr id="18" name="Text 16"/>
          <p:cNvSpPr/>
          <p:nvPr/>
        </p:nvSpPr>
        <p:spPr>
          <a:xfrm>
            <a:off x="4892040" y="2807208"/>
            <a:ext cx="3566160" cy="365760"/>
          </a:xfrm>
          <a:prstGeom prst="rect">
            <a:avLst/>
          </a:prstGeom>
          <a:noFill/>
          <a:ln/>
        </p:spPr>
        <p:txBody>
          <a:bodyPr wrap="square" lIns="0" tIns="0" rIns="0" bIns="0" rtlCol="0" anchor="ctr"/>
          <a:lstStyle/>
          <a:p>
            <a:pPr indent="0" marL="0">
              <a:buNone/>
            </a:pPr>
            <a:r>
              <a:rPr lang="en-US" sz="1350" b="1" dirty="0">
                <a:solidFill>
                  <a:srgbClr val="28B894"/>
                </a:solidFill>
                <a:latin typeface="Microsoft YaHei" pitchFamily="34" charset="0"/>
                <a:ea typeface="Microsoft YaHei" pitchFamily="34" charset="-122"/>
                <a:cs typeface="Microsoft YaHei" pitchFamily="34" charset="-120"/>
              </a:rPr>
              <a:t>谨慎来源</a:t>
            </a:r>
            <a:endParaRPr lang="en-US" sz="1350" dirty="0"/>
          </a:p>
        </p:txBody>
      </p:sp>
      <p:sp>
        <p:nvSpPr>
          <p:cNvPr id="19" name="Text 17"/>
          <p:cNvSpPr/>
          <p:nvPr/>
        </p:nvSpPr>
        <p:spPr>
          <a:xfrm>
            <a:off x="4892040" y="3200400"/>
            <a:ext cx="3566160" cy="749808"/>
          </a:xfrm>
          <a:prstGeom prst="rect">
            <a:avLst/>
          </a:prstGeom>
          <a:noFill/>
          <a:ln/>
        </p:spPr>
        <p:txBody>
          <a:bodyPr wrap="square" lIns="0" tIns="0" rIns="0" bIns="0" rtlCol="0" anchor="t"/>
          <a:lstStyle/>
          <a:p>
            <a:pPr indent="0" marL="0">
              <a:lnSpc>
                <a:spcPct val="120000"/>
              </a:lnSpc>
              <a:buNone/>
            </a:pPr>
            <a:r>
              <a:rPr lang="en-US" sz="1050" dirty="0">
                <a:solidFill>
                  <a:srgbClr val="2C3E50"/>
                </a:solidFill>
                <a:latin typeface="Microsoft YaHei" pitchFamily="34" charset="0"/>
                <a:ea typeface="Microsoft YaHei" pitchFamily="34" charset="-122"/>
                <a:cs typeface="Microsoft YaHei" pitchFamily="34" charset="-120"/>
              </a:rPr>
              <a:t>建议优先使用官方推荐技能——非官方技能可能存在恶意提示词注入、越权访问、后门程序等隐患。</a:t>
            </a:r>
            <a:endParaRPr lang="en-US" sz="1050" dirty="0"/>
          </a:p>
        </p:txBody>
      </p:sp>
      <p:sp>
        <p:nvSpPr>
          <p:cNvPr id="20" name="Shape 18"/>
          <p:cNvSpPr/>
          <p:nvPr/>
        </p:nvSpPr>
        <p:spPr>
          <a:xfrm>
            <a:off x="548640" y="4224528"/>
            <a:ext cx="8046720" cy="658368"/>
          </a:xfrm>
          <a:prstGeom prst="rect">
            <a:avLst/>
          </a:prstGeom>
          <a:solidFill>
            <a:srgbClr val="E7F3EE"/>
          </a:solidFill>
          <a:ln/>
        </p:spPr>
      </p:sp>
      <p:sp>
        <p:nvSpPr>
          <p:cNvPr id="21" name="Shape 19"/>
          <p:cNvSpPr/>
          <p:nvPr/>
        </p:nvSpPr>
        <p:spPr>
          <a:xfrm>
            <a:off x="548640" y="4224528"/>
            <a:ext cx="45720" cy="658368"/>
          </a:xfrm>
          <a:prstGeom prst="rect">
            <a:avLst/>
          </a:prstGeom>
          <a:solidFill>
            <a:srgbClr val="A8895F"/>
          </a:solidFill>
          <a:ln/>
        </p:spPr>
      </p:sp>
      <p:sp>
        <p:nvSpPr>
          <p:cNvPr id="22" name="Text 20"/>
          <p:cNvSpPr/>
          <p:nvPr/>
        </p:nvSpPr>
        <p:spPr>
          <a:xfrm>
            <a:off x="777240" y="4224528"/>
            <a:ext cx="7589520" cy="658368"/>
          </a:xfrm>
          <a:prstGeom prst="rect">
            <a:avLst/>
          </a:prstGeom>
          <a:noFill/>
          <a:ln/>
        </p:spPr>
        <p:txBody>
          <a:bodyPr wrap="square" lIns="0" tIns="0" rIns="0" bIns="0" rtlCol="0" anchor="ctr"/>
          <a:lstStyle/>
          <a:p>
            <a:pPr indent="0" marL="0">
              <a:lnSpc>
                <a:spcPct val="120000"/>
              </a:lnSpc>
              <a:buNone/>
            </a:pPr>
            <a:r>
              <a:rPr lang="en-US" sz="1100" dirty="0">
                <a:solidFill>
                  <a:srgbClr val="2C3E50"/>
                </a:solidFill>
                <a:latin typeface="Microsoft YaHei" pitchFamily="34" charset="0"/>
                <a:ea typeface="Microsoft YaHei" pitchFamily="34" charset="-122"/>
                <a:cs typeface="Microsoft YaHei" pitchFamily="34" charset="-120"/>
              </a:rPr>
              <a:t>安全提示：面对系统弹出的危险操作确认框，请务必仔细阅读该操作即将执行的内容和涉及的路径，切勿盲目点击同意；对非信任的外部插件，建议保持默认的最小权限原则。</a:t>
            </a:r>
            <a:endParaRPr lang="en-US" sz="1100" dirty="0"/>
          </a:p>
        </p:txBody>
      </p:sp>
      <p:sp>
        <p:nvSpPr>
          <p:cNvPr id="23" name="Text 21"/>
          <p:cNvSpPr/>
          <p:nvPr/>
        </p:nvSpPr>
        <p:spPr>
          <a:xfrm>
            <a:off x="548640" y="4956048"/>
            <a:ext cx="8046720" cy="182880"/>
          </a:xfrm>
          <a:prstGeom prst="rect">
            <a:avLst/>
          </a:prstGeom>
          <a:noFill/>
          <a:ln/>
        </p:spPr>
        <p:txBody>
          <a:bodyPr wrap="square" lIns="0" tIns="0" rIns="0" bIns="0" rtlCol="0" anchor="ctr"/>
          <a:lstStyle/>
          <a:p>
            <a:pPr indent="0" marL="0">
              <a:buNone/>
            </a:pPr>
            <a:r>
              <a:rPr lang="en-US" sz="800" dirty="0">
                <a:solidFill>
                  <a:srgbClr val="7F8C8D"/>
                </a:solidFill>
                <a:latin typeface="Microsoft YaHei" pitchFamily="34" charset="0"/>
                <a:ea typeface="Microsoft YaHei" pitchFamily="34" charset="-122"/>
                <a:cs typeface="Microsoft YaHei" pitchFamily="34" charset="-120"/>
              </a:rPr>
              <a:t>官方文档《技能》：https://www.workbuddy.cn/docs/workbuddy/From-Beginner-to-Expert-Guide/Function-Description/Skills-Market</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594360"/>
          </a:xfrm>
          <a:prstGeom prst="rect">
            <a:avLst/>
          </a:prstGeom>
          <a:noFill/>
          <a:ln/>
        </p:spPr>
        <p:txBody>
          <a:bodyPr wrap="square" lIns="0" tIns="0" rIns="0" bIns="0" rtlCol="0" anchor="ctr"/>
          <a:lstStyle/>
          <a:p>
            <a:pPr indent="0" marL="0">
              <a:buNone/>
            </a:pPr>
            <a:r>
              <a:rPr lang="en-US" sz="2600" b="1" dirty="0">
                <a:solidFill>
                  <a:srgbClr val="28B894"/>
                </a:solidFill>
                <a:latin typeface="Microsoft YaHei" pitchFamily="34" charset="0"/>
                <a:ea typeface="Microsoft YaHei" pitchFamily="34" charset="-122"/>
                <a:cs typeface="Microsoft YaHei" pitchFamily="34" charset="-120"/>
              </a:rPr>
              <a:t>技能市场与日常管理</a:t>
            </a:r>
            <a:endParaRPr lang="en-US" sz="2600" dirty="0"/>
          </a:p>
        </p:txBody>
      </p:sp>
      <p:sp>
        <p:nvSpPr>
          <p:cNvPr id="3" name="Shape 1"/>
          <p:cNvSpPr/>
          <p:nvPr/>
        </p:nvSpPr>
        <p:spPr>
          <a:xfrm>
            <a:off x="548640" y="868680"/>
            <a:ext cx="914400" cy="32004"/>
          </a:xfrm>
          <a:prstGeom prst="rect">
            <a:avLst/>
          </a:prstGeom>
          <a:solidFill>
            <a:srgbClr val="2E9E83"/>
          </a:solidFill>
          <a:ln/>
        </p:spPr>
      </p:sp>
      <p:sp>
        <p:nvSpPr>
          <p:cNvPr id="4" name="Text 2"/>
          <p:cNvSpPr/>
          <p:nvPr/>
        </p:nvSpPr>
        <p:spPr>
          <a:xfrm>
            <a:off x="548640" y="1024128"/>
            <a:ext cx="8046720" cy="365760"/>
          </a:xfrm>
          <a:prstGeom prst="rect">
            <a:avLst/>
          </a:prstGeom>
          <a:noFill/>
          <a:ln/>
        </p:spPr>
        <p:txBody>
          <a:bodyPr wrap="square" lIns="0" tIns="0" rIns="0" bIns="0" rtlCol="0" anchor="ctr"/>
          <a:lstStyle/>
          <a:p>
            <a:pPr indent="0" marL="0">
              <a:buNone/>
            </a:pPr>
            <a:r>
              <a:rPr lang="en-US" sz="1250" dirty="0">
                <a:solidFill>
                  <a:srgbClr val="7F8C8D"/>
                </a:solidFill>
                <a:latin typeface="Microsoft YaHei" pitchFamily="34" charset="0"/>
                <a:ea typeface="Microsoft YaHei" pitchFamily="34" charset="-122"/>
                <a:cs typeface="Microsoft YaHei" pitchFamily="34" charset="-120"/>
              </a:rPr>
              <a:t>请参见产品界面：侧边栏 &gt; 技能市场。页面分“推荐区”与“已安装区”两大区域，右上角提供“添加技能”按钮。</a:t>
            </a:r>
            <a:endParaRPr lang="en-US" sz="1250" dirty="0"/>
          </a:p>
        </p:txBody>
      </p:sp>
      <p:sp>
        <p:nvSpPr>
          <p:cNvPr id="5" name="Shape 3"/>
          <p:cNvSpPr/>
          <p:nvPr/>
        </p:nvSpPr>
        <p:spPr>
          <a:xfrm>
            <a:off x="548640" y="1463040"/>
            <a:ext cx="3931920" cy="12344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6" name="Shape 4"/>
          <p:cNvSpPr/>
          <p:nvPr/>
        </p:nvSpPr>
        <p:spPr>
          <a:xfrm>
            <a:off x="548640" y="1463040"/>
            <a:ext cx="54864" cy="1234440"/>
          </a:xfrm>
          <a:prstGeom prst="rect">
            <a:avLst/>
          </a:prstGeom>
          <a:solidFill>
            <a:srgbClr val="28B894"/>
          </a:solidFill>
          <a:ln/>
        </p:spPr>
      </p:sp>
      <p:sp>
        <p:nvSpPr>
          <p:cNvPr id="7" name="Text 5"/>
          <p:cNvSpPr/>
          <p:nvPr/>
        </p:nvSpPr>
        <p:spPr>
          <a:xfrm>
            <a:off x="731520" y="1572768"/>
            <a:ext cx="3566160" cy="365760"/>
          </a:xfrm>
          <a:prstGeom prst="rect">
            <a:avLst/>
          </a:prstGeom>
          <a:noFill/>
          <a:ln/>
        </p:spPr>
        <p:txBody>
          <a:bodyPr wrap="square" lIns="0" tIns="0" rIns="0" bIns="0" rtlCol="0" anchor="ctr"/>
          <a:lstStyle/>
          <a:p>
            <a:pPr indent="0" marL="0">
              <a:buNone/>
            </a:pPr>
            <a:r>
              <a:rPr lang="en-US" sz="1400" b="1" dirty="0">
                <a:solidFill>
                  <a:srgbClr val="28B894"/>
                </a:solidFill>
                <a:latin typeface="Microsoft YaHei" pitchFamily="34" charset="0"/>
                <a:ea typeface="Microsoft YaHei" pitchFamily="34" charset="-122"/>
                <a:cs typeface="Microsoft YaHei" pitchFamily="34" charset="-120"/>
              </a:rPr>
              <a:t>推荐区</a:t>
            </a:r>
            <a:endParaRPr lang="en-US" sz="1400" dirty="0"/>
          </a:p>
        </p:txBody>
      </p:sp>
      <p:sp>
        <p:nvSpPr>
          <p:cNvPr id="8" name="Text 6"/>
          <p:cNvSpPr/>
          <p:nvPr/>
        </p:nvSpPr>
        <p:spPr>
          <a:xfrm>
            <a:off x="731520" y="1993392"/>
            <a:ext cx="3566160" cy="640080"/>
          </a:xfrm>
          <a:prstGeom prst="rect">
            <a:avLst/>
          </a:prstGeom>
          <a:noFill/>
          <a:ln/>
        </p:spPr>
        <p:txBody>
          <a:bodyPr wrap="square" lIns="0" tIns="0" rIns="0" bIns="0" rtlCol="0" anchor="t"/>
          <a:lstStyle/>
          <a:p>
            <a:pPr indent="0" marL="0">
              <a:lnSpc>
                <a:spcPct val="120000"/>
              </a:lnSpc>
              <a:buNone/>
            </a:pPr>
            <a:r>
              <a:rPr lang="en-US" sz="1050" dirty="0">
                <a:solidFill>
                  <a:srgbClr val="2C3E50"/>
                </a:solidFill>
                <a:latin typeface="Microsoft YaHei" pitchFamily="34" charset="0"/>
                <a:ea typeface="Microsoft YaHei" pitchFamily="34" charset="-122"/>
                <a:cs typeface="Microsoft YaHei" pitchFamily="34" charset="-120"/>
              </a:rPr>
              <a:t>展示当前热门的技能包，用户可以通过一键安装将其添加到系统中。</a:t>
            </a:r>
            <a:endParaRPr lang="en-US" sz="1050" dirty="0"/>
          </a:p>
        </p:txBody>
      </p:sp>
      <p:sp>
        <p:nvSpPr>
          <p:cNvPr id="9" name="Shape 7"/>
          <p:cNvSpPr/>
          <p:nvPr/>
        </p:nvSpPr>
        <p:spPr>
          <a:xfrm>
            <a:off x="4709160" y="1463040"/>
            <a:ext cx="3931920" cy="12344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0" name="Shape 8"/>
          <p:cNvSpPr/>
          <p:nvPr/>
        </p:nvSpPr>
        <p:spPr>
          <a:xfrm>
            <a:off x="4709160" y="1463040"/>
            <a:ext cx="54864" cy="1234440"/>
          </a:xfrm>
          <a:prstGeom prst="rect">
            <a:avLst/>
          </a:prstGeom>
          <a:solidFill>
            <a:srgbClr val="5A6B7F"/>
          </a:solidFill>
          <a:ln/>
        </p:spPr>
      </p:sp>
      <p:sp>
        <p:nvSpPr>
          <p:cNvPr id="11" name="Text 9"/>
          <p:cNvSpPr/>
          <p:nvPr/>
        </p:nvSpPr>
        <p:spPr>
          <a:xfrm>
            <a:off x="4892040" y="1572768"/>
            <a:ext cx="3566160" cy="365760"/>
          </a:xfrm>
          <a:prstGeom prst="rect">
            <a:avLst/>
          </a:prstGeom>
          <a:noFill/>
          <a:ln/>
        </p:spPr>
        <p:txBody>
          <a:bodyPr wrap="square" lIns="0" tIns="0" rIns="0" bIns="0" rtlCol="0" anchor="ctr"/>
          <a:lstStyle/>
          <a:p>
            <a:pPr indent="0" marL="0">
              <a:buNone/>
            </a:pPr>
            <a:r>
              <a:rPr lang="en-US" sz="1400" b="1" dirty="0">
                <a:solidFill>
                  <a:srgbClr val="28B894"/>
                </a:solidFill>
                <a:latin typeface="Microsoft YaHei" pitchFamily="34" charset="0"/>
                <a:ea typeface="Microsoft YaHei" pitchFamily="34" charset="-122"/>
                <a:cs typeface="Microsoft YaHei" pitchFamily="34" charset="-120"/>
              </a:rPr>
              <a:t>已安装区</a:t>
            </a:r>
            <a:endParaRPr lang="en-US" sz="1400" dirty="0"/>
          </a:p>
        </p:txBody>
      </p:sp>
      <p:sp>
        <p:nvSpPr>
          <p:cNvPr id="12" name="Text 10"/>
          <p:cNvSpPr/>
          <p:nvPr/>
        </p:nvSpPr>
        <p:spPr>
          <a:xfrm>
            <a:off x="4892040" y="1993392"/>
            <a:ext cx="3566160" cy="640080"/>
          </a:xfrm>
          <a:prstGeom prst="rect">
            <a:avLst/>
          </a:prstGeom>
          <a:noFill/>
          <a:ln/>
        </p:spPr>
        <p:txBody>
          <a:bodyPr wrap="square" lIns="0" tIns="0" rIns="0" bIns="0" rtlCol="0" anchor="t"/>
          <a:lstStyle/>
          <a:p>
            <a:pPr indent="0" marL="0">
              <a:lnSpc>
                <a:spcPct val="120000"/>
              </a:lnSpc>
              <a:buNone/>
            </a:pPr>
            <a:r>
              <a:rPr lang="en-US" sz="1050" dirty="0">
                <a:solidFill>
                  <a:srgbClr val="2C3E50"/>
                </a:solidFill>
                <a:latin typeface="Microsoft YaHei" pitchFamily="34" charset="0"/>
                <a:ea typeface="Microsoft YaHei" pitchFamily="34" charset="-122"/>
                <a:cs typeface="Microsoft YaHei" pitchFamily="34" charset="-120"/>
              </a:rPr>
              <a:t>按分类清晰展示用户目前拥有的所有技能，支持快速搜索、启用或关闭状态的切换以及批量管理操作。</a:t>
            </a:r>
            <a:endParaRPr lang="en-US" sz="1050" dirty="0"/>
          </a:p>
        </p:txBody>
      </p:sp>
      <p:sp>
        <p:nvSpPr>
          <p:cNvPr id="13" name="Text 11"/>
          <p:cNvSpPr/>
          <p:nvPr/>
        </p:nvSpPr>
        <p:spPr>
          <a:xfrm>
            <a:off x="548640" y="2926080"/>
            <a:ext cx="3657600" cy="320040"/>
          </a:xfrm>
          <a:prstGeom prst="rect">
            <a:avLst/>
          </a:prstGeom>
          <a:noFill/>
          <a:ln/>
        </p:spPr>
        <p:txBody>
          <a:bodyPr wrap="square" lIns="0" tIns="0" rIns="0" bIns="0" rtlCol="0" anchor="ctr"/>
          <a:lstStyle/>
          <a:p>
            <a:pPr indent="0" marL="0">
              <a:buNone/>
            </a:pPr>
            <a:r>
              <a:rPr lang="en-US" sz="1300" b="1" dirty="0">
                <a:solidFill>
                  <a:srgbClr val="28B894"/>
                </a:solidFill>
                <a:latin typeface="Microsoft YaHei" pitchFamily="34" charset="0"/>
                <a:ea typeface="Microsoft YaHei" pitchFamily="34" charset="-122"/>
                <a:cs typeface="Microsoft YaHei" pitchFamily="34" charset="-120"/>
              </a:rPr>
              <a:t>日常管理三板斧</a:t>
            </a:r>
            <a:endParaRPr lang="en-US" sz="1300" dirty="0"/>
          </a:p>
        </p:txBody>
      </p:sp>
      <p:sp>
        <p:nvSpPr>
          <p:cNvPr id="14" name="Shape 12"/>
          <p:cNvSpPr/>
          <p:nvPr/>
        </p:nvSpPr>
        <p:spPr>
          <a:xfrm>
            <a:off x="548640" y="3310128"/>
            <a:ext cx="2606040" cy="7772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5" name="Shape 13"/>
          <p:cNvSpPr/>
          <p:nvPr/>
        </p:nvSpPr>
        <p:spPr>
          <a:xfrm>
            <a:off x="548640" y="3310128"/>
            <a:ext cx="54864" cy="777240"/>
          </a:xfrm>
          <a:prstGeom prst="rect">
            <a:avLst/>
          </a:prstGeom>
          <a:solidFill>
            <a:srgbClr val="2E9E83"/>
          </a:solidFill>
          <a:ln/>
        </p:spPr>
      </p:sp>
      <p:sp>
        <p:nvSpPr>
          <p:cNvPr id="16" name="Text 14"/>
          <p:cNvSpPr/>
          <p:nvPr/>
        </p:nvSpPr>
        <p:spPr>
          <a:xfrm>
            <a:off x="731520" y="3383280"/>
            <a:ext cx="2286000" cy="292608"/>
          </a:xfrm>
          <a:prstGeom prst="rect">
            <a:avLst/>
          </a:prstGeom>
          <a:noFill/>
          <a:ln/>
        </p:spPr>
        <p:txBody>
          <a:bodyPr wrap="square" lIns="0" tIns="0" rIns="0" bIns="0" rtlCol="0" anchor="ctr"/>
          <a:lstStyle/>
          <a:p>
            <a:pPr indent="0" marL="0">
              <a:buNone/>
            </a:pPr>
            <a:r>
              <a:rPr lang="en-US" sz="1200" b="1" dirty="0">
                <a:solidFill>
                  <a:srgbClr val="28B894"/>
                </a:solidFill>
                <a:latin typeface="Microsoft YaHei" pitchFamily="34" charset="0"/>
                <a:ea typeface="Microsoft YaHei" pitchFamily="34" charset="-122"/>
                <a:cs typeface="Microsoft YaHei" pitchFamily="34" charset="-120"/>
              </a:rPr>
              <a:t>开关切换</a:t>
            </a:r>
            <a:endParaRPr lang="en-US" sz="1200" dirty="0"/>
          </a:p>
        </p:txBody>
      </p:sp>
      <p:sp>
        <p:nvSpPr>
          <p:cNvPr id="17" name="Text 15"/>
          <p:cNvSpPr/>
          <p:nvPr/>
        </p:nvSpPr>
        <p:spPr>
          <a:xfrm>
            <a:off x="731520" y="3685032"/>
            <a:ext cx="2286000" cy="347472"/>
          </a:xfrm>
          <a:prstGeom prst="rect">
            <a:avLst/>
          </a:prstGeom>
          <a:noFill/>
          <a:ln/>
        </p:spPr>
        <p:txBody>
          <a:bodyPr wrap="square" lIns="0" tIns="0" rIns="0" bIns="0" rtlCol="0" anchor="t"/>
          <a:lstStyle/>
          <a:p>
            <a:pPr indent="0" marL="0">
              <a:lnSpc>
                <a:spcPct val="115000"/>
              </a:lnSpc>
              <a:buNone/>
            </a:pPr>
            <a:r>
              <a:rPr lang="en-US" sz="950" dirty="0">
                <a:solidFill>
                  <a:srgbClr val="2C3E50"/>
                </a:solidFill>
                <a:latin typeface="Microsoft YaHei" pitchFamily="34" charset="0"/>
                <a:ea typeface="Microsoft YaHei" pitchFamily="34" charset="-122"/>
                <a:cs typeface="Microsoft YaHei" pitchFamily="34" charset="-120"/>
              </a:rPr>
              <a:t>点击技能卡片上的三个小点，切换其开关状态</a:t>
            </a:r>
            <a:endParaRPr lang="en-US" sz="950" dirty="0"/>
          </a:p>
        </p:txBody>
      </p:sp>
      <p:sp>
        <p:nvSpPr>
          <p:cNvPr id="18" name="Shape 16"/>
          <p:cNvSpPr/>
          <p:nvPr/>
        </p:nvSpPr>
        <p:spPr>
          <a:xfrm>
            <a:off x="3310128" y="3310128"/>
            <a:ext cx="2606040" cy="7772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9" name="Shape 17"/>
          <p:cNvSpPr/>
          <p:nvPr/>
        </p:nvSpPr>
        <p:spPr>
          <a:xfrm>
            <a:off x="3310128" y="3310128"/>
            <a:ext cx="54864" cy="777240"/>
          </a:xfrm>
          <a:prstGeom prst="rect">
            <a:avLst/>
          </a:prstGeom>
          <a:solidFill>
            <a:srgbClr val="2E9E83"/>
          </a:solidFill>
          <a:ln/>
        </p:spPr>
      </p:sp>
      <p:sp>
        <p:nvSpPr>
          <p:cNvPr id="20" name="Text 18"/>
          <p:cNvSpPr/>
          <p:nvPr/>
        </p:nvSpPr>
        <p:spPr>
          <a:xfrm>
            <a:off x="3493008" y="3383280"/>
            <a:ext cx="2286000" cy="292608"/>
          </a:xfrm>
          <a:prstGeom prst="rect">
            <a:avLst/>
          </a:prstGeom>
          <a:noFill/>
          <a:ln/>
        </p:spPr>
        <p:txBody>
          <a:bodyPr wrap="square" lIns="0" tIns="0" rIns="0" bIns="0" rtlCol="0" anchor="ctr"/>
          <a:lstStyle/>
          <a:p>
            <a:pPr indent="0" marL="0">
              <a:buNone/>
            </a:pPr>
            <a:r>
              <a:rPr lang="en-US" sz="1200" b="1" dirty="0">
                <a:solidFill>
                  <a:srgbClr val="28B894"/>
                </a:solidFill>
                <a:latin typeface="Microsoft YaHei" pitchFamily="34" charset="0"/>
                <a:ea typeface="Microsoft YaHei" pitchFamily="34" charset="-122"/>
                <a:cs typeface="Microsoft YaHei" pitchFamily="34" charset="-120"/>
              </a:rPr>
              <a:t>实时搜索</a:t>
            </a:r>
            <a:endParaRPr lang="en-US" sz="1200" dirty="0"/>
          </a:p>
        </p:txBody>
      </p:sp>
      <p:sp>
        <p:nvSpPr>
          <p:cNvPr id="21" name="Text 19"/>
          <p:cNvSpPr/>
          <p:nvPr/>
        </p:nvSpPr>
        <p:spPr>
          <a:xfrm>
            <a:off x="3493008" y="3685032"/>
            <a:ext cx="2286000" cy="347472"/>
          </a:xfrm>
          <a:prstGeom prst="rect">
            <a:avLst/>
          </a:prstGeom>
          <a:noFill/>
          <a:ln/>
        </p:spPr>
        <p:txBody>
          <a:bodyPr wrap="square" lIns="0" tIns="0" rIns="0" bIns="0" rtlCol="0" anchor="t"/>
          <a:lstStyle/>
          <a:p>
            <a:pPr indent="0" marL="0">
              <a:lnSpc>
                <a:spcPct val="115000"/>
              </a:lnSpc>
              <a:buNone/>
            </a:pPr>
            <a:r>
              <a:rPr lang="en-US" sz="950" dirty="0">
                <a:solidFill>
                  <a:srgbClr val="2C3E50"/>
                </a:solidFill>
                <a:latin typeface="Microsoft YaHei" pitchFamily="34" charset="0"/>
                <a:ea typeface="Microsoft YaHei" pitchFamily="34" charset="-122"/>
                <a:cs typeface="Microsoft YaHei" pitchFamily="34" charset="-120"/>
              </a:rPr>
              <a:t>利用搜索框输入关键词，实时筛选出目标技能</a:t>
            </a:r>
            <a:endParaRPr lang="en-US" sz="950" dirty="0"/>
          </a:p>
        </p:txBody>
      </p:sp>
      <p:sp>
        <p:nvSpPr>
          <p:cNvPr id="22" name="Shape 20"/>
          <p:cNvSpPr/>
          <p:nvPr/>
        </p:nvSpPr>
        <p:spPr>
          <a:xfrm>
            <a:off x="6071616" y="3310128"/>
            <a:ext cx="2606040" cy="7772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3" name="Shape 21"/>
          <p:cNvSpPr/>
          <p:nvPr/>
        </p:nvSpPr>
        <p:spPr>
          <a:xfrm>
            <a:off x="6071616" y="3310128"/>
            <a:ext cx="54864" cy="777240"/>
          </a:xfrm>
          <a:prstGeom prst="rect">
            <a:avLst/>
          </a:prstGeom>
          <a:solidFill>
            <a:srgbClr val="2E9E83"/>
          </a:solidFill>
          <a:ln/>
        </p:spPr>
      </p:sp>
      <p:sp>
        <p:nvSpPr>
          <p:cNvPr id="24" name="Text 22"/>
          <p:cNvSpPr/>
          <p:nvPr/>
        </p:nvSpPr>
        <p:spPr>
          <a:xfrm>
            <a:off x="6254496" y="3383280"/>
            <a:ext cx="2286000" cy="292608"/>
          </a:xfrm>
          <a:prstGeom prst="rect">
            <a:avLst/>
          </a:prstGeom>
          <a:noFill/>
          <a:ln/>
        </p:spPr>
        <p:txBody>
          <a:bodyPr wrap="square" lIns="0" tIns="0" rIns="0" bIns="0" rtlCol="0" anchor="ctr"/>
          <a:lstStyle/>
          <a:p>
            <a:pPr indent="0" marL="0">
              <a:buNone/>
            </a:pPr>
            <a:r>
              <a:rPr lang="en-US" sz="1200" b="1" dirty="0">
                <a:solidFill>
                  <a:srgbClr val="28B894"/>
                </a:solidFill>
                <a:latin typeface="Microsoft YaHei" pitchFamily="34" charset="0"/>
                <a:ea typeface="Microsoft YaHei" pitchFamily="34" charset="-122"/>
                <a:cs typeface="Microsoft YaHei" pitchFamily="34" charset="-120"/>
              </a:rPr>
              <a:t>灵活卸载</a:t>
            </a:r>
            <a:endParaRPr lang="en-US" sz="1200" dirty="0"/>
          </a:p>
        </p:txBody>
      </p:sp>
      <p:sp>
        <p:nvSpPr>
          <p:cNvPr id="25" name="Text 23"/>
          <p:cNvSpPr/>
          <p:nvPr/>
        </p:nvSpPr>
        <p:spPr>
          <a:xfrm>
            <a:off x="6254496" y="3685032"/>
            <a:ext cx="2286000" cy="347472"/>
          </a:xfrm>
          <a:prstGeom prst="rect">
            <a:avLst/>
          </a:prstGeom>
          <a:noFill/>
          <a:ln/>
        </p:spPr>
        <p:txBody>
          <a:bodyPr wrap="square" lIns="0" tIns="0" rIns="0" bIns="0" rtlCol="0" anchor="t"/>
          <a:lstStyle/>
          <a:p>
            <a:pPr indent="0" marL="0">
              <a:lnSpc>
                <a:spcPct val="115000"/>
              </a:lnSpc>
              <a:buNone/>
            </a:pPr>
            <a:r>
              <a:rPr lang="en-US" sz="950" dirty="0">
                <a:solidFill>
                  <a:srgbClr val="2C3E50"/>
                </a:solidFill>
                <a:latin typeface="Microsoft YaHei" pitchFamily="34" charset="0"/>
                <a:ea typeface="Microsoft YaHei" pitchFamily="34" charset="-122"/>
                <a:cs typeface="Microsoft YaHei" pitchFamily="34" charset="-120"/>
              </a:rPr>
              <a:t>系统支持单独卸载和批量卸载</a:t>
            </a:r>
            <a:endParaRPr lang="en-US" sz="950" dirty="0"/>
          </a:p>
        </p:txBody>
      </p:sp>
      <p:sp>
        <p:nvSpPr>
          <p:cNvPr id="26" name="Shape 24"/>
          <p:cNvSpPr/>
          <p:nvPr/>
        </p:nvSpPr>
        <p:spPr>
          <a:xfrm>
            <a:off x="548640" y="4389120"/>
            <a:ext cx="8046720" cy="457200"/>
          </a:xfrm>
          <a:prstGeom prst="rect">
            <a:avLst/>
          </a:prstGeom>
          <a:solidFill>
            <a:srgbClr val="E7F3EE"/>
          </a:solidFill>
          <a:ln/>
        </p:spPr>
      </p:sp>
      <p:sp>
        <p:nvSpPr>
          <p:cNvPr id="27" name="Shape 25"/>
          <p:cNvSpPr/>
          <p:nvPr/>
        </p:nvSpPr>
        <p:spPr>
          <a:xfrm>
            <a:off x="548640" y="4389120"/>
            <a:ext cx="45720" cy="457200"/>
          </a:xfrm>
          <a:prstGeom prst="rect">
            <a:avLst/>
          </a:prstGeom>
          <a:solidFill>
            <a:srgbClr val="2E9E83"/>
          </a:solidFill>
          <a:ln/>
        </p:spPr>
      </p:sp>
      <p:sp>
        <p:nvSpPr>
          <p:cNvPr id="28" name="Text 26"/>
          <p:cNvSpPr/>
          <p:nvPr/>
        </p:nvSpPr>
        <p:spPr>
          <a:xfrm>
            <a:off x="777240" y="4389120"/>
            <a:ext cx="7589520" cy="457200"/>
          </a:xfrm>
          <a:prstGeom prst="rect">
            <a:avLst/>
          </a:prstGeom>
          <a:noFill/>
          <a:ln/>
        </p:spPr>
        <p:txBody>
          <a:bodyPr wrap="square" lIns="0" tIns="0" rIns="0" bIns="0" rtlCol="0" anchor="ctr"/>
          <a:lstStyle/>
          <a:p>
            <a:pPr indent="0" marL="0">
              <a:buNone/>
            </a:pPr>
            <a:r>
              <a:rPr lang="en-US" sz="1200" dirty="0">
                <a:solidFill>
                  <a:srgbClr val="2C3E50"/>
                </a:solidFill>
                <a:latin typeface="Microsoft YaHei" pitchFamily="34" charset="0"/>
                <a:ea typeface="Microsoft YaHei" pitchFamily="34" charset="-122"/>
                <a:cs typeface="Microsoft YaHei" pitchFamily="34" charset="-120"/>
              </a:rPr>
              <a:t>最佳实践：不确定是否还要保留某个技能时，建议先将其“关闭”，避免急于卸载后再次需要时重新配置的麻烦。</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8F6"/>
        </a:solidFill>
      </p:bgPr>
    </p:bg>
    <p:spTree>
      <p:nvGrpSpPr>
        <p:cNvPr id="1" name=""/>
        <p:cNvGrpSpPr/>
        <p:nvPr/>
      </p:nvGrpSpPr>
      <p:grpSpPr>
        <a:xfrm>
          <a:off x="0" y="0"/>
          <a:ext cx="0" cy="0"/>
          <a:chOff x="0" y="0"/>
          <a:chExt cx="0" cy="0"/>
        </a:xfrm>
      </p:grpSpPr>
      <p:sp>
        <p:nvSpPr>
          <p:cNvPr id="2" name="Text 0"/>
          <p:cNvSpPr/>
          <p:nvPr/>
        </p:nvSpPr>
        <p:spPr>
          <a:xfrm>
            <a:off x="548640" y="274320"/>
            <a:ext cx="8046720" cy="594360"/>
          </a:xfrm>
          <a:prstGeom prst="rect">
            <a:avLst/>
          </a:prstGeom>
          <a:noFill/>
          <a:ln/>
        </p:spPr>
        <p:txBody>
          <a:bodyPr wrap="square" lIns="0" tIns="0" rIns="0" bIns="0" rtlCol="0" anchor="ctr"/>
          <a:lstStyle/>
          <a:p>
            <a:pPr indent="0" marL="0">
              <a:buNone/>
            </a:pPr>
            <a:r>
              <a:rPr lang="en-US" sz="2600" b="1" dirty="0">
                <a:solidFill>
                  <a:srgbClr val="28B894"/>
                </a:solidFill>
                <a:latin typeface="Microsoft YaHei" pitchFamily="34" charset="0"/>
                <a:ea typeface="Microsoft YaHei" pitchFamily="34" charset="-122"/>
                <a:cs typeface="Microsoft YaHei" pitchFamily="34" charset="-120"/>
              </a:rPr>
              <a:t>技能的三种安装方式</a:t>
            </a:r>
            <a:endParaRPr lang="en-US" sz="2600" dirty="0"/>
          </a:p>
        </p:txBody>
      </p:sp>
      <p:sp>
        <p:nvSpPr>
          <p:cNvPr id="3" name="Shape 1"/>
          <p:cNvSpPr/>
          <p:nvPr/>
        </p:nvSpPr>
        <p:spPr>
          <a:xfrm>
            <a:off x="548640" y="868680"/>
            <a:ext cx="914400" cy="32004"/>
          </a:xfrm>
          <a:prstGeom prst="rect">
            <a:avLst/>
          </a:prstGeom>
          <a:solidFill>
            <a:srgbClr val="2E9E83"/>
          </a:solidFill>
          <a:ln/>
        </p:spPr>
      </p:sp>
      <p:sp>
        <p:nvSpPr>
          <p:cNvPr id="4" name="Text 2"/>
          <p:cNvSpPr/>
          <p:nvPr/>
        </p:nvSpPr>
        <p:spPr>
          <a:xfrm>
            <a:off x="548640" y="1024128"/>
            <a:ext cx="8046720" cy="365760"/>
          </a:xfrm>
          <a:prstGeom prst="rect">
            <a:avLst/>
          </a:prstGeom>
          <a:noFill/>
          <a:ln/>
        </p:spPr>
        <p:txBody>
          <a:bodyPr wrap="square" lIns="0" tIns="0" rIns="0" bIns="0" rtlCol="0" anchor="ctr"/>
          <a:lstStyle/>
          <a:p>
            <a:pPr indent="0" marL="0">
              <a:buNone/>
            </a:pPr>
            <a:r>
              <a:rPr lang="en-US" sz="1250" dirty="0">
                <a:solidFill>
                  <a:srgbClr val="7F8C8D"/>
                </a:solidFill>
                <a:latin typeface="Microsoft YaHei" pitchFamily="34" charset="0"/>
                <a:ea typeface="Microsoft YaHei" pitchFamily="34" charset="-122"/>
                <a:cs typeface="Microsoft YaHei" pitchFamily="34" charset="-120"/>
              </a:rPr>
              <a:t>为满足不同层次用户的需求，WorkBuddy 提供了三种灵活的技能安装方式：</a:t>
            </a:r>
            <a:endParaRPr lang="en-US" sz="1250" dirty="0"/>
          </a:p>
        </p:txBody>
      </p:sp>
      <p:sp>
        <p:nvSpPr>
          <p:cNvPr id="5" name="Shape 3"/>
          <p:cNvSpPr/>
          <p:nvPr/>
        </p:nvSpPr>
        <p:spPr>
          <a:xfrm>
            <a:off x="548640" y="1508760"/>
            <a:ext cx="2606040" cy="23317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6" name="Shape 4"/>
          <p:cNvSpPr/>
          <p:nvPr/>
        </p:nvSpPr>
        <p:spPr>
          <a:xfrm>
            <a:off x="548640" y="1508760"/>
            <a:ext cx="54864" cy="2331720"/>
          </a:xfrm>
          <a:prstGeom prst="rect">
            <a:avLst/>
          </a:prstGeom>
          <a:solidFill>
            <a:srgbClr val="28B894"/>
          </a:solidFill>
          <a:ln/>
        </p:spPr>
      </p:sp>
      <p:sp>
        <p:nvSpPr>
          <p:cNvPr id="7" name="Shape 5"/>
          <p:cNvSpPr/>
          <p:nvPr/>
        </p:nvSpPr>
        <p:spPr>
          <a:xfrm>
            <a:off x="694944" y="1618488"/>
            <a:ext cx="411480" cy="411480"/>
          </a:xfrm>
          <a:prstGeom prst="ellipse">
            <a:avLst/>
          </a:prstGeom>
          <a:solidFill>
            <a:srgbClr val="28B894"/>
          </a:solidFill>
          <a:ln/>
        </p:spPr>
      </p:sp>
      <p:sp>
        <p:nvSpPr>
          <p:cNvPr id="8" name="Text 6"/>
          <p:cNvSpPr/>
          <p:nvPr/>
        </p:nvSpPr>
        <p:spPr>
          <a:xfrm>
            <a:off x="694944" y="161848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01</a:t>
            </a:r>
            <a:endParaRPr lang="en-US" sz="1400" dirty="0"/>
          </a:p>
        </p:txBody>
      </p:sp>
      <p:sp>
        <p:nvSpPr>
          <p:cNvPr id="9" name="Text 7"/>
          <p:cNvSpPr/>
          <p:nvPr/>
        </p:nvSpPr>
        <p:spPr>
          <a:xfrm>
            <a:off x="1234440" y="1600200"/>
            <a:ext cx="1828800" cy="457200"/>
          </a:xfrm>
          <a:prstGeom prst="rect">
            <a:avLst/>
          </a:prstGeom>
          <a:noFill/>
          <a:ln/>
        </p:spPr>
        <p:txBody>
          <a:bodyPr wrap="square" lIns="0" tIns="0" rIns="0" bIns="0" rtlCol="0" anchor="ctr"/>
          <a:lstStyle/>
          <a:p>
            <a:pPr indent="0" marL="0">
              <a:buNone/>
            </a:pPr>
            <a:r>
              <a:rPr lang="en-US" sz="1350" b="1" dirty="0">
                <a:solidFill>
                  <a:srgbClr val="2C3E50"/>
                </a:solidFill>
                <a:latin typeface="Microsoft YaHei" pitchFamily="34" charset="0"/>
                <a:ea typeface="Microsoft YaHei" pitchFamily="34" charset="-122"/>
                <a:cs typeface="Microsoft YaHei" pitchFamily="34" charset="-120"/>
              </a:rPr>
              <a:t>上传导入</a:t>
            </a:r>
            <a:endParaRPr lang="en-US" sz="1350" dirty="0"/>
          </a:p>
        </p:txBody>
      </p:sp>
      <p:sp>
        <p:nvSpPr>
          <p:cNvPr id="10" name="Text 8"/>
          <p:cNvSpPr/>
          <p:nvPr/>
        </p:nvSpPr>
        <p:spPr>
          <a:xfrm>
            <a:off x="694944" y="2148840"/>
            <a:ext cx="2331720" cy="1554480"/>
          </a:xfrm>
          <a:prstGeom prst="rect">
            <a:avLst/>
          </a:prstGeom>
          <a:noFill/>
          <a:ln/>
        </p:spPr>
        <p:txBody>
          <a:bodyPr wrap="square" lIns="0" tIns="0" rIns="0" bIns="0" rtlCol="0" anchor="t"/>
          <a:lstStyle/>
          <a:p>
            <a:pPr indent="0" marL="0">
              <a:lnSpc>
                <a:spcPct val="125000"/>
              </a:lnSpc>
              <a:buNone/>
            </a:pPr>
            <a:r>
              <a:rPr lang="en-US" sz="1000" dirty="0">
                <a:solidFill>
                  <a:srgbClr val="2C3E50"/>
                </a:solidFill>
                <a:latin typeface="Microsoft YaHei" pitchFamily="34" charset="0"/>
                <a:ea typeface="Microsoft YaHei" pitchFamily="34" charset="-122"/>
                <a:cs typeface="Microsoft YaHei" pitchFamily="34" charset="-120"/>
              </a:rPr>
              <a:t>适用于具有开发能力的用户或企业内部分发。可将本地技能包（ZIP 压缩包或文件夹）直接导入系统；技能包的具体目录结构以官方文档及产品实际要求为准。</a:t>
            </a:r>
            <a:endParaRPr lang="en-US" sz="1000" dirty="0"/>
          </a:p>
        </p:txBody>
      </p:sp>
      <p:sp>
        <p:nvSpPr>
          <p:cNvPr id="11" name="Shape 9"/>
          <p:cNvSpPr/>
          <p:nvPr/>
        </p:nvSpPr>
        <p:spPr>
          <a:xfrm>
            <a:off x="3310128" y="1508760"/>
            <a:ext cx="2606040" cy="23317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2" name="Shape 10"/>
          <p:cNvSpPr/>
          <p:nvPr/>
        </p:nvSpPr>
        <p:spPr>
          <a:xfrm>
            <a:off x="3310128" y="1508760"/>
            <a:ext cx="54864" cy="2331720"/>
          </a:xfrm>
          <a:prstGeom prst="rect">
            <a:avLst/>
          </a:prstGeom>
          <a:solidFill>
            <a:srgbClr val="2E9E83"/>
          </a:solidFill>
          <a:ln/>
        </p:spPr>
      </p:sp>
      <p:sp>
        <p:nvSpPr>
          <p:cNvPr id="13" name="Shape 11"/>
          <p:cNvSpPr/>
          <p:nvPr/>
        </p:nvSpPr>
        <p:spPr>
          <a:xfrm>
            <a:off x="3456432" y="1618488"/>
            <a:ext cx="411480" cy="411480"/>
          </a:xfrm>
          <a:prstGeom prst="ellipse">
            <a:avLst/>
          </a:prstGeom>
          <a:solidFill>
            <a:srgbClr val="2E9E83"/>
          </a:solidFill>
          <a:ln/>
        </p:spPr>
      </p:sp>
      <p:sp>
        <p:nvSpPr>
          <p:cNvPr id="14" name="Text 12"/>
          <p:cNvSpPr/>
          <p:nvPr/>
        </p:nvSpPr>
        <p:spPr>
          <a:xfrm>
            <a:off x="3456432" y="161848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02</a:t>
            </a:r>
            <a:endParaRPr lang="en-US" sz="1400" dirty="0"/>
          </a:p>
        </p:txBody>
      </p:sp>
      <p:sp>
        <p:nvSpPr>
          <p:cNvPr id="15" name="Text 13"/>
          <p:cNvSpPr/>
          <p:nvPr/>
        </p:nvSpPr>
        <p:spPr>
          <a:xfrm>
            <a:off x="3995928" y="1600200"/>
            <a:ext cx="1828800" cy="457200"/>
          </a:xfrm>
          <a:prstGeom prst="rect">
            <a:avLst/>
          </a:prstGeom>
          <a:noFill/>
          <a:ln/>
        </p:spPr>
        <p:txBody>
          <a:bodyPr wrap="square" lIns="0" tIns="0" rIns="0" bIns="0" rtlCol="0" anchor="ctr"/>
          <a:lstStyle/>
          <a:p>
            <a:pPr indent="0" marL="0">
              <a:buNone/>
            </a:pPr>
            <a:r>
              <a:rPr lang="en-US" sz="1350" b="1" dirty="0">
                <a:solidFill>
                  <a:srgbClr val="2C3E50"/>
                </a:solidFill>
                <a:latin typeface="Microsoft YaHei" pitchFamily="34" charset="0"/>
                <a:ea typeface="Microsoft YaHei" pitchFamily="34" charset="-122"/>
                <a:cs typeface="Microsoft YaHei" pitchFamily="34" charset="-120"/>
              </a:rPr>
              <a:t>查找与推荐</a:t>
            </a:r>
            <a:endParaRPr lang="en-US" sz="1350" dirty="0"/>
          </a:p>
        </p:txBody>
      </p:sp>
      <p:sp>
        <p:nvSpPr>
          <p:cNvPr id="16" name="Text 14"/>
          <p:cNvSpPr/>
          <p:nvPr/>
        </p:nvSpPr>
        <p:spPr>
          <a:xfrm>
            <a:off x="3456432" y="2148840"/>
            <a:ext cx="2331720" cy="1554480"/>
          </a:xfrm>
          <a:prstGeom prst="rect">
            <a:avLst/>
          </a:prstGeom>
          <a:noFill/>
          <a:ln/>
        </p:spPr>
        <p:txBody>
          <a:bodyPr wrap="square" lIns="0" tIns="0" rIns="0" bIns="0" rtlCol="0" anchor="t"/>
          <a:lstStyle/>
          <a:p>
            <a:pPr indent="0" marL="0">
              <a:lnSpc>
                <a:spcPct val="125000"/>
              </a:lnSpc>
              <a:buNone/>
            </a:pPr>
            <a:r>
              <a:rPr lang="en-US" sz="1000" dirty="0">
                <a:solidFill>
                  <a:srgbClr val="2C3E50"/>
                </a:solidFill>
                <a:latin typeface="Microsoft YaHei" pitchFamily="34" charset="0"/>
                <a:ea typeface="Microsoft YaHei" pitchFamily="34" charset="-122"/>
                <a:cs typeface="Microsoft YaHei" pitchFamily="34" charset="-120"/>
              </a:rPr>
              <a:t>不确定需要什么技能时，直接向 WorkBuddy 描述你的需求，让 AI 帮你从技能市场中寻找并推荐合适的技能，实现对话式安装。</a:t>
            </a:r>
            <a:endParaRPr lang="en-US" sz="1000" dirty="0"/>
          </a:p>
        </p:txBody>
      </p:sp>
      <p:sp>
        <p:nvSpPr>
          <p:cNvPr id="17" name="Shape 15"/>
          <p:cNvSpPr/>
          <p:nvPr/>
        </p:nvSpPr>
        <p:spPr>
          <a:xfrm>
            <a:off x="6071616" y="1508760"/>
            <a:ext cx="2606040" cy="23317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8" name="Shape 16"/>
          <p:cNvSpPr/>
          <p:nvPr/>
        </p:nvSpPr>
        <p:spPr>
          <a:xfrm>
            <a:off x="6071616" y="1508760"/>
            <a:ext cx="54864" cy="2331720"/>
          </a:xfrm>
          <a:prstGeom prst="rect">
            <a:avLst/>
          </a:prstGeom>
          <a:solidFill>
            <a:srgbClr val="5A6B7F"/>
          </a:solidFill>
          <a:ln/>
        </p:spPr>
      </p:sp>
      <p:sp>
        <p:nvSpPr>
          <p:cNvPr id="19" name="Shape 17"/>
          <p:cNvSpPr/>
          <p:nvPr/>
        </p:nvSpPr>
        <p:spPr>
          <a:xfrm>
            <a:off x="6217920" y="1618488"/>
            <a:ext cx="411480" cy="411480"/>
          </a:xfrm>
          <a:prstGeom prst="ellipse">
            <a:avLst/>
          </a:prstGeom>
          <a:solidFill>
            <a:srgbClr val="5A6B7F"/>
          </a:solidFill>
          <a:ln/>
        </p:spPr>
      </p:sp>
      <p:sp>
        <p:nvSpPr>
          <p:cNvPr id="20" name="Text 18"/>
          <p:cNvSpPr/>
          <p:nvPr/>
        </p:nvSpPr>
        <p:spPr>
          <a:xfrm>
            <a:off x="6217920" y="161848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03</a:t>
            </a:r>
            <a:endParaRPr lang="en-US" sz="1400" dirty="0"/>
          </a:p>
        </p:txBody>
      </p:sp>
      <p:sp>
        <p:nvSpPr>
          <p:cNvPr id="21" name="Text 19"/>
          <p:cNvSpPr/>
          <p:nvPr/>
        </p:nvSpPr>
        <p:spPr>
          <a:xfrm>
            <a:off x="6757416" y="1600200"/>
            <a:ext cx="1828800" cy="457200"/>
          </a:xfrm>
          <a:prstGeom prst="rect">
            <a:avLst/>
          </a:prstGeom>
          <a:noFill/>
          <a:ln/>
        </p:spPr>
        <p:txBody>
          <a:bodyPr wrap="square" lIns="0" tIns="0" rIns="0" bIns="0" rtlCol="0" anchor="ctr"/>
          <a:lstStyle/>
          <a:p>
            <a:pPr indent="0" marL="0">
              <a:buNone/>
            </a:pPr>
            <a:r>
              <a:rPr lang="en-US" sz="1350" b="1" dirty="0">
                <a:solidFill>
                  <a:srgbClr val="2C3E50"/>
                </a:solidFill>
                <a:latin typeface="Microsoft YaHei" pitchFamily="34" charset="0"/>
                <a:ea typeface="Microsoft YaHei" pitchFamily="34" charset="-122"/>
                <a:cs typeface="Microsoft YaHei" pitchFamily="34" charset="-120"/>
              </a:rPr>
              <a:t>对话式创建</a:t>
            </a:r>
            <a:endParaRPr lang="en-US" sz="1350" dirty="0"/>
          </a:p>
        </p:txBody>
      </p:sp>
      <p:sp>
        <p:nvSpPr>
          <p:cNvPr id="22" name="Text 20"/>
          <p:cNvSpPr/>
          <p:nvPr/>
        </p:nvSpPr>
        <p:spPr>
          <a:xfrm>
            <a:off x="6217920" y="2148840"/>
            <a:ext cx="2331720" cy="1554480"/>
          </a:xfrm>
          <a:prstGeom prst="rect">
            <a:avLst/>
          </a:prstGeom>
          <a:noFill/>
          <a:ln/>
        </p:spPr>
        <p:txBody>
          <a:bodyPr wrap="square" lIns="0" tIns="0" rIns="0" bIns="0" rtlCol="0" anchor="t"/>
          <a:lstStyle/>
          <a:p>
            <a:pPr indent="0" marL="0">
              <a:lnSpc>
                <a:spcPct val="125000"/>
              </a:lnSpc>
              <a:buNone/>
            </a:pPr>
            <a:r>
              <a:rPr lang="en-US" sz="1000" dirty="0">
                <a:solidFill>
                  <a:srgbClr val="2C3E50"/>
                </a:solidFill>
                <a:latin typeface="Microsoft YaHei" pitchFamily="34" charset="0"/>
                <a:ea typeface="Microsoft YaHei" pitchFamily="34" charset="-122"/>
                <a:cs typeface="Microsoft YaHei" pitchFamily="34" charset="-120"/>
              </a:rPr>
              <a:t>针对特定轻量级需求，WorkBuddy 具备自我进化能力。用一句话描述想要实现的功能，让 AI 自动为你生成并配置一个简单的技能包。</a:t>
            </a:r>
            <a:endParaRPr lang="en-US" sz="1000" dirty="0"/>
          </a:p>
        </p:txBody>
      </p:sp>
      <p:sp>
        <p:nvSpPr>
          <p:cNvPr id="23" name="Shape 21"/>
          <p:cNvSpPr/>
          <p:nvPr/>
        </p:nvSpPr>
        <p:spPr>
          <a:xfrm>
            <a:off x="548640" y="4160520"/>
            <a:ext cx="8046720" cy="457200"/>
          </a:xfrm>
          <a:prstGeom prst="rect">
            <a:avLst/>
          </a:prstGeom>
          <a:solidFill>
            <a:srgbClr val="E7F3EE"/>
          </a:solidFill>
          <a:ln/>
        </p:spPr>
      </p:sp>
      <p:sp>
        <p:nvSpPr>
          <p:cNvPr id="24" name="Shape 22"/>
          <p:cNvSpPr/>
          <p:nvPr/>
        </p:nvSpPr>
        <p:spPr>
          <a:xfrm>
            <a:off x="548640" y="4160520"/>
            <a:ext cx="45720" cy="457200"/>
          </a:xfrm>
          <a:prstGeom prst="rect">
            <a:avLst/>
          </a:prstGeom>
          <a:solidFill>
            <a:srgbClr val="2E9E83"/>
          </a:solidFill>
          <a:ln/>
        </p:spPr>
      </p:sp>
      <p:sp>
        <p:nvSpPr>
          <p:cNvPr id="25" name="Text 23"/>
          <p:cNvSpPr/>
          <p:nvPr/>
        </p:nvSpPr>
        <p:spPr>
          <a:xfrm>
            <a:off x="777240" y="4160520"/>
            <a:ext cx="7589520" cy="457200"/>
          </a:xfrm>
          <a:prstGeom prst="rect">
            <a:avLst/>
          </a:prstGeom>
          <a:noFill/>
          <a:ln/>
        </p:spPr>
        <p:txBody>
          <a:bodyPr wrap="square" lIns="0" tIns="0" rIns="0" bIns="0" rtlCol="0" anchor="ctr"/>
          <a:lstStyle/>
          <a:p>
            <a:pPr indent="0" marL="0">
              <a:buNone/>
            </a:pPr>
            <a:r>
              <a:rPr lang="en-US" sz="1200" dirty="0">
                <a:solidFill>
                  <a:srgbClr val="2C3E50"/>
                </a:solidFill>
                <a:latin typeface="Microsoft YaHei" pitchFamily="34" charset="0"/>
                <a:ea typeface="Microsoft YaHei" pitchFamily="34" charset="-122"/>
                <a:cs typeface="Microsoft YaHei" pitchFamily="34" charset="-120"/>
              </a:rPr>
              <a:t>三种方式分层覆盖：开发用户上传技能包、小白用户描述需求、轻量需求一句话让 AI 自动创建。</a:t>
            </a:r>
            <a:endParaRPr lang="en-US" sz="1200" dirty="0"/>
          </a:p>
        </p:txBody>
      </p:sp>
      <p:sp>
        <p:nvSpPr>
          <p:cNvPr id="26" name="Text 24"/>
          <p:cNvSpPr/>
          <p:nvPr/>
        </p:nvSpPr>
        <p:spPr>
          <a:xfrm>
            <a:off x="548640" y="4709160"/>
            <a:ext cx="8046720" cy="274320"/>
          </a:xfrm>
          <a:prstGeom prst="rect">
            <a:avLst/>
          </a:prstGeom>
          <a:noFill/>
          <a:ln/>
        </p:spPr>
        <p:txBody>
          <a:bodyPr wrap="square" lIns="0" tIns="0" rIns="0" bIns="0" rtlCol="0" anchor="ctr"/>
          <a:lstStyle/>
          <a:p>
            <a:pPr indent="0" marL="0">
              <a:buNone/>
            </a:pPr>
            <a:r>
              <a:rPr lang="en-US" sz="800" dirty="0">
                <a:solidFill>
                  <a:srgbClr val="7F8C8D"/>
                </a:solidFill>
                <a:latin typeface="Microsoft YaHei" pitchFamily="34" charset="0"/>
                <a:ea typeface="Microsoft YaHei" pitchFamily="34" charset="-122"/>
                <a:cs typeface="Microsoft YaHei" pitchFamily="34" charset="-120"/>
              </a:rPr>
              <a:t>官方文档《技能》：https://www.workbuddy.cn/docs/workbuddy/From-Beginner-to-Expert-Guide/Function-Description/Skills-Market</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8F73"/>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2E9E83"/>
          </a:solidFill>
          <a:ln/>
        </p:spPr>
      </p:sp>
      <p:sp>
        <p:nvSpPr>
          <p:cNvPr id="3" name="Shape 1"/>
          <p:cNvSpPr/>
          <p:nvPr/>
        </p:nvSpPr>
        <p:spPr>
          <a:xfrm>
            <a:off x="0" y="5097780"/>
            <a:ext cx="9144000" cy="45720"/>
          </a:xfrm>
          <a:prstGeom prst="rect">
            <a:avLst/>
          </a:prstGeom>
          <a:solidFill>
            <a:srgbClr val="2E9E83"/>
          </a:solidFill>
          <a:ln/>
        </p:spPr>
      </p:sp>
      <p:sp>
        <p:nvSpPr>
          <p:cNvPr id="4" name="Text 2"/>
          <p:cNvSpPr/>
          <p:nvPr/>
        </p:nvSpPr>
        <p:spPr>
          <a:xfrm>
            <a:off x="6035040" y="91440"/>
            <a:ext cx="3108960" cy="3108960"/>
          </a:xfrm>
          <a:prstGeom prst="rect">
            <a:avLst/>
          </a:prstGeom>
          <a:noFill/>
          <a:ln/>
        </p:spPr>
        <p:txBody>
          <a:bodyPr wrap="square" lIns="0" tIns="0" rIns="0" bIns="0" rtlCol="0" anchor="ctr"/>
          <a:lstStyle/>
          <a:p>
            <a:pPr algn="ctr" indent="0" marL="0">
              <a:buNone/>
            </a:pPr>
            <a:r>
              <a:rPr lang="en-US" sz="15000" b="1" dirty="0">
                <a:solidFill>
                  <a:srgbClr val="28B894">
                    <a:alpha val="18000"/>
                  </a:srgbClr>
                </a:solidFill>
                <a:latin typeface="Arial" pitchFamily="34" charset="0"/>
                <a:ea typeface="Arial" pitchFamily="34" charset="-122"/>
                <a:cs typeface="Arial" pitchFamily="34" charset="-120"/>
              </a:rPr>
              <a:t>4.2</a:t>
            </a:r>
            <a:endParaRPr lang="en-US" sz="15000" dirty="0"/>
          </a:p>
        </p:txBody>
      </p:sp>
      <p:sp>
        <p:nvSpPr>
          <p:cNvPr id="5" name="Shape 3"/>
          <p:cNvSpPr/>
          <p:nvPr/>
        </p:nvSpPr>
        <p:spPr>
          <a:xfrm>
            <a:off x="7223760" y="-1188720"/>
            <a:ext cx="3291840" cy="3291840"/>
          </a:xfrm>
          <a:prstGeom prst="ellipse">
            <a:avLst/>
          </a:prstGeom>
          <a:solidFill>
            <a:srgbClr val="FFFFFF">
              <a:alpha val="7000"/>
            </a:srgbClr>
          </a:solidFill>
          <a:ln w="15240">
            <a:solidFill>
              <a:srgbClr val="B8E8DC">
                <a:alpha val="40000"/>
              </a:srgbClr>
            </a:solidFill>
            <a:prstDash val="solid"/>
          </a:ln>
        </p:spPr>
      </p:sp>
      <p:sp>
        <p:nvSpPr>
          <p:cNvPr id="6" name="Shape 4"/>
          <p:cNvSpPr/>
          <p:nvPr/>
        </p:nvSpPr>
        <p:spPr>
          <a:xfrm>
            <a:off x="7772400" y="-640080"/>
            <a:ext cx="2194560" cy="2194560"/>
          </a:xfrm>
          <a:prstGeom prst="ellipse">
            <a:avLst/>
          </a:prstGeom>
          <a:solidFill>
            <a:srgbClr val="28B894">
              <a:alpha val="13000"/>
            </a:srgbClr>
          </a:solidFill>
          <a:ln w="12700">
            <a:solidFill>
              <a:srgbClr val="B8E8DC">
                <a:alpha val="35000"/>
              </a:srgbClr>
            </a:solidFill>
            <a:prstDash val="solid"/>
          </a:ln>
        </p:spPr>
      </p:sp>
      <p:sp>
        <p:nvSpPr>
          <p:cNvPr id="7" name="Shape 5"/>
          <p:cNvSpPr/>
          <p:nvPr/>
        </p:nvSpPr>
        <p:spPr>
          <a:xfrm>
            <a:off x="-1188720" y="3749040"/>
            <a:ext cx="2560320" cy="2560320"/>
          </a:xfrm>
          <a:prstGeom prst="ellipse">
            <a:avLst/>
          </a:prstGeom>
          <a:solidFill>
            <a:srgbClr val="2E9E83">
              <a:alpha val="15000"/>
            </a:srgbClr>
          </a:solidFill>
          <a:ln w="12700">
            <a:solidFill>
              <a:srgbClr val="B8E8DC">
                <a:alpha val="40000"/>
              </a:srgbClr>
            </a:solidFill>
            <a:prstDash val="solid"/>
          </a:ln>
        </p:spPr>
      </p:sp>
      <p:sp>
        <p:nvSpPr>
          <p:cNvPr id="8" name="Shape 6"/>
          <p:cNvSpPr/>
          <p:nvPr/>
        </p:nvSpPr>
        <p:spPr>
          <a:xfrm>
            <a:off x="502920" y="457200"/>
            <a:ext cx="292608" cy="292608"/>
          </a:xfrm>
          <a:prstGeom prst="ellipse">
            <a:avLst/>
          </a:prstGeom>
          <a:solidFill>
            <a:srgbClr val="B8E8DC">
              <a:alpha val="45000"/>
            </a:srgbClr>
          </a:solidFill>
          <a:ln/>
        </p:spPr>
      </p:sp>
      <p:sp>
        <p:nvSpPr>
          <p:cNvPr id="9" name="Shape 7"/>
          <p:cNvSpPr/>
          <p:nvPr/>
        </p:nvSpPr>
        <p:spPr>
          <a:xfrm>
            <a:off x="731520" y="914400"/>
            <a:ext cx="64008" cy="2011680"/>
          </a:xfrm>
          <a:prstGeom prst="rect">
            <a:avLst/>
          </a:prstGeom>
          <a:solidFill>
            <a:srgbClr val="B8E8DC"/>
          </a:solidFill>
          <a:ln/>
        </p:spPr>
      </p:sp>
      <p:sp>
        <p:nvSpPr>
          <p:cNvPr id="10" name="Text 8"/>
          <p:cNvSpPr/>
          <p:nvPr/>
        </p:nvSpPr>
        <p:spPr>
          <a:xfrm>
            <a:off x="1097280" y="822960"/>
            <a:ext cx="2286000" cy="822960"/>
          </a:xfrm>
          <a:prstGeom prst="rect">
            <a:avLst/>
          </a:prstGeom>
          <a:noFill/>
          <a:ln/>
        </p:spPr>
        <p:txBody>
          <a:bodyPr wrap="square" lIns="0" tIns="0" rIns="0" bIns="0" rtlCol="0" anchor="ctr"/>
          <a:lstStyle/>
          <a:p>
            <a:pPr indent="0" marL="0">
              <a:buNone/>
            </a:pPr>
            <a:r>
              <a:rPr lang="en-US" sz="3200" b="1" dirty="0">
                <a:solidFill>
                  <a:srgbClr val="B8E8DC"/>
                </a:solidFill>
                <a:latin typeface="Microsoft YaHei" pitchFamily="34" charset="0"/>
                <a:ea typeface="Microsoft YaHei" pitchFamily="34" charset="-122"/>
                <a:cs typeface="Microsoft YaHei" pitchFamily="34" charset="-120"/>
              </a:rPr>
              <a:t>4.2</a:t>
            </a:r>
            <a:endParaRPr lang="en-US" sz="3200" dirty="0"/>
          </a:p>
        </p:txBody>
      </p:sp>
      <p:sp>
        <p:nvSpPr>
          <p:cNvPr id="11" name="Text 9"/>
          <p:cNvSpPr/>
          <p:nvPr/>
        </p:nvSpPr>
        <p:spPr>
          <a:xfrm>
            <a:off x="1097280" y="1691640"/>
            <a:ext cx="6858000" cy="731520"/>
          </a:xfrm>
          <a:prstGeom prst="rect">
            <a:avLst/>
          </a:prstGeom>
          <a:noFill/>
          <a:ln/>
        </p:spPr>
        <p:txBody>
          <a:bodyPr wrap="square" lIns="0" tIns="0" rIns="0" bIns="0" rtlCol="0" anchor="ctr"/>
          <a:lstStyle/>
          <a:p>
            <a:pPr indent="0" marL="0">
              <a:buNone/>
            </a:pPr>
            <a:r>
              <a:rPr lang="en-US" sz="2400" b="1" dirty="0">
                <a:solidFill>
                  <a:srgbClr val="FFFFFF"/>
                </a:solidFill>
                <a:latin typeface="Microsoft YaHei" pitchFamily="34" charset="0"/>
                <a:ea typeface="Microsoft YaHei" pitchFamily="34" charset="-122"/>
                <a:cs typeface="Microsoft YaHei" pitchFamily="34" charset="-120"/>
              </a:rPr>
              <a:t>常用零成本技能与最佳实践</a:t>
            </a:r>
            <a:endParaRPr lang="en-US" sz="2400" dirty="0"/>
          </a:p>
        </p:txBody>
      </p:sp>
      <p:sp>
        <p:nvSpPr>
          <p:cNvPr id="12" name="Shape 10"/>
          <p:cNvSpPr/>
          <p:nvPr/>
        </p:nvSpPr>
        <p:spPr>
          <a:xfrm>
            <a:off x="1188720" y="2871216"/>
            <a:ext cx="164592" cy="164592"/>
          </a:xfrm>
          <a:prstGeom prst="ellipse">
            <a:avLst/>
          </a:prstGeom>
          <a:solidFill>
            <a:srgbClr val="28B894"/>
          </a:solidFill>
          <a:ln/>
        </p:spPr>
      </p:sp>
      <p:sp>
        <p:nvSpPr>
          <p:cNvPr id="13" name="Text 11"/>
          <p:cNvSpPr/>
          <p:nvPr/>
        </p:nvSpPr>
        <p:spPr>
          <a:xfrm>
            <a:off x="1508760" y="2743200"/>
            <a:ext cx="6766560" cy="411480"/>
          </a:xfrm>
          <a:prstGeom prst="rect">
            <a:avLst/>
          </a:prstGeom>
          <a:noFill/>
          <a:ln/>
        </p:spPr>
        <p:txBody>
          <a:bodyPr wrap="square" lIns="0" tIns="0" rIns="0" bIns="0" rtlCol="0" anchor="ctr"/>
          <a:lstStyle/>
          <a:p>
            <a:pPr indent="0" marL="0">
              <a:buNone/>
            </a:pPr>
            <a:r>
              <a:rPr lang="en-US" sz="1500" dirty="0">
                <a:solidFill>
                  <a:srgbClr val="DDF2EC"/>
                </a:solidFill>
                <a:latin typeface="Microsoft YaHei" pitchFamily="34" charset="0"/>
                <a:ea typeface="Microsoft YaHei" pitchFamily="34" charset="-122"/>
                <a:cs typeface="Microsoft YaHei" pitchFamily="34" charset="-120"/>
              </a:rPr>
              <a:t>十大零成本技能：覆盖浏览器、办公文档、语音、视频、搜索、笔记等日常场景</a:t>
            </a:r>
            <a:endParaRPr lang="en-US" sz="1500" dirty="0"/>
          </a:p>
        </p:txBody>
      </p:sp>
      <p:sp>
        <p:nvSpPr>
          <p:cNvPr id="14" name="Shape 12"/>
          <p:cNvSpPr/>
          <p:nvPr/>
        </p:nvSpPr>
        <p:spPr>
          <a:xfrm>
            <a:off x="1188720" y="3328416"/>
            <a:ext cx="164592" cy="164592"/>
          </a:xfrm>
          <a:prstGeom prst="ellipse">
            <a:avLst/>
          </a:prstGeom>
          <a:solidFill>
            <a:srgbClr val="28B894"/>
          </a:solidFill>
          <a:ln/>
        </p:spPr>
      </p:sp>
      <p:sp>
        <p:nvSpPr>
          <p:cNvPr id="15" name="Text 13"/>
          <p:cNvSpPr/>
          <p:nvPr/>
        </p:nvSpPr>
        <p:spPr>
          <a:xfrm>
            <a:off x="1508760" y="3200400"/>
            <a:ext cx="6766560" cy="411480"/>
          </a:xfrm>
          <a:prstGeom prst="rect">
            <a:avLst/>
          </a:prstGeom>
          <a:noFill/>
          <a:ln/>
        </p:spPr>
        <p:txBody>
          <a:bodyPr wrap="square" lIns="0" tIns="0" rIns="0" bIns="0" rtlCol="0" anchor="ctr"/>
          <a:lstStyle/>
          <a:p>
            <a:pPr indent="0" marL="0">
              <a:buNone/>
            </a:pPr>
            <a:r>
              <a:rPr lang="en-US" sz="1500" dirty="0">
                <a:solidFill>
                  <a:srgbClr val="DDF2EC"/>
                </a:solidFill>
                <a:latin typeface="Microsoft YaHei" pitchFamily="34" charset="0"/>
                <a:ea typeface="Microsoft YaHei" pitchFamily="34" charset="-122"/>
                <a:cs typeface="Microsoft YaHei" pitchFamily="34" charset="-120"/>
              </a:rPr>
              <a:t>代表技能：Agent Browser / 办公文档四件套 / Local Whisper / Web Search</a:t>
            </a:r>
            <a:endParaRPr lang="en-US" sz="1500" dirty="0"/>
          </a:p>
        </p:txBody>
      </p:sp>
      <p:sp>
        <p:nvSpPr>
          <p:cNvPr id="16" name="Shape 14"/>
          <p:cNvSpPr/>
          <p:nvPr/>
        </p:nvSpPr>
        <p:spPr>
          <a:xfrm>
            <a:off x="1188720" y="3785616"/>
            <a:ext cx="164592" cy="164592"/>
          </a:xfrm>
          <a:prstGeom prst="ellipse">
            <a:avLst/>
          </a:prstGeom>
          <a:solidFill>
            <a:srgbClr val="28B894"/>
          </a:solidFill>
          <a:ln/>
        </p:spPr>
      </p:sp>
      <p:sp>
        <p:nvSpPr>
          <p:cNvPr id="17" name="Text 15"/>
          <p:cNvSpPr/>
          <p:nvPr/>
        </p:nvSpPr>
        <p:spPr>
          <a:xfrm>
            <a:off x="1508760" y="3657600"/>
            <a:ext cx="6766560" cy="411480"/>
          </a:xfrm>
          <a:prstGeom prst="rect">
            <a:avLst/>
          </a:prstGeom>
          <a:noFill/>
          <a:ln/>
        </p:spPr>
        <p:txBody>
          <a:bodyPr wrap="square" lIns="0" tIns="0" rIns="0" bIns="0" rtlCol="0" anchor="ctr"/>
          <a:lstStyle/>
          <a:p>
            <a:pPr indent="0" marL="0">
              <a:buNone/>
            </a:pPr>
            <a:r>
              <a:rPr lang="en-US" sz="1500" dirty="0">
                <a:solidFill>
                  <a:srgbClr val="DDF2EC"/>
                </a:solidFill>
                <a:latin typeface="Microsoft YaHei" pitchFamily="34" charset="0"/>
                <a:ea typeface="Microsoft YaHei" pitchFamily="34" charset="-122"/>
                <a:cs typeface="Microsoft YaHei" pitchFamily="34" charset="-120"/>
              </a:rPr>
              <a:t>技能应用最佳实践：仅启用相关技能、按场景切换、单一职责、触发清晰</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594360"/>
          </a:xfrm>
          <a:prstGeom prst="rect">
            <a:avLst/>
          </a:prstGeom>
          <a:noFill/>
          <a:ln/>
        </p:spPr>
        <p:txBody>
          <a:bodyPr wrap="square" lIns="0" tIns="0" rIns="0" bIns="0" rtlCol="0" anchor="ctr"/>
          <a:lstStyle/>
          <a:p>
            <a:pPr indent="0" marL="0">
              <a:buNone/>
            </a:pPr>
            <a:r>
              <a:rPr lang="en-US" sz="2600" b="1" dirty="0">
                <a:solidFill>
                  <a:srgbClr val="28B894"/>
                </a:solidFill>
                <a:latin typeface="Microsoft YaHei" pitchFamily="34" charset="0"/>
                <a:ea typeface="Microsoft YaHei" pitchFamily="34" charset="-122"/>
                <a:cs typeface="Microsoft YaHei" pitchFamily="34" charset="-120"/>
              </a:rPr>
              <a:t>十大零成本技能概览</a:t>
            </a:r>
            <a:endParaRPr lang="en-US" sz="2600" dirty="0"/>
          </a:p>
        </p:txBody>
      </p:sp>
      <p:sp>
        <p:nvSpPr>
          <p:cNvPr id="3" name="Shape 1"/>
          <p:cNvSpPr/>
          <p:nvPr/>
        </p:nvSpPr>
        <p:spPr>
          <a:xfrm>
            <a:off x="548640" y="868680"/>
            <a:ext cx="914400" cy="32004"/>
          </a:xfrm>
          <a:prstGeom prst="rect">
            <a:avLst/>
          </a:prstGeom>
          <a:solidFill>
            <a:srgbClr val="2E9E83"/>
          </a:solidFill>
          <a:ln/>
        </p:spPr>
      </p:sp>
      <p:sp>
        <p:nvSpPr>
          <p:cNvPr id="4" name="Text 2"/>
          <p:cNvSpPr/>
          <p:nvPr/>
        </p:nvSpPr>
        <p:spPr>
          <a:xfrm>
            <a:off x="548640" y="1005840"/>
            <a:ext cx="8046720" cy="292608"/>
          </a:xfrm>
          <a:prstGeom prst="rect">
            <a:avLst/>
          </a:prstGeom>
          <a:noFill/>
          <a:ln/>
        </p:spPr>
        <p:txBody>
          <a:bodyPr wrap="square" lIns="0" tIns="0" rIns="0" bIns="0" rtlCol="0" anchor="ctr"/>
          <a:lstStyle/>
          <a:p>
            <a:pPr indent="0" marL="0">
              <a:buNone/>
            </a:pPr>
            <a:r>
              <a:rPr lang="en-US" sz="1250" dirty="0">
                <a:solidFill>
                  <a:srgbClr val="7F8C8D"/>
                </a:solidFill>
                <a:latin typeface="Microsoft YaHei" pitchFamily="34" charset="0"/>
                <a:ea typeface="Microsoft YaHei" pitchFamily="34" charset="-122"/>
                <a:cs typeface="Microsoft YaHei" pitchFamily="34" charset="-120"/>
              </a:rPr>
              <a:t>对于大多数日常办公场景，WorkBuddy 已有一批经过验证的免费、高效技能（排名不分先后）：</a:t>
            </a:r>
            <a:endParaRPr lang="en-US" sz="1250" dirty="0"/>
          </a:p>
        </p:txBody>
      </p:sp>
      <p:sp>
        <p:nvSpPr>
          <p:cNvPr id="5" name="Shape 3"/>
          <p:cNvSpPr/>
          <p:nvPr/>
        </p:nvSpPr>
        <p:spPr>
          <a:xfrm>
            <a:off x="548640" y="1371600"/>
            <a:ext cx="3931920" cy="512064"/>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6" name="Shape 4"/>
          <p:cNvSpPr/>
          <p:nvPr/>
        </p:nvSpPr>
        <p:spPr>
          <a:xfrm>
            <a:off x="548640" y="1371600"/>
            <a:ext cx="54864" cy="512064"/>
          </a:xfrm>
          <a:prstGeom prst="rect">
            <a:avLst/>
          </a:prstGeom>
          <a:solidFill>
            <a:srgbClr val="28B894"/>
          </a:solidFill>
          <a:ln/>
        </p:spPr>
      </p:sp>
      <p:sp>
        <p:nvSpPr>
          <p:cNvPr id="7" name="Shape 5"/>
          <p:cNvSpPr/>
          <p:nvPr/>
        </p:nvSpPr>
        <p:spPr>
          <a:xfrm>
            <a:off x="640080" y="1426464"/>
            <a:ext cx="411480" cy="411480"/>
          </a:xfrm>
          <a:prstGeom prst="ellipse">
            <a:avLst/>
          </a:prstGeom>
          <a:solidFill>
            <a:srgbClr val="5A6B7F"/>
          </a:solidFill>
          <a:ln/>
        </p:spPr>
      </p:sp>
      <p:sp>
        <p:nvSpPr>
          <p:cNvPr id="8" name="Text 6"/>
          <p:cNvSpPr/>
          <p:nvPr/>
        </p:nvSpPr>
        <p:spPr>
          <a:xfrm>
            <a:off x="640080" y="1426464"/>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01</a:t>
            </a:r>
            <a:endParaRPr lang="en-US" sz="1400" dirty="0"/>
          </a:p>
        </p:txBody>
      </p:sp>
      <p:sp>
        <p:nvSpPr>
          <p:cNvPr id="9" name="Text 7"/>
          <p:cNvSpPr/>
          <p:nvPr/>
        </p:nvSpPr>
        <p:spPr>
          <a:xfrm>
            <a:off x="1170432" y="1389888"/>
            <a:ext cx="1737360" cy="457200"/>
          </a:xfrm>
          <a:prstGeom prst="rect">
            <a:avLst/>
          </a:prstGeom>
          <a:noFill/>
          <a:ln/>
        </p:spPr>
        <p:txBody>
          <a:bodyPr wrap="square" lIns="0" tIns="0" rIns="0" bIns="0" rtlCol="0" anchor="ctr"/>
          <a:lstStyle/>
          <a:p>
            <a:pPr indent="0" marL="0">
              <a:buNone/>
            </a:pPr>
            <a:r>
              <a:rPr lang="en-US" sz="1050" b="1" dirty="0">
                <a:solidFill>
                  <a:srgbClr val="28B894"/>
                </a:solidFill>
                <a:latin typeface="Microsoft YaHei" pitchFamily="34" charset="0"/>
                <a:ea typeface="Microsoft YaHei" pitchFamily="34" charset="-122"/>
                <a:cs typeface="Microsoft YaHei" pitchFamily="34" charset="-120"/>
              </a:rPr>
              <a:t>Agent Browser</a:t>
            </a:r>
            <a:endParaRPr lang="en-US" sz="1050" dirty="0"/>
          </a:p>
        </p:txBody>
      </p:sp>
      <p:sp>
        <p:nvSpPr>
          <p:cNvPr id="10" name="Text 8"/>
          <p:cNvSpPr/>
          <p:nvPr/>
        </p:nvSpPr>
        <p:spPr>
          <a:xfrm>
            <a:off x="2880360" y="1389888"/>
            <a:ext cx="1508760" cy="457200"/>
          </a:xfrm>
          <a:prstGeom prst="rect">
            <a:avLst/>
          </a:prstGeom>
          <a:noFill/>
          <a:ln/>
        </p:spPr>
        <p:txBody>
          <a:bodyPr wrap="square" lIns="0" tIns="0" rIns="0" bIns="0" rtlCol="0" anchor="ctr"/>
          <a:lstStyle/>
          <a:p>
            <a:pPr indent="0" marL="0">
              <a:buNone/>
            </a:pPr>
            <a:r>
              <a:rPr lang="en-US" sz="900" dirty="0">
                <a:solidFill>
                  <a:srgbClr val="2C3E50"/>
                </a:solidFill>
                <a:latin typeface="Microsoft YaHei" pitchFamily="34" charset="0"/>
                <a:ea typeface="Microsoft YaHei" pitchFamily="34" charset="-122"/>
                <a:cs typeface="Microsoft YaHei" pitchFamily="34" charset="-120"/>
              </a:rPr>
              <a:t>浏览器自动化，模拟点击、输入与抓取</a:t>
            </a:r>
            <a:endParaRPr lang="en-US" sz="900" dirty="0"/>
          </a:p>
        </p:txBody>
      </p:sp>
      <p:sp>
        <p:nvSpPr>
          <p:cNvPr id="11" name="Shape 9"/>
          <p:cNvSpPr/>
          <p:nvPr/>
        </p:nvSpPr>
        <p:spPr>
          <a:xfrm>
            <a:off x="4709160" y="1371600"/>
            <a:ext cx="3931920" cy="512064"/>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2" name="Shape 10"/>
          <p:cNvSpPr/>
          <p:nvPr/>
        </p:nvSpPr>
        <p:spPr>
          <a:xfrm>
            <a:off x="4709160" y="1371600"/>
            <a:ext cx="54864" cy="512064"/>
          </a:xfrm>
          <a:prstGeom prst="rect">
            <a:avLst/>
          </a:prstGeom>
          <a:solidFill>
            <a:srgbClr val="2E9E83"/>
          </a:solidFill>
          <a:ln/>
        </p:spPr>
      </p:sp>
      <p:sp>
        <p:nvSpPr>
          <p:cNvPr id="13" name="Shape 11"/>
          <p:cNvSpPr/>
          <p:nvPr/>
        </p:nvSpPr>
        <p:spPr>
          <a:xfrm>
            <a:off x="4800600" y="1426464"/>
            <a:ext cx="411480" cy="411480"/>
          </a:xfrm>
          <a:prstGeom prst="ellipse">
            <a:avLst/>
          </a:prstGeom>
          <a:solidFill>
            <a:srgbClr val="5A6B7F"/>
          </a:solidFill>
          <a:ln/>
        </p:spPr>
      </p:sp>
      <p:sp>
        <p:nvSpPr>
          <p:cNvPr id="14" name="Text 12"/>
          <p:cNvSpPr/>
          <p:nvPr/>
        </p:nvSpPr>
        <p:spPr>
          <a:xfrm>
            <a:off x="4800600" y="1426464"/>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02</a:t>
            </a:r>
            <a:endParaRPr lang="en-US" sz="1400" dirty="0"/>
          </a:p>
        </p:txBody>
      </p:sp>
      <p:sp>
        <p:nvSpPr>
          <p:cNvPr id="15" name="Text 13"/>
          <p:cNvSpPr/>
          <p:nvPr/>
        </p:nvSpPr>
        <p:spPr>
          <a:xfrm>
            <a:off x="5330952" y="1389888"/>
            <a:ext cx="1737360" cy="457200"/>
          </a:xfrm>
          <a:prstGeom prst="rect">
            <a:avLst/>
          </a:prstGeom>
          <a:noFill/>
          <a:ln/>
        </p:spPr>
        <p:txBody>
          <a:bodyPr wrap="square" lIns="0" tIns="0" rIns="0" bIns="0" rtlCol="0" anchor="ctr"/>
          <a:lstStyle/>
          <a:p>
            <a:pPr indent="0" marL="0">
              <a:buNone/>
            </a:pPr>
            <a:r>
              <a:rPr lang="en-US" sz="1050" b="1" dirty="0">
                <a:solidFill>
                  <a:srgbClr val="28B894"/>
                </a:solidFill>
                <a:latin typeface="Microsoft YaHei" pitchFamily="34" charset="0"/>
                <a:ea typeface="Microsoft YaHei" pitchFamily="34" charset="-122"/>
                <a:cs typeface="Microsoft YaHei" pitchFamily="34" charset="-120"/>
              </a:rPr>
              <a:t>办公文档四件套</a:t>
            </a:r>
            <a:endParaRPr lang="en-US" sz="1050" dirty="0"/>
          </a:p>
        </p:txBody>
      </p:sp>
      <p:sp>
        <p:nvSpPr>
          <p:cNvPr id="16" name="Text 14"/>
          <p:cNvSpPr/>
          <p:nvPr/>
        </p:nvSpPr>
        <p:spPr>
          <a:xfrm>
            <a:off x="7040880" y="1389888"/>
            <a:ext cx="1508760" cy="457200"/>
          </a:xfrm>
          <a:prstGeom prst="rect">
            <a:avLst/>
          </a:prstGeom>
          <a:noFill/>
          <a:ln/>
        </p:spPr>
        <p:txBody>
          <a:bodyPr wrap="square" lIns="0" tIns="0" rIns="0" bIns="0" rtlCol="0" anchor="ctr"/>
          <a:lstStyle/>
          <a:p>
            <a:pPr indent="0" marL="0">
              <a:buNone/>
            </a:pPr>
            <a:r>
              <a:rPr lang="en-US" sz="900" dirty="0">
                <a:solidFill>
                  <a:srgbClr val="2C3E50"/>
                </a:solidFill>
                <a:latin typeface="Microsoft YaHei" pitchFamily="34" charset="0"/>
                <a:ea typeface="Microsoft YaHei" pitchFamily="34" charset="-122"/>
                <a:cs typeface="Microsoft YaHei" pitchFamily="34" charset="-120"/>
              </a:rPr>
              <a:t>解析和生成 PDF、DOCX、PPTX、XLSX</a:t>
            </a:r>
            <a:endParaRPr lang="en-US" sz="900" dirty="0"/>
          </a:p>
        </p:txBody>
      </p:sp>
      <p:sp>
        <p:nvSpPr>
          <p:cNvPr id="17" name="Shape 15"/>
          <p:cNvSpPr/>
          <p:nvPr/>
        </p:nvSpPr>
        <p:spPr>
          <a:xfrm>
            <a:off x="548640" y="1956816"/>
            <a:ext cx="3931920" cy="512064"/>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8" name="Shape 16"/>
          <p:cNvSpPr/>
          <p:nvPr/>
        </p:nvSpPr>
        <p:spPr>
          <a:xfrm>
            <a:off x="548640" y="1956816"/>
            <a:ext cx="54864" cy="512064"/>
          </a:xfrm>
          <a:prstGeom prst="rect">
            <a:avLst/>
          </a:prstGeom>
          <a:solidFill>
            <a:srgbClr val="28B894"/>
          </a:solidFill>
          <a:ln/>
        </p:spPr>
      </p:sp>
      <p:sp>
        <p:nvSpPr>
          <p:cNvPr id="19" name="Shape 17"/>
          <p:cNvSpPr/>
          <p:nvPr/>
        </p:nvSpPr>
        <p:spPr>
          <a:xfrm>
            <a:off x="640080" y="2011680"/>
            <a:ext cx="411480" cy="411480"/>
          </a:xfrm>
          <a:prstGeom prst="ellipse">
            <a:avLst/>
          </a:prstGeom>
          <a:solidFill>
            <a:srgbClr val="5A6B7F"/>
          </a:solidFill>
          <a:ln/>
        </p:spPr>
      </p:sp>
      <p:sp>
        <p:nvSpPr>
          <p:cNvPr id="20" name="Text 18"/>
          <p:cNvSpPr/>
          <p:nvPr/>
        </p:nvSpPr>
        <p:spPr>
          <a:xfrm>
            <a:off x="640080" y="20116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03</a:t>
            </a:r>
            <a:endParaRPr lang="en-US" sz="1400" dirty="0"/>
          </a:p>
        </p:txBody>
      </p:sp>
      <p:sp>
        <p:nvSpPr>
          <p:cNvPr id="21" name="Text 19"/>
          <p:cNvSpPr/>
          <p:nvPr/>
        </p:nvSpPr>
        <p:spPr>
          <a:xfrm>
            <a:off x="1170432" y="1975104"/>
            <a:ext cx="1737360" cy="457200"/>
          </a:xfrm>
          <a:prstGeom prst="rect">
            <a:avLst/>
          </a:prstGeom>
          <a:noFill/>
          <a:ln/>
        </p:spPr>
        <p:txBody>
          <a:bodyPr wrap="square" lIns="0" tIns="0" rIns="0" bIns="0" rtlCol="0" anchor="ctr"/>
          <a:lstStyle/>
          <a:p>
            <a:pPr indent="0" marL="0">
              <a:buNone/>
            </a:pPr>
            <a:r>
              <a:rPr lang="en-US" sz="1050" b="1" dirty="0">
                <a:solidFill>
                  <a:srgbClr val="28B894"/>
                </a:solidFill>
                <a:latin typeface="Microsoft YaHei" pitchFamily="34" charset="0"/>
                <a:ea typeface="Microsoft YaHei" pitchFamily="34" charset="-122"/>
                <a:cs typeface="Microsoft YaHei" pitchFamily="34" charset="-120"/>
              </a:rPr>
              <a:t>Local Whisper</a:t>
            </a:r>
            <a:endParaRPr lang="en-US" sz="1050" dirty="0"/>
          </a:p>
        </p:txBody>
      </p:sp>
      <p:sp>
        <p:nvSpPr>
          <p:cNvPr id="22" name="Text 20"/>
          <p:cNvSpPr/>
          <p:nvPr/>
        </p:nvSpPr>
        <p:spPr>
          <a:xfrm>
            <a:off x="2880360" y="1975104"/>
            <a:ext cx="1508760" cy="457200"/>
          </a:xfrm>
          <a:prstGeom prst="rect">
            <a:avLst/>
          </a:prstGeom>
          <a:noFill/>
          <a:ln/>
        </p:spPr>
        <p:txBody>
          <a:bodyPr wrap="square" lIns="0" tIns="0" rIns="0" bIns="0" rtlCol="0" anchor="ctr"/>
          <a:lstStyle/>
          <a:p>
            <a:pPr indent="0" marL="0">
              <a:buNone/>
            </a:pPr>
            <a:r>
              <a:rPr lang="en-US" sz="900" dirty="0">
                <a:solidFill>
                  <a:srgbClr val="2C3E50"/>
                </a:solidFill>
                <a:latin typeface="Microsoft YaHei" pitchFamily="34" charset="0"/>
                <a:ea typeface="Microsoft YaHei" pitchFamily="34" charset="-122"/>
                <a:cs typeface="Microsoft YaHei" pitchFamily="34" charset="-120"/>
              </a:rPr>
              <a:t>本地语音转文字，保护隐私且高精度</a:t>
            </a:r>
            <a:endParaRPr lang="en-US" sz="900" dirty="0"/>
          </a:p>
        </p:txBody>
      </p:sp>
      <p:sp>
        <p:nvSpPr>
          <p:cNvPr id="23" name="Shape 21"/>
          <p:cNvSpPr/>
          <p:nvPr/>
        </p:nvSpPr>
        <p:spPr>
          <a:xfrm>
            <a:off x="4709160" y="1956816"/>
            <a:ext cx="3931920" cy="512064"/>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4" name="Shape 22"/>
          <p:cNvSpPr/>
          <p:nvPr/>
        </p:nvSpPr>
        <p:spPr>
          <a:xfrm>
            <a:off x="4709160" y="1956816"/>
            <a:ext cx="54864" cy="512064"/>
          </a:xfrm>
          <a:prstGeom prst="rect">
            <a:avLst/>
          </a:prstGeom>
          <a:solidFill>
            <a:srgbClr val="2E9E83"/>
          </a:solidFill>
          <a:ln/>
        </p:spPr>
      </p:sp>
      <p:sp>
        <p:nvSpPr>
          <p:cNvPr id="25" name="Shape 23"/>
          <p:cNvSpPr/>
          <p:nvPr/>
        </p:nvSpPr>
        <p:spPr>
          <a:xfrm>
            <a:off x="4800600" y="2011680"/>
            <a:ext cx="411480" cy="411480"/>
          </a:xfrm>
          <a:prstGeom prst="ellipse">
            <a:avLst/>
          </a:prstGeom>
          <a:solidFill>
            <a:srgbClr val="5A6B7F"/>
          </a:solidFill>
          <a:ln/>
        </p:spPr>
      </p:sp>
      <p:sp>
        <p:nvSpPr>
          <p:cNvPr id="26" name="Text 24"/>
          <p:cNvSpPr/>
          <p:nvPr/>
        </p:nvSpPr>
        <p:spPr>
          <a:xfrm>
            <a:off x="4800600" y="20116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04</a:t>
            </a:r>
            <a:endParaRPr lang="en-US" sz="1400" dirty="0"/>
          </a:p>
        </p:txBody>
      </p:sp>
      <p:sp>
        <p:nvSpPr>
          <p:cNvPr id="27" name="Text 25"/>
          <p:cNvSpPr/>
          <p:nvPr/>
        </p:nvSpPr>
        <p:spPr>
          <a:xfrm>
            <a:off x="5330952" y="1975104"/>
            <a:ext cx="1737360" cy="457200"/>
          </a:xfrm>
          <a:prstGeom prst="rect">
            <a:avLst/>
          </a:prstGeom>
          <a:noFill/>
          <a:ln/>
        </p:spPr>
        <p:txBody>
          <a:bodyPr wrap="square" lIns="0" tIns="0" rIns="0" bIns="0" rtlCol="0" anchor="ctr"/>
          <a:lstStyle/>
          <a:p>
            <a:pPr indent="0" marL="0">
              <a:buNone/>
            </a:pPr>
            <a:r>
              <a:rPr lang="en-US" sz="1050" b="1" dirty="0">
                <a:solidFill>
                  <a:srgbClr val="28B894"/>
                </a:solidFill>
                <a:latin typeface="Microsoft YaHei" pitchFamily="34" charset="0"/>
                <a:ea typeface="Microsoft YaHei" pitchFamily="34" charset="-122"/>
                <a:cs typeface="Microsoft YaHei" pitchFamily="34" charset="-120"/>
              </a:rPr>
              <a:t>tl_video_downloader</a:t>
            </a:r>
            <a:endParaRPr lang="en-US" sz="1050" dirty="0"/>
          </a:p>
        </p:txBody>
      </p:sp>
      <p:sp>
        <p:nvSpPr>
          <p:cNvPr id="28" name="Text 26"/>
          <p:cNvSpPr/>
          <p:nvPr/>
        </p:nvSpPr>
        <p:spPr>
          <a:xfrm>
            <a:off x="7040880" y="1975104"/>
            <a:ext cx="1508760" cy="457200"/>
          </a:xfrm>
          <a:prstGeom prst="rect">
            <a:avLst/>
          </a:prstGeom>
          <a:noFill/>
          <a:ln/>
        </p:spPr>
        <p:txBody>
          <a:bodyPr wrap="square" lIns="0" tIns="0" rIns="0" bIns="0" rtlCol="0" anchor="ctr"/>
          <a:lstStyle/>
          <a:p>
            <a:pPr indent="0" marL="0">
              <a:buNone/>
            </a:pPr>
            <a:r>
              <a:rPr lang="en-US" sz="900" dirty="0">
                <a:solidFill>
                  <a:srgbClr val="2C3E50"/>
                </a:solidFill>
                <a:latin typeface="Microsoft YaHei" pitchFamily="34" charset="0"/>
                <a:ea typeface="Microsoft YaHei" pitchFamily="34" charset="-122"/>
                <a:cs typeface="Microsoft YaHei" pitchFamily="34" charset="-120"/>
              </a:rPr>
              <a:t>视频下载，可提取音频和字幕</a:t>
            </a:r>
            <a:endParaRPr lang="en-US" sz="900" dirty="0"/>
          </a:p>
        </p:txBody>
      </p:sp>
      <p:sp>
        <p:nvSpPr>
          <p:cNvPr id="29" name="Shape 27"/>
          <p:cNvSpPr/>
          <p:nvPr/>
        </p:nvSpPr>
        <p:spPr>
          <a:xfrm>
            <a:off x="548640" y="2542032"/>
            <a:ext cx="3931920" cy="512064"/>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30" name="Shape 28"/>
          <p:cNvSpPr/>
          <p:nvPr/>
        </p:nvSpPr>
        <p:spPr>
          <a:xfrm>
            <a:off x="548640" y="2542032"/>
            <a:ext cx="54864" cy="512064"/>
          </a:xfrm>
          <a:prstGeom prst="rect">
            <a:avLst/>
          </a:prstGeom>
          <a:solidFill>
            <a:srgbClr val="28B894"/>
          </a:solidFill>
          <a:ln/>
        </p:spPr>
      </p:sp>
      <p:sp>
        <p:nvSpPr>
          <p:cNvPr id="31" name="Shape 29"/>
          <p:cNvSpPr/>
          <p:nvPr/>
        </p:nvSpPr>
        <p:spPr>
          <a:xfrm>
            <a:off x="640080" y="2596896"/>
            <a:ext cx="411480" cy="411480"/>
          </a:xfrm>
          <a:prstGeom prst="ellipse">
            <a:avLst/>
          </a:prstGeom>
          <a:solidFill>
            <a:srgbClr val="5A6B7F"/>
          </a:solidFill>
          <a:ln/>
        </p:spPr>
      </p:sp>
      <p:sp>
        <p:nvSpPr>
          <p:cNvPr id="32" name="Text 30"/>
          <p:cNvSpPr/>
          <p:nvPr/>
        </p:nvSpPr>
        <p:spPr>
          <a:xfrm>
            <a:off x="640080" y="259689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05</a:t>
            </a:r>
            <a:endParaRPr lang="en-US" sz="1400" dirty="0"/>
          </a:p>
        </p:txBody>
      </p:sp>
      <p:sp>
        <p:nvSpPr>
          <p:cNvPr id="33" name="Text 31"/>
          <p:cNvSpPr/>
          <p:nvPr/>
        </p:nvSpPr>
        <p:spPr>
          <a:xfrm>
            <a:off x="1170432" y="2560320"/>
            <a:ext cx="1737360" cy="457200"/>
          </a:xfrm>
          <a:prstGeom prst="rect">
            <a:avLst/>
          </a:prstGeom>
          <a:noFill/>
          <a:ln/>
        </p:spPr>
        <p:txBody>
          <a:bodyPr wrap="square" lIns="0" tIns="0" rIns="0" bIns="0" rtlCol="0" anchor="ctr"/>
          <a:lstStyle/>
          <a:p>
            <a:pPr indent="0" marL="0">
              <a:buNone/>
            </a:pPr>
            <a:r>
              <a:rPr lang="en-US" sz="1050" b="1" dirty="0">
                <a:solidFill>
                  <a:srgbClr val="28B894"/>
                </a:solidFill>
                <a:latin typeface="Microsoft YaHei" pitchFamily="34" charset="0"/>
                <a:ea typeface="Microsoft YaHei" pitchFamily="34" charset="-122"/>
                <a:cs typeface="Microsoft YaHei" pitchFamily="34" charset="-120"/>
              </a:rPr>
              <a:t>Web Search</a:t>
            </a:r>
            <a:endParaRPr lang="en-US" sz="1050" dirty="0"/>
          </a:p>
        </p:txBody>
      </p:sp>
      <p:sp>
        <p:nvSpPr>
          <p:cNvPr id="34" name="Text 32"/>
          <p:cNvSpPr/>
          <p:nvPr/>
        </p:nvSpPr>
        <p:spPr>
          <a:xfrm>
            <a:off x="2880360" y="2560320"/>
            <a:ext cx="1508760" cy="457200"/>
          </a:xfrm>
          <a:prstGeom prst="rect">
            <a:avLst/>
          </a:prstGeom>
          <a:noFill/>
          <a:ln/>
        </p:spPr>
        <p:txBody>
          <a:bodyPr wrap="square" lIns="0" tIns="0" rIns="0" bIns="0" rtlCol="0" anchor="ctr"/>
          <a:lstStyle/>
          <a:p>
            <a:pPr indent="0" marL="0">
              <a:buNone/>
            </a:pPr>
            <a:r>
              <a:rPr lang="en-US" sz="900" dirty="0">
                <a:solidFill>
                  <a:srgbClr val="2C3E50"/>
                </a:solidFill>
                <a:latin typeface="Microsoft YaHei" pitchFamily="34" charset="0"/>
                <a:ea typeface="Microsoft YaHei" pitchFamily="34" charset="-122"/>
                <a:cs typeface="Microsoft YaHei" pitchFamily="34" charset="-120"/>
              </a:rPr>
              <a:t>实时联网搜索，突破训练数据时间截止</a:t>
            </a:r>
            <a:endParaRPr lang="en-US" sz="900" dirty="0"/>
          </a:p>
        </p:txBody>
      </p:sp>
      <p:sp>
        <p:nvSpPr>
          <p:cNvPr id="35" name="Shape 33"/>
          <p:cNvSpPr/>
          <p:nvPr/>
        </p:nvSpPr>
        <p:spPr>
          <a:xfrm>
            <a:off x="4709160" y="2542032"/>
            <a:ext cx="3931920" cy="512064"/>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36" name="Shape 34"/>
          <p:cNvSpPr/>
          <p:nvPr/>
        </p:nvSpPr>
        <p:spPr>
          <a:xfrm>
            <a:off x="4709160" y="2542032"/>
            <a:ext cx="54864" cy="512064"/>
          </a:xfrm>
          <a:prstGeom prst="rect">
            <a:avLst/>
          </a:prstGeom>
          <a:solidFill>
            <a:srgbClr val="2E9E83"/>
          </a:solidFill>
          <a:ln/>
        </p:spPr>
      </p:sp>
      <p:sp>
        <p:nvSpPr>
          <p:cNvPr id="37" name="Shape 35"/>
          <p:cNvSpPr/>
          <p:nvPr/>
        </p:nvSpPr>
        <p:spPr>
          <a:xfrm>
            <a:off x="4800600" y="2596896"/>
            <a:ext cx="411480" cy="411480"/>
          </a:xfrm>
          <a:prstGeom prst="ellipse">
            <a:avLst/>
          </a:prstGeom>
          <a:solidFill>
            <a:srgbClr val="5A6B7F"/>
          </a:solidFill>
          <a:ln/>
        </p:spPr>
      </p:sp>
      <p:sp>
        <p:nvSpPr>
          <p:cNvPr id="38" name="Text 36"/>
          <p:cNvSpPr/>
          <p:nvPr/>
        </p:nvSpPr>
        <p:spPr>
          <a:xfrm>
            <a:off x="4800600" y="259689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06</a:t>
            </a:r>
            <a:endParaRPr lang="en-US" sz="1400" dirty="0"/>
          </a:p>
        </p:txBody>
      </p:sp>
      <p:sp>
        <p:nvSpPr>
          <p:cNvPr id="39" name="Text 37"/>
          <p:cNvSpPr/>
          <p:nvPr/>
        </p:nvSpPr>
        <p:spPr>
          <a:xfrm>
            <a:off x="5330952" y="2560320"/>
            <a:ext cx="1737360" cy="457200"/>
          </a:xfrm>
          <a:prstGeom prst="rect">
            <a:avLst/>
          </a:prstGeom>
          <a:noFill/>
          <a:ln/>
        </p:spPr>
        <p:txBody>
          <a:bodyPr wrap="square" lIns="0" tIns="0" rIns="0" bIns="0" rtlCol="0" anchor="ctr"/>
          <a:lstStyle/>
          <a:p>
            <a:pPr indent="0" marL="0">
              <a:buNone/>
            </a:pPr>
            <a:r>
              <a:rPr lang="en-US" sz="1050" b="1" dirty="0">
                <a:solidFill>
                  <a:srgbClr val="28B894"/>
                </a:solidFill>
                <a:latin typeface="Microsoft YaHei" pitchFamily="34" charset="0"/>
                <a:ea typeface="Microsoft YaHei" pitchFamily="34" charset="-122"/>
                <a:cs typeface="Microsoft YaHei" pitchFamily="34" charset="-120"/>
              </a:rPr>
              <a:t>Obsidian</a:t>
            </a:r>
            <a:endParaRPr lang="en-US" sz="1050" dirty="0"/>
          </a:p>
        </p:txBody>
      </p:sp>
      <p:sp>
        <p:nvSpPr>
          <p:cNvPr id="40" name="Text 38"/>
          <p:cNvSpPr/>
          <p:nvPr/>
        </p:nvSpPr>
        <p:spPr>
          <a:xfrm>
            <a:off x="7040880" y="2560320"/>
            <a:ext cx="1508760" cy="457200"/>
          </a:xfrm>
          <a:prstGeom prst="rect">
            <a:avLst/>
          </a:prstGeom>
          <a:noFill/>
          <a:ln/>
        </p:spPr>
        <p:txBody>
          <a:bodyPr wrap="square" lIns="0" tIns="0" rIns="0" bIns="0" rtlCol="0" anchor="ctr"/>
          <a:lstStyle/>
          <a:p>
            <a:pPr indent="0" marL="0">
              <a:buNone/>
            </a:pPr>
            <a:r>
              <a:rPr lang="en-US" sz="900" dirty="0">
                <a:solidFill>
                  <a:srgbClr val="2C3E50"/>
                </a:solidFill>
                <a:latin typeface="Microsoft YaHei" pitchFamily="34" charset="0"/>
                <a:ea typeface="Microsoft YaHei" pitchFamily="34" charset="-122"/>
                <a:cs typeface="Microsoft YaHei" pitchFamily="34" charset="-120"/>
              </a:rPr>
              <a:t>笔记库管理，实现跨软件知识联动</a:t>
            </a:r>
            <a:endParaRPr lang="en-US" sz="900" dirty="0"/>
          </a:p>
        </p:txBody>
      </p:sp>
      <p:sp>
        <p:nvSpPr>
          <p:cNvPr id="41" name="Shape 39"/>
          <p:cNvSpPr/>
          <p:nvPr/>
        </p:nvSpPr>
        <p:spPr>
          <a:xfrm>
            <a:off x="548640" y="3127248"/>
            <a:ext cx="3931920" cy="512064"/>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42" name="Shape 40"/>
          <p:cNvSpPr/>
          <p:nvPr/>
        </p:nvSpPr>
        <p:spPr>
          <a:xfrm>
            <a:off x="548640" y="3127248"/>
            <a:ext cx="54864" cy="512064"/>
          </a:xfrm>
          <a:prstGeom prst="rect">
            <a:avLst/>
          </a:prstGeom>
          <a:solidFill>
            <a:srgbClr val="28B894"/>
          </a:solidFill>
          <a:ln/>
        </p:spPr>
      </p:sp>
      <p:sp>
        <p:nvSpPr>
          <p:cNvPr id="43" name="Shape 41"/>
          <p:cNvSpPr/>
          <p:nvPr/>
        </p:nvSpPr>
        <p:spPr>
          <a:xfrm>
            <a:off x="640080" y="3182112"/>
            <a:ext cx="411480" cy="411480"/>
          </a:xfrm>
          <a:prstGeom prst="ellipse">
            <a:avLst/>
          </a:prstGeom>
          <a:solidFill>
            <a:srgbClr val="5A6B7F"/>
          </a:solidFill>
          <a:ln/>
        </p:spPr>
      </p:sp>
      <p:sp>
        <p:nvSpPr>
          <p:cNvPr id="44" name="Text 42"/>
          <p:cNvSpPr/>
          <p:nvPr/>
        </p:nvSpPr>
        <p:spPr>
          <a:xfrm>
            <a:off x="640080" y="318211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07</a:t>
            </a:r>
            <a:endParaRPr lang="en-US" sz="1400" dirty="0"/>
          </a:p>
        </p:txBody>
      </p:sp>
      <p:sp>
        <p:nvSpPr>
          <p:cNvPr id="45" name="Text 43"/>
          <p:cNvSpPr/>
          <p:nvPr/>
        </p:nvSpPr>
        <p:spPr>
          <a:xfrm>
            <a:off x="1170432" y="3145536"/>
            <a:ext cx="1737360" cy="457200"/>
          </a:xfrm>
          <a:prstGeom prst="rect">
            <a:avLst/>
          </a:prstGeom>
          <a:noFill/>
          <a:ln/>
        </p:spPr>
        <p:txBody>
          <a:bodyPr wrap="square" lIns="0" tIns="0" rIns="0" bIns="0" rtlCol="0" anchor="ctr"/>
          <a:lstStyle/>
          <a:p>
            <a:pPr indent="0" marL="0">
              <a:buNone/>
            </a:pPr>
            <a:r>
              <a:rPr lang="en-US" sz="1050" b="1" dirty="0">
                <a:solidFill>
                  <a:srgbClr val="28B894"/>
                </a:solidFill>
                <a:latin typeface="Microsoft YaHei" pitchFamily="34" charset="0"/>
                <a:ea typeface="Microsoft YaHei" pitchFamily="34" charset="-122"/>
                <a:cs typeface="Microsoft YaHei" pitchFamily="34" charset="-120"/>
              </a:rPr>
              <a:t>Skill Scanner</a:t>
            </a:r>
            <a:endParaRPr lang="en-US" sz="1050" dirty="0"/>
          </a:p>
        </p:txBody>
      </p:sp>
      <p:sp>
        <p:nvSpPr>
          <p:cNvPr id="46" name="Text 44"/>
          <p:cNvSpPr/>
          <p:nvPr/>
        </p:nvSpPr>
        <p:spPr>
          <a:xfrm>
            <a:off x="2880360" y="3145536"/>
            <a:ext cx="1508760" cy="457200"/>
          </a:xfrm>
          <a:prstGeom prst="rect">
            <a:avLst/>
          </a:prstGeom>
          <a:noFill/>
          <a:ln/>
        </p:spPr>
        <p:txBody>
          <a:bodyPr wrap="square" lIns="0" tIns="0" rIns="0" bIns="0" rtlCol="0" anchor="ctr"/>
          <a:lstStyle/>
          <a:p>
            <a:pPr indent="0" marL="0">
              <a:buNone/>
            </a:pPr>
            <a:r>
              <a:rPr lang="en-US" sz="900" dirty="0">
                <a:solidFill>
                  <a:srgbClr val="2C3E50"/>
                </a:solidFill>
                <a:latin typeface="Microsoft YaHei" pitchFamily="34" charset="0"/>
                <a:ea typeface="Microsoft YaHei" pitchFamily="34" charset="-122"/>
                <a:cs typeface="Microsoft YaHei" pitchFamily="34" charset="-120"/>
              </a:rPr>
              <a:t>扫描新技能安全性，防范潜在风险</a:t>
            </a:r>
            <a:endParaRPr lang="en-US" sz="900" dirty="0"/>
          </a:p>
        </p:txBody>
      </p:sp>
      <p:sp>
        <p:nvSpPr>
          <p:cNvPr id="47" name="Shape 45"/>
          <p:cNvSpPr/>
          <p:nvPr/>
        </p:nvSpPr>
        <p:spPr>
          <a:xfrm>
            <a:off x="4709160" y="3127248"/>
            <a:ext cx="3931920" cy="512064"/>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48" name="Shape 46"/>
          <p:cNvSpPr/>
          <p:nvPr/>
        </p:nvSpPr>
        <p:spPr>
          <a:xfrm>
            <a:off x="4709160" y="3127248"/>
            <a:ext cx="54864" cy="512064"/>
          </a:xfrm>
          <a:prstGeom prst="rect">
            <a:avLst/>
          </a:prstGeom>
          <a:solidFill>
            <a:srgbClr val="2E9E83"/>
          </a:solidFill>
          <a:ln/>
        </p:spPr>
      </p:sp>
      <p:sp>
        <p:nvSpPr>
          <p:cNvPr id="49" name="Shape 47"/>
          <p:cNvSpPr/>
          <p:nvPr/>
        </p:nvSpPr>
        <p:spPr>
          <a:xfrm>
            <a:off x="4800600" y="3182112"/>
            <a:ext cx="411480" cy="411480"/>
          </a:xfrm>
          <a:prstGeom prst="ellipse">
            <a:avLst/>
          </a:prstGeom>
          <a:solidFill>
            <a:srgbClr val="5A6B7F"/>
          </a:solidFill>
          <a:ln/>
        </p:spPr>
      </p:sp>
      <p:sp>
        <p:nvSpPr>
          <p:cNvPr id="50" name="Text 48"/>
          <p:cNvSpPr/>
          <p:nvPr/>
        </p:nvSpPr>
        <p:spPr>
          <a:xfrm>
            <a:off x="4800600" y="318211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08</a:t>
            </a:r>
            <a:endParaRPr lang="en-US" sz="1400" dirty="0"/>
          </a:p>
        </p:txBody>
      </p:sp>
      <p:sp>
        <p:nvSpPr>
          <p:cNvPr id="51" name="Text 49"/>
          <p:cNvSpPr/>
          <p:nvPr/>
        </p:nvSpPr>
        <p:spPr>
          <a:xfrm>
            <a:off x="5330952" y="3145536"/>
            <a:ext cx="1737360" cy="457200"/>
          </a:xfrm>
          <a:prstGeom prst="rect">
            <a:avLst/>
          </a:prstGeom>
          <a:noFill/>
          <a:ln/>
        </p:spPr>
        <p:txBody>
          <a:bodyPr wrap="square" lIns="0" tIns="0" rIns="0" bIns="0" rtlCol="0" anchor="ctr"/>
          <a:lstStyle/>
          <a:p>
            <a:pPr indent="0" marL="0">
              <a:buNone/>
            </a:pPr>
            <a:r>
              <a:rPr lang="en-US" sz="1050" b="1" dirty="0">
                <a:solidFill>
                  <a:srgbClr val="28B894"/>
                </a:solidFill>
                <a:latin typeface="Microsoft YaHei" pitchFamily="34" charset="0"/>
                <a:ea typeface="Microsoft YaHei" pitchFamily="34" charset="-122"/>
                <a:cs typeface="Microsoft YaHei" pitchFamily="34" charset="-120"/>
              </a:rPr>
              <a:t>Self-improvement</a:t>
            </a:r>
            <a:endParaRPr lang="en-US" sz="1050" dirty="0"/>
          </a:p>
        </p:txBody>
      </p:sp>
      <p:sp>
        <p:nvSpPr>
          <p:cNvPr id="52" name="Text 50"/>
          <p:cNvSpPr/>
          <p:nvPr/>
        </p:nvSpPr>
        <p:spPr>
          <a:xfrm>
            <a:off x="7040880" y="3145536"/>
            <a:ext cx="1508760" cy="457200"/>
          </a:xfrm>
          <a:prstGeom prst="rect">
            <a:avLst/>
          </a:prstGeom>
          <a:noFill/>
          <a:ln/>
        </p:spPr>
        <p:txBody>
          <a:bodyPr wrap="square" lIns="0" tIns="0" rIns="0" bIns="0" rtlCol="0" anchor="ctr"/>
          <a:lstStyle/>
          <a:p>
            <a:pPr indent="0" marL="0">
              <a:buNone/>
            </a:pPr>
            <a:r>
              <a:rPr lang="en-US" sz="900" dirty="0">
                <a:solidFill>
                  <a:srgbClr val="2C3E50"/>
                </a:solidFill>
                <a:latin typeface="Microsoft YaHei" pitchFamily="34" charset="0"/>
                <a:ea typeface="Microsoft YaHei" pitchFamily="34" charset="-122"/>
                <a:cs typeface="Microsoft YaHei" pitchFamily="34" charset="-120"/>
              </a:rPr>
              <a:t>依据使用习惯优化提示词和处理逻辑</a:t>
            </a:r>
            <a:endParaRPr lang="en-US" sz="900" dirty="0"/>
          </a:p>
        </p:txBody>
      </p:sp>
      <p:sp>
        <p:nvSpPr>
          <p:cNvPr id="53" name="Shape 51"/>
          <p:cNvSpPr/>
          <p:nvPr/>
        </p:nvSpPr>
        <p:spPr>
          <a:xfrm>
            <a:off x="548640" y="3712464"/>
            <a:ext cx="3931920" cy="512064"/>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54" name="Shape 52"/>
          <p:cNvSpPr/>
          <p:nvPr/>
        </p:nvSpPr>
        <p:spPr>
          <a:xfrm>
            <a:off x="548640" y="3712464"/>
            <a:ext cx="54864" cy="512064"/>
          </a:xfrm>
          <a:prstGeom prst="rect">
            <a:avLst/>
          </a:prstGeom>
          <a:solidFill>
            <a:srgbClr val="28B894"/>
          </a:solidFill>
          <a:ln/>
        </p:spPr>
      </p:sp>
      <p:sp>
        <p:nvSpPr>
          <p:cNvPr id="55" name="Shape 53"/>
          <p:cNvSpPr/>
          <p:nvPr/>
        </p:nvSpPr>
        <p:spPr>
          <a:xfrm>
            <a:off x="640080" y="3767328"/>
            <a:ext cx="411480" cy="411480"/>
          </a:xfrm>
          <a:prstGeom prst="ellipse">
            <a:avLst/>
          </a:prstGeom>
          <a:solidFill>
            <a:srgbClr val="5A6B7F"/>
          </a:solidFill>
          <a:ln/>
        </p:spPr>
      </p:sp>
      <p:sp>
        <p:nvSpPr>
          <p:cNvPr id="56" name="Text 54"/>
          <p:cNvSpPr/>
          <p:nvPr/>
        </p:nvSpPr>
        <p:spPr>
          <a:xfrm>
            <a:off x="640080" y="376732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09</a:t>
            </a:r>
            <a:endParaRPr lang="en-US" sz="1400" dirty="0"/>
          </a:p>
        </p:txBody>
      </p:sp>
      <p:sp>
        <p:nvSpPr>
          <p:cNvPr id="57" name="Text 55"/>
          <p:cNvSpPr/>
          <p:nvPr/>
        </p:nvSpPr>
        <p:spPr>
          <a:xfrm>
            <a:off x="1170432" y="3730752"/>
            <a:ext cx="1737360" cy="457200"/>
          </a:xfrm>
          <a:prstGeom prst="rect">
            <a:avLst/>
          </a:prstGeom>
          <a:noFill/>
          <a:ln/>
        </p:spPr>
        <p:txBody>
          <a:bodyPr wrap="square" lIns="0" tIns="0" rIns="0" bIns="0" rtlCol="0" anchor="ctr"/>
          <a:lstStyle/>
          <a:p>
            <a:pPr indent="0" marL="0">
              <a:buNone/>
            </a:pPr>
            <a:r>
              <a:rPr lang="en-US" sz="1050" b="1" dirty="0">
                <a:solidFill>
                  <a:srgbClr val="28B894"/>
                </a:solidFill>
                <a:latin typeface="Microsoft YaHei" pitchFamily="34" charset="0"/>
                <a:ea typeface="Microsoft YaHei" pitchFamily="34" charset="-122"/>
                <a:cs typeface="Microsoft YaHei" pitchFamily="34" charset="-120"/>
              </a:rPr>
              <a:t>Find Skills</a:t>
            </a:r>
            <a:endParaRPr lang="en-US" sz="1050" dirty="0"/>
          </a:p>
        </p:txBody>
      </p:sp>
      <p:sp>
        <p:nvSpPr>
          <p:cNvPr id="58" name="Text 56"/>
          <p:cNvSpPr/>
          <p:nvPr/>
        </p:nvSpPr>
        <p:spPr>
          <a:xfrm>
            <a:off x="2880360" y="3730752"/>
            <a:ext cx="1508760" cy="457200"/>
          </a:xfrm>
          <a:prstGeom prst="rect">
            <a:avLst/>
          </a:prstGeom>
          <a:noFill/>
          <a:ln/>
        </p:spPr>
        <p:txBody>
          <a:bodyPr wrap="square" lIns="0" tIns="0" rIns="0" bIns="0" rtlCol="0" anchor="ctr"/>
          <a:lstStyle/>
          <a:p>
            <a:pPr indent="0" marL="0">
              <a:buNone/>
            </a:pPr>
            <a:r>
              <a:rPr lang="en-US" sz="900" dirty="0">
                <a:solidFill>
                  <a:srgbClr val="2C3E50"/>
                </a:solidFill>
                <a:latin typeface="Microsoft YaHei" pitchFamily="34" charset="0"/>
                <a:ea typeface="Microsoft YaHei" pitchFamily="34" charset="-122"/>
                <a:cs typeface="Microsoft YaHei" pitchFamily="34" charset="-120"/>
              </a:rPr>
              <a:t>技能查找辅助，提供智能向导</a:t>
            </a:r>
            <a:endParaRPr lang="en-US" sz="900" dirty="0"/>
          </a:p>
        </p:txBody>
      </p:sp>
      <p:sp>
        <p:nvSpPr>
          <p:cNvPr id="59" name="Shape 57"/>
          <p:cNvSpPr/>
          <p:nvPr/>
        </p:nvSpPr>
        <p:spPr>
          <a:xfrm>
            <a:off x="4709160" y="3712464"/>
            <a:ext cx="3931920" cy="512064"/>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60" name="Shape 58"/>
          <p:cNvSpPr/>
          <p:nvPr/>
        </p:nvSpPr>
        <p:spPr>
          <a:xfrm>
            <a:off x="4709160" y="3712464"/>
            <a:ext cx="54864" cy="512064"/>
          </a:xfrm>
          <a:prstGeom prst="rect">
            <a:avLst/>
          </a:prstGeom>
          <a:solidFill>
            <a:srgbClr val="2E9E83"/>
          </a:solidFill>
          <a:ln/>
        </p:spPr>
      </p:sp>
      <p:sp>
        <p:nvSpPr>
          <p:cNvPr id="61" name="Shape 59"/>
          <p:cNvSpPr/>
          <p:nvPr/>
        </p:nvSpPr>
        <p:spPr>
          <a:xfrm>
            <a:off x="4800600" y="3767328"/>
            <a:ext cx="411480" cy="411480"/>
          </a:xfrm>
          <a:prstGeom prst="ellipse">
            <a:avLst/>
          </a:prstGeom>
          <a:solidFill>
            <a:srgbClr val="5A6B7F"/>
          </a:solidFill>
          <a:ln/>
        </p:spPr>
      </p:sp>
      <p:sp>
        <p:nvSpPr>
          <p:cNvPr id="62" name="Text 60"/>
          <p:cNvSpPr/>
          <p:nvPr/>
        </p:nvSpPr>
        <p:spPr>
          <a:xfrm>
            <a:off x="4800600" y="376732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10</a:t>
            </a:r>
            <a:endParaRPr lang="en-US" sz="1400" dirty="0"/>
          </a:p>
        </p:txBody>
      </p:sp>
      <p:sp>
        <p:nvSpPr>
          <p:cNvPr id="63" name="Text 61"/>
          <p:cNvSpPr/>
          <p:nvPr/>
        </p:nvSpPr>
        <p:spPr>
          <a:xfrm>
            <a:off x="5330952" y="3730752"/>
            <a:ext cx="1737360" cy="457200"/>
          </a:xfrm>
          <a:prstGeom prst="rect">
            <a:avLst/>
          </a:prstGeom>
          <a:noFill/>
          <a:ln/>
        </p:spPr>
        <p:txBody>
          <a:bodyPr wrap="square" lIns="0" tIns="0" rIns="0" bIns="0" rtlCol="0" anchor="ctr"/>
          <a:lstStyle/>
          <a:p>
            <a:pPr indent="0" marL="0">
              <a:buNone/>
            </a:pPr>
            <a:r>
              <a:rPr lang="en-US" sz="1050" b="1" dirty="0">
                <a:solidFill>
                  <a:srgbClr val="28B894"/>
                </a:solidFill>
                <a:latin typeface="Microsoft YaHei" pitchFamily="34" charset="0"/>
                <a:ea typeface="Microsoft YaHei" pitchFamily="34" charset="-122"/>
                <a:cs typeface="Microsoft YaHei" pitchFamily="34" charset="-120"/>
              </a:rPr>
              <a:t>Frontend Design</a:t>
            </a:r>
            <a:endParaRPr lang="en-US" sz="1050" dirty="0"/>
          </a:p>
        </p:txBody>
      </p:sp>
      <p:sp>
        <p:nvSpPr>
          <p:cNvPr id="64" name="Text 62"/>
          <p:cNvSpPr/>
          <p:nvPr/>
        </p:nvSpPr>
        <p:spPr>
          <a:xfrm>
            <a:off x="7040880" y="3730752"/>
            <a:ext cx="1508760" cy="457200"/>
          </a:xfrm>
          <a:prstGeom prst="rect">
            <a:avLst/>
          </a:prstGeom>
          <a:noFill/>
          <a:ln/>
        </p:spPr>
        <p:txBody>
          <a:bodyPr wrap="square" lIns="0" tIns="0" rIns="0" bIns="0" rtlCol="0" anchor="ctr"/>
          <a:lstStyle/>
          <a:p>
            <a:pPr indent="0" marL="0">
              <a:buNone/>
            </a:pPr>
            <a:r>
              <a:rPr lang="en-US" sz="900" dirty="0">
                <a:solidFill>
                  <a:srgbClr val="2C3E50"/>
                </a:solidFill>
                <a:latin typeface="Microsoft YaHei" pitchFamily="34" charset="0"/>
                <a:ea typeface="Microsoft YaHei" pitchFamily="34" charset="-122"/>
                <a:cs typeface="Microsoft YaHei" pitchFamily="34" charset="-120"/>
              </a:rPr>
              <a:t>按自然语言描述生成前端原型代码</a:t>
            </a:r>
            <a:endParaRPr lang="en-US" sz="900" dirty="0"/>
          </a:p>
        </p:txBody>
      </p:sp>
      <p:sp>
        <p:nvSpPr>
          <p:cNvPr id="65" name="Shape 63"/>
          <p:cNvSpPr/>
          <p:nvPr/>
        </p:nvSpPr>
        <p:spPr>
          <a:xfrm>
            <a:off x="548640" y="4370832"/>
            <a:ext cx="8046720" cy="384048"/>
          </a:xfrm>
          <a:prstGeom prst="rect">
            <a:avLst/>
          </a:prstGeom>
          <a:solidFill>
            <a:srgbClr val="2C3E50"/>
          </a:solidFill>
          <a:ln/>
          <a:effectLst>
            <a:outerShdw sx="100000" sy="100000" kx="0" ky="0" algn="bl" rotWithShape="0" blurRad="76200" dist="25400" dir="8100000">
              <a:srgbClr val="000000">
                <a:alpha val="8000"/>
              </a:srgbClr>
            </a:outerShdw>
          </a:effectLst>
        </p:spPr>
      </p:sp>
      <p:sp>
        <p:nvSpPr>
          <p:cNvPr id="66" name="Text 64"/>
          <p:cNvSpPr/>
          <p:nvPr/>
        </p:nvSpPr>
        <p:spPr>
          <a:xfrm>
            <a:off x="731520" y="4370832"/>
            <a:ext cx="7680960" cy="384048"/>
          </a:xfrm>
          <a:prstGeom prst="rect">
            <a:avLst/>
          </a:prstGeom>
          <a:noFill/>
          <a:ln/>
        </p:spPr>
        <p:txBody>
          <a:bodyPr wrap="square" lIns="0" tIns="0" rIns="0" bIns="0" rtlCol="0" anchor="t"/>
          <a:lstStyle/>
          <a:p>
            <a:pPr indent="0" marL="0">
              <a:lnSpc>
                <a:spcPct val="125000"/>
              </a:lnSpc>
              <a:buNone/>
            </a:pPr>
            <a:r>
              <a:rPr lang="en-US" sz="1000" dirty="0">
                <a:solidFill>
                  <a:srgbClr val="E0F2EC"/>
                </a:solidFill>
                <a:latin typeface="Consolas" pitchFamily="34" charset="0"/>
                <a:ea typeface="Consolas" pitchFamily="34" charset="-122"/>
                <a:cs typeface="Consolas" pitchFamily="34" charset="-120"/>
              </a:rPr>
              <a:t>调用示例（实验 4.2）：请用 Web Search 搜索今天 AI 行业的三条重要新闻并给摘要。</a:t>
            </a:r>
            <a:endParaRPr lang="en-US" sz="1000" dirty="0"/>
          </a:p>
        </p:txBody>
      </p:sp>
      <p:sp>
        <p:nvSpPr>
          <p:cNvPr id="67" name="Text 65"/>
          <p:cNvSpPr/>
          <p:nvPr/>
        </p:nvSpPr>
        <p:spPr>
          <a:xfrm>
            <a:off x="548640" y="4828032"/>
            <a:ext cx="8046720" cy="274320"/>
          </a:xfrm>
          <a:prstGeom prst="rect">
            <a:avLst/>
          </a:prstGeom>
          <a:noFill/>
          <a:ln/>
        </p:spPr>
        <p:txBody>
          <a:bodyPr wrap="square" lIns="0" tIns="0" rIns="0" bIns="0" rtlCol="0" anchor="ctr"/>
          <a:lstStyle/>
          <a:p>
            <a:pPr indent="0" marL="0">
              <a:buNone/>
            </a:pPr>
            <a:r>
              <a:rPr lang="en-US" sz="800" dirty="0">
                <a:solidFill>
                  <a:srgbClr val="7F8C8D"/>
                </a:solidFill>
                <a:latin typeface="Microsoft YaHei" pitchFamily="34" charset="0"/>
                <a:ea typeface="Microsoft YaHei" pitchFamily="34" charset="-122"/>
                <a:cs typeface="Microsoft YaHei" pitchFamily="34" charset="-120"/>
              </a:rPr>
              <a:t>官方文档《tl_video_downloader》：https://www.workbuddy.cn/docs/workbuddy/From-Beginner-to-Expert-Guide/WorkBuddy-Zero-Cost-Skill-Top-10/tl_video_downloader</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8F6"/>
        </a:solidFill>
      </p:bgPr>
    </p:bg>
    <p:spTree>
      <p:nvGrpSpPr>
        <p:cNvPr id="1" name=""/>
        <p:cNvGrpSpPr/>
        <p:nvPr/>
      </p:nvGrpSpPr>
      <p:grpSpPr>
        <a:xfrm>
          <a:off x="0" y="0"/>
          <a:ext cx="0" cy="0"/>
          <a:chOff x="0" y="0"/>
          <a:chExt cx="0" cy="0"/>
        </a:xfrm>
      </p:grpSpPr>
      <p:sp>
        <p:nvSpPr>
          <p:cNvPr id="2" name="Text 0"/>
          <p:cNvSpPr/>
          <p:nvPr/>
        </p:nvSpPr>
        <p:spPr>
          <a:xfrm>
            <a:off x="548640" y="274320"/>
            <a:ext cx="8046720" cy="594360"/>
          </a:xfrm>
          <a:prstGeom prst="rect">
            <a:avLst/>
          </a:prstGeom>
          <a:noFill/>
          <a:ln/>
        </p:spPr>
        <p:txBody>
          <a:bodyPr wrap="square" lIns="0" tIns="0" rIns="0" bIns="0" rtlCol="0" anchor="ctr"/>
          <a:lstStyle/>
          <a:p>
            <a:pPr indent="0" marL="0">
              <a:buNone/>
            </a:pPr>
            <a:r>
              <a:rPr lang="en-US" sz="2600" b="1" dirty="0">
                <a:solidFill>
                  <a:srgbClr val="28B894"/>
                </a:solidFill>
                <a:latin typeface="Microsoft YaHei" pitchFamily="34" charset="0"/>
                <a:ea typeface="Microsoft YaHei" pitchFamily="34" charset="-122"/>
                <a:cs typeface="Microsoft YaHei" pitchFamily="34" charset="-120"/>
              </a:rPr>
              <a:t>技能应用最佳实践</a:t>
            </a:r>
            <a:endParaRPr lang="en-US" sz="2600" dirty="0"/>
          </a:p>
        </p:txBody>
      </p:sp>
      <p:sp>
        <p:nvSpPr>
          <p:cNvPr id="3" name="Shape 1"/>
          <p:cNvSpPr/>
          <p:nvPr/>
        </p:nvSpPr>
        <p:spPr>
          <a:xfrm>
            <a:off x="548640" y="868680"/>
            <a:ext cx="914400" cy="32004"/>
          </a:xfrm>
          <a:prstGeom prst="rect">
            <a:avLst/>
          </a:prstGeom>
          <a:solidFill>
            <a:srgbClr val="2E9E83"/>
          </a:solidFill>
          <a:ln/>
        </p:spPr>
      </p:sp>
      <p:sp>
        <p:nvSpPr>
          <p:cNvPr id="4" name="Shape 2"/>
          <p:cNvSpPr/>
          <p:nvPr/>
        </p:nvSpPr>
        <p:spPr>
          <a:xfrm>
            <a:off x="548640" y="1234440"/>
            <a:ext cx="3931920" cy="14173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5" name="Shape 3"/>
          <p:cNvSpPr/>
          <p:nvPr/>
        </p:nvSpPr>
        <p:spPr>
          <a:xfrm>
            <a:off x="548640" y="1234440"/>
            <a:ext cx="54864" cy="1417320"/>
          </a:xfrm>
          <a:prstGeom prst="rect">
            <a:avLst/>
          </a:prstGeom>
          <a:solidFill>
            <a:srgbClr val="28B894"/>
          </a:solidFill>
          <a:ln/>
        </p:spPr>
      </p:sp>
      <p:sp>
        <p:nvSpPr>
          <p:cNvPr id="6" name="Text 4"/>
          <p:cNvSpPr/>
          <p:nvPr/>
        </p:nvSpPr>
        <p:spPr>
          <a:xfrm>
            <a:off x="731520" y="1344168"/>
            <a:ext cx="3566160" cy="411480"/>
          </a:xfrm>
          <a:prstGeom prst="rect">
            <a:avLst/>
          </a:prstGeom>
          <a:noFill/>
          <a:ln/>
        </p:spPr>
        <p:txBody>
          <a:bodyPr wrap="square" lIns="0" tIns="0" rIns="0" bIns="0" rtlCol="0" anchor="ctr"/>
          <a:lstStyle/>
          <a:p>
            <a:pPr indent="0" marL="0">
              <a:buNone/>
            </a:pPr>
            <a:r>
              <a:rPr lang="en-US" sz="1400" b="1" dirty="0">
                <a:solidFill>
                  <a:srgbClr val="28B894"/>
                </a:solidFill>
                <a:latin typeface="Microsoft YaHei" pitchFamily="34" charset="0"/>
                <a:ea typeface="Microsoft YaHei" pitchFamily="34" charset="-122"/>
                <a:cs typeface="Microsoft YaHei" pitchFamily="34" charset="-120"/>
              </a:rPr>
              <a:t>仅启用当前相关技能</a:t>
            </a:r>
            <a:endParaRPr lang="en-US" sz="1400" dirty="0"/>
          </a:p>
        </p:txBody>
      </p:sp>
      <p:sp>
        <p:nvSpPr>
          <p:cNvPr id="7" name="Text 5"/>
          <p:cNvSpPr/>
          <p:nvPr/>
        </p:nvSpPr>
        <p:spPr>
          <a:xfrm>
            <a:off x="731520" y="1801368"/>
            <a:ext cx="3566160" cy="749808"/>
          </a:xfrm>
          <a:prstGeom prst="rect">
            <a:avLst/>
          </a:prstGeom>
          <a:noFill/>
          <a:ln/>
        </p:spPr>
        <p:txBody>
          <a:bodyPr wrap="square" lIns="0" tIns="0" rIns="0" bIns="0" rtlCol="0" anchor="t"/>
          <a:lstStyle/>
          <a:p>
            <a:pPr indent="0" marL="0">
              <a:lnSpc>
                <a:spcPct val="125000"/>
              </a:lnSpc>
              <a:buNone/>
            </a:pPr>
            <a:r>
              <a:rPr lang="en-US" sz="1050" dirty="0">
                <a:solidFill>
                  <a:srgbClr val="2C3E50"/>
                </a:solidFill>
                <a:latin typeface="Microsoft YaHei" pitchFamily="34" charset="0"/>
                <a:ea typeface="Microsoft YaHei" pitchFamily="34" charset="-122"/>
                <a:cs typeface="Microsoft YaHei" pitchFamily="34" charset="-120"/>
              </a:rPr>
              <a:t>同时开启过多技能会导致模型在判断调用哪个工具时产生混淆，增加延迟和出错率。请只启用当前任务所需的技能。</a:t>
            </a:r>
            <a:endParaRPr lang="en-US" sz="1050" dirty="0"/>
          </a:p>
        </p:txBody>
      </p:sp>
      <p:sp>
        <p:nvSpPr>
          <p:cNvPr id="8" name="Shape 6"/>
          <p:cNvSpPr/>
          <p:nvPr/>
        </p:nvSpPr>
        <p:spPr>
          <a:xfrm>
            <a:off x="4709160" y="1234440"/>
            <a:ext cx="3931920" cy="14173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9" name="Shape 7"/>
          <p:cNvSpPr/>
          <p:nvPr/>
        </p:nvSpPr>
        <p:spPr>
          <a:xfrm>
            <a:off x="4709160" y="1234440"/>
            <a:ext cx="54864" cy="1417320"/>
          </a:xfrm>
          <a:prstGeom prst="rect">
            <a:avLst/>
          </a:prstGeom>
          <a:solidFill>
            <a:srgbClr val="2E9E83"/>
          </a:solidFill>
          <a:ln/>
        </p:spPr>
      </p:sp>
      <p:sp>
        <p:nvSpPr>
          <p:cNvPr id="10" name="Text 8"/>
          <p:cNvSpPr/>
          <p:nvPr/>
        </p:nvSpPr>
        <p:spPr>
          <a:xfrm>
            <a:off x="4892040" y="1344168"/>
            <a:ext cx="3566160" cy="411480"/>
          </a:xfrm>
          <a:prstGeom prst="rect">
            <a:avLst/>
          </a:prstGeom>
          <a:noFill/>
          <a:ln/>
        </p:spPr>
        <p:txBody>
          <a:bodyPr wrap="square" lIns="0" tIns="0" rIns="0" bIns="0" rtlCol="0" anchor="ctr"/>
          <a:lstStyle/>
          <a:p>
            <a:pPr indent="0" marL="0">
              <a:buNone/>
            </a:pPr>
            <a:r>
              <a:rPr lang="en-US" sz="1400" b="1" dirty="0">
                <a:solidFill>
                  <a:srgbClr val="28B894"/>
                </a:solidFill>
                <a:latin typeface="Microsoft YaHei" pitchFamily="34" charset="0"/>
                <a:ea typeface="Microsoft YaHei" pitchFamily="34" charset="-122"/>
                <a:cs typeface="Microsoft YaHei" pitchFamily="34" charset="-120"/>
              </a:rPr>
              <a:t>按场景切换</a:t>
            </a:r>
            <a:endParaRPr lang="en-US" sz="1400" dirty="0"/>
          </a:p>
        </p:txBody>
      </p:sp>
      <p:sp>
        <p:nvSpPr>
          <p:cNvPr id="11" name="Text 9"/>
          <p:cNvSpPr/>
          <p:nvPr/>
        </p:nvSpPr>
        <p:spPr>
          <a:xfrm>
            <a:off x="4892040" y="1801368"/>
            <a:ext cx="3566160" cy="749808"/>
          </a:xfrm>
          <a:prstGeom prst="rect">
            <a:avLst/>
          </a:prstGeom>
          <a:noFill/>
          <a:ln/>
        </p:spPr>
        <p:txBody>
          <a:bodyPr wrap="square" lIns="0" tIns="0" rIns="0" bIns="0" rtlCol="0" anchor="t"/>
          <a:lstStyle/>
          <a:p>
            <a:pPr indent="0" marL="0">
              <a:lnSpc>
                <a:spcPct val="125000"/>
              </a:lnSpc>
              <a:buNone/>
            </a:pPr>
            <a:r>
              <a:rPr lang="en-US" sz="1050" dirty="0">
                <a:solidFill>
                  <a:srgbClr val="2C3E50"/>
                </a:solidFill>
                <a:latin typeface="Microsoft YaHei" pitchFamily="34" charset="0"/>
                <a:ea typeface="Microsoft YaHei" pitchFamily="34" charset="-122"/>
                <a:cs typeface="Microsoft YaHei" pitchFamily="34" charset="-120"/>
              </a:rPr>
              <a:t>为不同的工作场景（如开发、写作、数据分析）组合开启相应的技能组，保持工作空间的纯净。</a:t>
            </a:r>
            <a:endParaRPr lang="en-US" sz="1050" dirty="0"/>
          </a:p>
        </p:txBody>
      </p:sp>
      <p:sp>
        <p:nvSpPr>
          <p:cNvPr id="12" name="Shape 10"/>
          <p:cNvSpPr/>
          <p:nvPr/>
        </p:nvSpPr>
        <p:spPr>
          <a:xfrm>
            <a:off x="548640" y="2788920"/>
            <a:ext cx="3931920" cy="14173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3" name="Shape 11"/>
          <p:cNvSpPr/>
          <p:nvPr/>
        </p:nvSpPr>
        <p:spPr>
          <a:xfrm>
            <a:off x="548640" y="2788920"/>
            <a:ext cx="54864" cy="1417320"/>
          </a:xfrm>
          <a:prstGeom prst="rect">
            <a:avLst/>
          </a:prstGeom>
          <a:solidFill>
            <a:srgbClr val="5A6B7F"/>
          </a:solidFill>
          <a:ln/>
        </p:spPr>
      </p:sp>
      <p:sp>
        <p:nvSpPr>
          <p:cNvPr id="14" name="Text 12"/>
          <p:cNvSpPr/>
          <p:nvPr/>
        </p:nvSpPr>
        <p:spPr>
          <a:xfrm>
            <a:off x="731520" y="2898648"/>
            <a:ext cx="3566160" cy="411480"/>
          </a:xfrm>
          <a:prstGeom prst="rect">
            <a:avLst/>
          </a:prstGeom>
          <a:noFill/>
          <a:ln/>
        </p:spPr>
        <p:txBody>
          <a:bodyPr wrap="square" lIns="0" tIns="0" rIns="0" bIns="0" rtlCol="0" anchor="ctr"/>
          <a:lstStyle/>
          <a:p>
            <a:pPr indent="0" marL="0">
              <a:buNone/>
            </a:pPr>
            <a:r>
              <a:rPr lang="en-US" sz="1400" b="1" dirty="0">
                <a:solidFill>
                  <a:srgbClr val="28B894"/>
                </a:solidFill>
                <a:latin typeface="Microsoft YaHei" pitchFamily="34" charset="0"/>
                <a:ea typeface="Microsoft YaHei" pitchFamily="34" charset="-122"/>
                <a:cs typeface="Microsoft YaHei" pitchFamily="34" charset="-120"/>
              </a:rPr>
              <a:t>单一职责</a:t>
            </a:r>
            <a:endParaRPr lang="en-US" sz="1400" dirty="0"/>
          </a:p>
        </p:txBody>
      </p:sp>
      <p:sp>
        <p:nvSpPr>
          <p:cNvPr id="15" name="Text 13"/>
          <p:cNvSpPr/>
          <p:nvPr/>
        </p:nvSpPr>
        <p:spPr>
          <a:xfrm>
            <a:off x="731520" y="3355848"/>
            <a:ext cx="3566160" cy="749808"/>
          </a:xfrm>
          <a:prstGeom prst="rect">
            <a:avLst/>
          </a:prstGeom>
          <a:noFill/>
          <a:ln/>
        </p:spPr>
        <p:txBody>
          <a:bodyPr wrap="square" lIns="0" tIns="0" rIns="0" bIns="0" rtlCol="0" anchor="t"/>
          <a:lstStyle/>
          <a:p>
            <a:pPr indent="0" marL="0">
              <a:lnSpc>
                <a:spcPct val="125000"/>
              </a:lnSpc>
              <a:buNone/>
            </a:pPr>
            <a:r>
              <a:rPr lang="en-US" sz="1050" dirty="0">
                <a:solidFill>
                  <a:srgbClr val="2C3E50"/>
                </a:solidFill>
                <a:latin typeface="Microsoft YaHei" pitchFamily="34" charset="0"/>
                <a:ea typeface="Microsoft YaHei" pitchFamily="34" charset="-122"/>
                <a:cs typeface="Microsoft YaHei" pitchFamily="34" charset="-120"/>
              </a:rPr>
              <a:t>在使用或开发自定义技能时，确保每个技能包或工具函数只专注解决一个具体问题，避免功能过度耦合。</a:t>
            </a:r>
            <a:endParaRPr lang="en-US" sz="1050" dirty="0"/>
          </a:p>
        </p:txBody>
      </p:sp>
      <p:sp>
        <p:nvSpPr>
          <p:cNvPr id="16" name="Shape 14"/>
          <p:cNvSpPr/>
          <p:nvPr/>
        </p:nvSpPr>
        <p:spPr>
          <a:xfrm>
            <a:off x="4709160" y="2788920"/>
            <a:ext cx="3931920" cy="14173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7" name="Shape 15"/>
          <p:cNvSpPr/>
          <p:nvPr/>
        </p:nvSpPr>
        <p:spPr>
          <a:xfrm>
            <a:off x="4709160" y="2788920"/>
            <a:ext cx="54864" cy="1417320"/>
          </a:xfrm>
          <a:prstGeom prst="rect">
            <a:avLst/>
          </a:prstGeom>
          <a:solidFill>
            <a:srgbClr val="A8895F"/>
          </a:solidFill>
          <a:ln/>
        </p:spPr>
      </p:sp>
      <p:sp>
        <p:nvSpPr>
          <p:cNvPr id="18" name="Text 16"/>
          <p:cNvSpPr/>
          <p:nvPr/>
        </p:nvSpPr>
        <p:spPr>
          <a:xfrm>
            <a:off x="4892040" y="2898648"/>
            <a:ext cx="3566160" cy="411480"/>
          </a:xfrm>
          <a:prstGeom prst="rect">
            <a:avLst/>
          </a:prstGeom>
          <a:noFill/>
          <a:ln/>
        </p:spPr>
        <p:txBody>
          <a:bodyPr wrap="square" lIns="0" tIns="0" rIns="0" bIns="0" rtlCol="0" anchor="ctr"/>
          <a:lstStyle/>
          <a:p>
            <a:pPr indent="0" marL="0">
              <a:buNone/>
            </a:pPr>
            <a:r>
              <a:rPr lang="en-US" sz="1400" b="1" dirty="0">
                <a:solidFill>
                  <a:srgbClr val="28B894"/>
                </a:solidFill>
                <a:latin typeface="Microsoft YaHei" pitchFamily="34" charset="0"/>
                <a:ea typeface="Microsoft YaHei" pitchFamily="34" charset="-122"/>
                <a:cs typeface="Microsoft YaHei" pitchFamily="34" charset="-120"/>
              </a:rPr>
              <a:t>触发清晰</a:t>
            </a:r>
            <a:endParaRPr lang="en-US" sz="1400" dirty="0"/>
          </a:p>
        </p:txBody>
      </p:sp>
      <p:sp>
        <p:nvSpPr>
          <p:cNvPr id="19" name="Text 17"/>
          <p:cNvSpPr/>
          <p:nvPr/>
        </p:nvSpPr>
        <p:spPr>
          <a:xfrm>
            <a:off x="4892040" y="3355848"/>
            <a:ext cx="3566160" cy="749808"/>
          </a:xfrm>
          <a:prstGeom prst="rect">
            <a:avLst/>
          </a:prstGeom>
          <a:noFill/>
          <a:ln/>
        </p:spPr>
        <p:txBody>
          <a:bodyPr wrap="square" lIns="0" tIns="0" rIns="0" bIns="0" rtlCol="0" anchor="t"/>
          <a:lstStyle/>
          <a:p>
            <a:pPr indent="0" marL="0">
              <a:lnSpc>
                <a:spcPct val="125000"/>
              </a:lnSpc>
              <a:buNone/>
            </a:pPr>
            <a:r>
              <a:rPr lang="en-US" sz="1050" dirty="0">
                <a:solidFill>
                  <a:srgbClr val="2C3E50"/>
                </a:solidFill>
                <a:latin typeface="Microsoft YaHei" pitchFamily="34" charset="0"/>
                <a:ea typeface="Microsoft YaHei" pitchFamily="34" charset="-122"/>
                <a:cs typeface="Microsoft YaHei" pitchFamily="34" charset="-120"/>
              </a:rPr>
              <a:t>在对话中调用技能时，使用明确的动词和清晰的参数描述，帮助 AI 更精准地命中你想要调用的技能。</a:t>
            </a:r>
            <a:endParaRPr lang="en-US" sz="1050" dirty="0"/>
          </a:p>
        </p:txBody>
      </p:sp>
      <p:sp>
        <p:nvSpPr>
          <p:cNvPr id="20" name="Shape 18"/>
          <p:cNvSpPr/>
          <p:nvPr/>
        </p:nvSpPr>
        <p:spPr>
          <a:xfrm>
            <a:off x="548640" y="4434840"/>
            <a:ext cx="8046720" cy="457200"/>
          </a:xfrm>
          <a:prstGeom prst="rect">
            <a:avLst/>
          </a:prstGeom>
          <a:solidFill>
            <a:srgbClr val="E7F3EE"/>
          </a:solidFill>
          <a:ln/>
        </p:spPr>
      </p:sp>
      <p:sp>
        <p:nvSpPr>
          <p:cNvPr id="21" name="Shape 19"/>
          <p:cNvSpPr/>
          <p:nvPr/>
        </p:nvSpPr>
        <p:spPr>
          <a:xfrm>
            <a:off x="548640" y="4434840"/>
            <a:ext cx="45720" cy="457200"/>
          </a:xfrm>
          <a:prstGeom prst="rect">
            <a:avLst/>
          </a:prstGeom>
          <a:solidFill>
            <a:srgbClr val="2E9E83"/>
          </a:solidFill>
          <a:ln/>
        </p:spPr>
      </p:sp>
      <p:sp>
        <p:nvSpPr>
          <p:cNvPr id="22" name="Text 20"/>
          <p:cNvSpPr/>
          <p:nvPr/>
        </p:nvSpPr>
        <p:spPr>
          <a:xfrm>
            <a:off x="777240" y="4434840"/>
            <a:ext cx="7589520" cy="457200"/>
          </a:xfrm>
          <a:prstGeom prst="rect">
            <a:avLst/>
          </a:prstGeom>
          <a:noFill/>
          <a:ln/>
        </p:spPr>
        <p:txBody>
          <a:bodyPr wrap="square" lIns="0" tIns="0" rIns="0" bIns="0" rtlCol="0" anchor="ctr"/>
          <a:lstStyle/>
          <a:p>
            <a:pPr indent="0" marL="0">
              <a:buNone/>
            </a:pPr>
            <a:r>
              <a:rPr lang="en-US" sz="1200" dirty="0">
                <a:solidFill>
                  <a:srgbClr val="2C3E50"/>
                </a:solidFill>
                <a:latin typeface="Microsoft YaHei" pitchFamily="34" charset="0"/>
                <a:ea typeface="Microsoft YaHei" pitchFamily="34" charset="-122"/>
                <a:cs typeface="Microsoft YaHei" pitchFamily="34" charset="-120"/>
              </a:rPr>
              <a:t>四条原则一句话：技能是“工具箱”，用得精、用得准，才能又快又稳。</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8F73"/>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2E9E83"/>
          </a:solidFill>
          <a:ln/>
        </p:spPr>
      </p:sp>
      <p:sp>
        <p:nvSpPr>
          <p:cNvPr id="3" name="Shape 1"/>
          <p:cNvSpPr/>
          <p:nvPr/>
        </p:nvSpPr>
        <p:spPr>
          <a:xfrm>
            <a:off x="0" y="5097780"/>
            <a:ext cx="9144000" cy="45720"/>
          </a:xfrm>
          <a:prstGeom prst="rect">
            <a:avLst/>
          </a:prstGeom>
          <a:solidFill>
            <a:srgbClr val="2E9E83"/>
          </a:solidFill>
          <a:ln/>
        </p:spPr>
      </p:sp>
      <p:sp>
        <p:nvSpPr>
          <p:cNvPr id="4" name="Text 2"/>
          <p:cNvSpPr/>
          <p:nvPr/>
        </p:nvSpPr>
        <p:spPr>
          <a:xfrm>
            <a:off x="6035040" y="91440"/>
            <a:ext cx="3108960" cy="3108960"/>
          </a:xfrm>
          <a:prstGeom prst="rect">
            <a:avLst/>
          </a:prstGeom>
          <a:noFill/>
          <a:ln/>
        </p:spPr>
        <p:txBody>
          <a:bodyPr wrap="square" lIns="0" tIns="0" rIns="0" bIns="0" rtlCol="0" anchor="ctr"/>
          <a:lstStyle/>
          <a:p>
            <a:pPr algn="ctr" indent="0" marL="0">
              <a:buNone/>
            </a:pPr>
            <a:r>
              <a:rPr lang="en-US" sz="15000" b="1" dirty="0">
                <a:solidFill>
                  <a:srgbClr val="28B894">
                    <a:alpha val="18000"/>
                  </a:srgbClr>
                </a:solidFill>
                <a:latin typeface="Arial" pitchFamily="34" charset="0"/>
                <a:ea typeface="Arial" pitchFamily="34" charset="-122"/>
                <a:cs typeface="Arial" pitchFamily="34" charset="-120"/>
              </a:rPr>
              <a:t>4.3</a:t>
            </a:r>
            <a:endParaRPr lang="en-US" sz="15000" dirty="0"/>
          </a:p>
        </p:txBody>
      </p:sp>
      <p:sp>
        <p:nvSpPr>
          <p:cNvPr id="5" name="Shape 3"/>
          <p:cNvSpPr/>
          <p:nvPr/>
        </p:nvSpPr>
        <p:spPr>
          <a:xfrm>
            <a:off x="7223760" y="-1188720"/>
            <a:ext cx="3291840" cy="3291840"/>
          </a:xfrm>
          <a:prstGeom prst="ellipse">
            <a:avLst/>
          </a:prstGeom>
          <a:solidFill>
            <a:srgbClr val="FFFFFF">
              <a:alpha val="7000"/>
            </a:srgbClr>
          </a:solidFill>
          <a:ln w="15240">
            <a:solidFill>
              <a:srgbClr val="B8E8DC">
                <a:alpha val="40000"/>
              </a:srgbClr>
            </a:solidFill>
            <a:prstDash val="solid"/>
          </a:ln>
        </p:spPr>
      </p:sp>
      <p:sp>
        <p:nvSpPr>
          <p:cNvPr id="6" name="Shape 4"/>
          <p:cNvSpPr/>
          <p:nvPr/>
        </p:nvSpPr>
        <p:spPr>
          <a:xfrm>
            <a:off x="7772400" y="-640080"/>
            <a:ext cx="2194560" cy="2194560"/>
          </a:xfrm>
          <a:prstGeom prst="ellipse">
            <a:avLst/>
          </a:prstGeom>
          <a:solidFill>
            <a:srgbClr val="28B894">
              <a:alpha val="13000"/>
            </a:srgbClr>
          </a:solidFill>
          <a:ln w="12700">
            <a:solidFill>
              <a:srgbClr val="B8E8DC">
                <a:alpha val="35000"/>
              </a:srgbClr>
            </a:solidFill>
            <a:prstDash val="solid"/>
          </a:ln>
        </p:spPr>
      </p:sp>
      <p:sp>
        <p:nvSpPr>
          <p:cNvPr id="7" name="Shape 5"/>
          <p:cNvSpPr/>
          <p:nvPr/>
        </p:nvSpPr>
        <p:spPr>
          <a:xfrm>
            <a:off x="-1188720" y="3749040"/>
            <a:ext cx="2560320" cy="2560320"/>
          </a:xfrm>
          <a:prstGeom prst="ellipse">
            <a:avLst/>
          </a:prstGeom>
          <a:solidFill>
            <a:srgbClr val="2E9E83">
              <a:alpha val="15000"/>
            </a:srgbClr>
          </a:solidFill>
          <a:ln w="12700">
            <a:solidFill>
              <a:srgbClr val="B8E8DC">
                <a:alpha val="40000"/>
              </a:srgbClr>
            </a:solidFill>
            <a:prstDash val="solid"/>
          </a:ln>
        </p:spPr>
      </p:sp>
      <p:sp>
        <p:nvSpPr>
          <p:cNvPr id="8" name="Shape 6"/>
          <p:cNvSpPr/>
          <p:nvPr/>
        </p:nvSpPr>
        <p:spPr>
          <a:xfrm>
            <a:off x="502920" y="457200"/>
            <a:ext cx="292608" cy="292608"/>
          </a:xfrm>
          <a:prstGeom prst="ellipse">
            <a:avLst/>
          </a:prstGeom>
          <a:solidFill>
            <a:srgbClr val="B8E8DC">
              <a:alpha val="45000"/>
            </a:srgbClr>
          </a:solidFill>
          <a:ln/>
        </p:spPr>
      </p:sp>
      <p:sp>
        <p:nvSpPr>
          <p:cNvPr id="9" name="Shape 7"/>
          <p:cNvSpPr/>
          <p:nvPr/>
        </p:nvSpPr>
        <p:spPr>
          <a:xfrm>
            <a:off x="731520" y="914400"/>
            <a:ext cx="64008" cy="2011680"/>
          </a:xfrm>
          <a:prstGeom prst="rect">
            <a:avLst/>
          </a:prstGeom>
          <a:solidFill>
            <a:srgbClr val="B8E8DC"/>
          </a:solidFill>
          <a:ln/>
        </p:spPr>
      </p:sp>
      <p:sp>
        <p:nvSpPr>
          <p:cNvPr id="10" name="Text 8"/>
          <p:cNvSpPr/>
          <p:nvPr/>
        </p:nvSpPr>
        <p:spPr>
          <a:xfrm>
            <a:off x="1097280" y="822960"/>
            <a:ext cx="2286000" cy="822960"/>
          </a:xfrm>
          <a:prstGeom prst="rect">
            <a:avLst/>
          </a:prstGeom>
          <a:noFill/>
          <a:ln/>
        </p:spPr>
        <p:txBody>
          <a:bodyPr wrap="square" lIns="0" tIns="0" rIns="0" bIns="0" rtlCol="0" anchor="ctr"/>
          <a:lstStyle/>
          <a:p>
            <a:pPr indent="0" marL="0">
              <a:buNone/>
            </a:pPr>
            <a:r>
              <a:rPr lang="en-US" sz="3200" b="1" dirty="0">
                <a:solidFill>
                  <a:srgbClr val="B8E8DC"/>
                </a:solidFill>
                <a:latin typeface="Microsoft YaHei" pitchFamily="34" charset="0"/>
                <a:ea typeface="Microsoft YaHei" pitchFamily="34" charset="-122"/>
                <a:cs typeface="Microsoft YaHei" pitchFamily="34" charset="-120"/>
              </a:rPr>
              <a:t>4.3</a:t>
            </a:r>
            <a:endParaRPr lang="en-US" sz="3200" dirty="0"/>
          </a:p>
        </p:txBody>
      </p:sp>
      <p:sp>
        <p:nvSpPr>
          <p:cNvPr id="11" name="Text 9"/>
          <p:cNvSpPr/>
          <p:nvPr/>
        </p:nvSpPr>
        <p:spPr>
          <a:xfrm>
            <a:off x="1097280" y="1691640"/>
            <a:ext cx="6858000" cy="731520"/>
          </a:xfrm>
          <a:prstGeom prst="rect">
            <a:avLst/>
          </a:prstGeom>
          <a:noFill/>
          <a:ln/>
        </p:spPr>
        <p:txBody>
          <a:bodyPr wrap="square" lIns="0" tIns="0" rIns="0" bIns="0" rtlCol="0" anchor="ctr"/>
          <a:lstStyle/>
          <a:p>
            <a:pPr indent="0" marL="0">
              <a:buNone/>
            </a:pPr>
            <a:r>
              <a:rPr lang="en-US" sz="2400" b="1" dirty="0">
                <a:solidFill>
                  <a:srgbClr val="FFFFFF"/>
                </a:solidFill>
                <a:latin typeface="Microsoft YaHei" pitchFamily="34" charset="0"/>
                <a:ea typeface="Microsoft YaHei" pitchFamily="34" charset="-122"/>
                <a:cs typeface="Microsoft YaHei" pitchFamily="34" charset="-120"/>
              </a:rPr>
              <a:t>专家与专家团</a:t>
            </a:r>
            <a:endParaRPr lang="en-US" sz="2400" dirty="0"/>
          </a:p>
        </p:txBody>
      </p:sp>
      <p:sp>
        <p:nvSpPr>
          <p:cNvPr id="12" name="Shape 10"/>
          <p:cNvSpPr/>
          <p:nvPr/>
        </p:nvSpPr>
        <p:spPr>
          <a:xfrm>
            <a:off x="1188720" y="2871216"/>
            <a:ext cx="164592" cy="164592"/>
          </a:xfrm>
          <a:prstGeom prst="ellipse">
            <a:avLst/>
          </a:prstGeom>
          <a:solidFill>
            <a:srgbClr val="28B894"/>
          </a:solidFill>
          <a:ln/>
        </p:spPr>
      </p:sp>
      <p:sp>
        <p:nvSpPr>
          <p:cNvPr id="13" name="Text 11"/>
          <p:cNvSpPr/>
          <p:nvPr/>
        </p:nvSpPr>
        <p:spPr>
          <a:xfrm>
            <a:off x="1508760" y="2743200"/>
            <a:ext cx="6766560" cy="411480"/>
          </a:xfrm>
          <a:prstGeom prst="rect">
            <a:avLst/>
          </a:prstGeom>
          <a:noFill/>
          <a:ln/>
        </p:spPr>
        <p:txBody>
          <a:bodyPr wrap="square" lIns="0" tIns="0" rIns="0" bIns="0" rtlCol="0" anchor="ctr"/>
          <a:lstStyle/>
          <a:p>
            <a:pPr indent="0" marL="0">
              <a:buNone/>
            </a:pPr>
            <a:r>
              <a:rPr lang="en-US" sz="1500" dirty="0">
                <a:solidFill>
                  <a:srgbClr val="DDF2EC"/>
                </a:solidFill>
                <a:latin typeface="Microsoft YaHei" pitchFamily="34" charset="0"/>
                <a:ea typeface="Microsoft YaHei" pitchFamily="34" charset="-122"/>
                <a:cs typeface="Microsoft YaHei" pitchFamily="34" charset="-120"/>
              </a:rPr>
              <a:t>专家（Agent）：独立人设 + 专属方法论 + 特定工具链，单兵作战</a:t>
            </a:r>
            <a:endParaRPr lang="en-US" sz="1500" dirty="0"/>
          </a:p>
        </p:txBody>
      </p:sp>
      <p:sp>
        <p:nvSpPr>
          <p:cNvPr id="14" name="Shape 12"/>
          <p:cNvSpPr/>
          <p:nvPr/>
        </p:nvSpPr>
        <p:spPr>
          <a:xfrm>
            <a:off x="1188720" y="3328416"/>
            <a:ext cx="164592" cy="164592"/>
          </a:xfrm>
          <a:prstGeom prst="ellipse">
            <a:avLst/>
          </a:prstGeom>
          <a:solidFill>
            <a:srgbClr val="28B894"/>
          </a:solidFill>
          <a:ln/>
        </p:spPr>
      </p:sp>
      <p:sp>
        <p:nvSpPr>
          <p:cNvPr id="15" name="Text 13"/>
          <p:cNvSpPr/>
          <p:nvPr/>
        </p:nvSpPr>
        <p:spPr>
          <a:xfrm>
            <a:off x="1508760" y="3200400"/>
            <a:ext cx="6766560" cy="411480"/>
          </a:xfrm>
          <a:prstGeom prst="rect">
            <a:avLst/>
          </a:prstGeom>
          <a:noFill/>
          <a:ln/>
        </p:spPr>
        <p:txBody>
          <a:bodyPr wrap="square" lIns="0" tIns="0" rIns="0" bIns="0" rtlCol="0" anchor="ctr"/>
          <a:lstStyle/>
          <a:p>
            <a:pPr indent="0" marL="0">
              <a:buNone/>
            </a:pPr>
            <a:r>
              <a:rPr lang="en-US" sz="1500" dirty="0">
                <a:solidFill>
                  <a:srgbClr val="DDF2EC"/>
                </a:solidFill>
                <a:latin typeface="Microsoft YaHei" pitchFamily="34" charset="0"/>
                <a:ea typeface="Microsoft YaHei" pitchFamily="34" charset="-122"/>
                <a:cs typeface="Microsoft YaHei" pitchFamily="34" charset="-120"/>
              </a:rPr>
              <a:t>专家团（Team）：“团长 + 多专家”的 Multi-Agent 协作团队，攻坚复杂项目</a:t>
            </a:r>
            <a:endParaRPr lang="en-US" sz="1500" dirty="0"/>
          </a:p>
        </p:txBody>
      </p:sp>
      <p:sp>
        <p:nvSpPr>
          <p:cNvPr id="16" name="Shape 14"/>
          <p:cNvSpPr/>
          <p:nvPr/>
        </p:nvSpPr>
        <p:spPr>
          <a:xfrm>
            <a:off x="1188720" y="3785616"/>
            <a:ext cx="164592" cy="164592"/>
          </a:xfrm>
          <a:prstGeom prst="ellipse">
            <a:avLst/>
          </a:prstGeom>
          <a:solidFill>
            <a:srgbClr val="28B894"/>
          </a:solidFill>
          <a:ln/>
        </p:spPr>
      </p:sp>
      <p:sp>
        <p:nvSpPr>
          <p:cNvPr id="17" name="Text 15"/>
          <p:cNvSpPr/>
          <p:nvPr/>
        </p:nvSpPr>
        <p:spPr>
          <a:xfrm>
            <a:off x="1508760" y="3657600"/>
            <a:ext cx="6766560" cy="411480"/>
          </a:xfrm>
          <a:prstGeom prst="rect">
            <a:avLst/>
          </a:prstGeom>
          <a:noFill/>
          <a:ln/>
        </p:spPr>
        <p:txBody>
          <a:bodyPr wrap="square" lIns="0" tIns="0" rIns="0" bIns="0" rtlCol="0" anchor="ctr"/>
          <a:lstStyle/>
          <a:p>
            <a:pPr indent="0" marL="0">
              <a:buNone/>
            </a:pPr>
            <a:r>
              <a:rPr lang="en-US" sz="1500" dirty="0">
                <a:solidFill>
                  <a:srgbClr val="DDF2EC"/>
                </a:solidFill>
                <a:latin typeface="Microsoft YaHei" pitchFamily="34" charset="0"/>
                <a:ea typeface="Microsoft YaHei" pitchFamily="34" charset="-122"/>
                <a:cs typeface="Microsoft YaHei" pitchFamily="34" charset="-120"/>
              </a:rPr>
              <a:t>Skill、专家、专家团的能力进阶链与一句话速记</a:t>
            </a:r>
            <a:endParaRPr lang="en-US" sz="1500" dirty="0"/>
          </a:p>
        </p:txBody>
      </p:sp>
      <p:sp>
        <p:nvSpPr>
          <p:cNvPr id="18" name="Shape 16"/>
          <p:cNvSpPr/>
          <p:nvPr/>
        </p:nvSpPr>
        <p:spPr>
          <a:xfrm>
            <a:off x="1188720" y="4242816"/>
            <a:ext cx="164592" cy="164592"/>
          </a:xfrm>
          <a:prstGeom prst="ellipse">
            <a:avLst/>
          </a:prstGeom>
          <a:solidFill>
            <a:srgbClr val="28B894"/>
          </a:solidFill>
          <a:ln/>
        </p:spPr>
      </p:sp>
      <p:sp>
        <p:nvSpPr>
          <p:cNvPr id="19" name="Text 17"/>
          <p:cNvSpPr/>
          <p:nvPr/>
        </p:nvSpPr>
        <p:spPr>
          <a:xfrm>
            <a:off x="1508760" y="4114800"/>
            <a:ext cx="6766560" cy="411480"/>
          </a:xfrm>
          <a:prstGeom prst="rect">
            <a:avLst/>
          </a:prstGeom>
          <a:noFill/>
          <a:ln/>
        </p:spPr>
        <p:txBody>
          <a:bodyPr wrap="square" lIns="0" tIns="0" rIns="0" bIns="0" rtlCol="0" anchor="ctr"/>
          <a:lstStyle/>
          <a:p>
            <a:pPr indent="0" marL="0">
              <a:buNone/>
            </a:pPr>
            <a:r>
              <a:rPr lang="en-US" sz="1500" dirty="0">
                <a:solidFill>
                  <a:srgbClr val="DDF2EC"/>
                </a:solidFill>
                <a:latin typeface="Microsoft YaHei" pitchFamily="34" charset="0"/>
                <a:ea typeface="Microsoft YaHei" pitchFamily="34" charset="-122"/>
                <a:cs typeface="Microsoft YaHei" pitchFamily="34" charset="-120"/>
              </a:rPr>
              <a:t>召唤与自定义流程；Multi-Agent 五阶段协作原理</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594360"/>
          </a:xfrm>
          <a:prstGeom prst="rect">
            <a:avLst/>
          </a:prstGeom>
          <a:noFill/>
          <a:ln/>
        </p:spPr>
        <p:txBody>
          <a:bodyPr wrap="square" lIns="0" tIns="0" rIns="0" bIns="0" rtlCol="0" anchor="ctr"/>
          <a:lstStyle/>
          <a:p>
            <a:pPr indent="0" marL="0">
              <a:buNone/>
            </a:pPr>
            <a:r>
              <a:rPr lang="en-US" sz="2600" b="1" dirty="0">
                <a:solidFill>
                  <a:srgbClr val="28B894"/>
                </a:solidFill>
                <a:latin typeface="Microsoft YaHei" pitchFamily="34" charset="0"/>
                <a:ea typeface="Microsoft YaHei" pitchFamily="34" charset="-122"/>
                <a:cs typeface="Microsoft YaHei" pitchFamily="34" charset="-120"/>
              </a:rPr>
              <a:t>专家与专家团解析</a:t>
            </a:r>
            <a:endParaRPr lang="en-US" sz="2600" dirty="0"/>
          </a:p>
        </p:txBody>
      </p:sp>
      <p:sp>
        <p:nvSpPr>
          <p:cNvPr id="3" name="Shape 1"/>
          <p:cNvSpPr/>
          <p:nvPr/>
        </p:nvSpPr>
        <p:spPr>
          <a:xfrm>
            <a:off x="548640" y="868680"/>
            <a:ext cx="914400" cy="32004"/>
          </a:xfrm>
          <a:prstGeom prst="rect">
            <a:avLst/>
          </a:prstGeom>
          <a:solidFill>
            <a:srgbClr val="2E9E83"/>
          </a:solidFill>
          <a:ln/>
        </p:spPr>
      </p:sp>
      <p:sp>
        <p:nvSpPr>
          <p:cNvPr id="4" name="Text 2"/>
          <p:cNvSpPr/>
          <p:nvPr/>
        </p:nvSpPr>
        <p:spPr>
          <a:xfrm>
            <a:off x="548640" y="1024128"/>
            <a:ext cx="8046720" cy="365760"/>
          </a:xfrm>
          <a:prstGeom prst="rect">
            <a:avLst/>
          </a:prstGeom>
          <a:noFill/>
          <a:ln/>
        </p:spPr>
        <p:txBody>
          <a:bodyPr wrap="square" lIns="0" tIns="0" rIns="0" bIns="0" rtlCol="0" anchor="ctr"/>
          <a:lstStyle/>
          <a:p>
            <a:pPr indent="0" marL="0">
              <a:buNone/>
            </a:pPr>
            <a:r>
              <a:rPr lang="en-US" sz="1250" dirty="0">
                <a:solidFill>
                  <a:srgbClr val="7F8C8D"/>
                </a:solidFill>
                <a:latin typeface="Microsoft YaHei" pitchFamily="34" charset="0"/>
                <a:ea typeface="Microsoft YaHei" pitchFamily="34" charset="-122"/>
                <a:cs typeface="Microsoft YaHei" pitchFamily="34" charset="-120"/>
              </a:rPr>
              <a:t>WorkBuddy 引入拟人化的角色设计来处理复杂任务，分为“专家”与“专家团”两个层级：</a:t>
            </a:r>
            <a:endParaRPr lang="en-US" sz="1250" dirty="0"/>
          </a:p>
        </p:txBody>
      </p:sp>
      <p:sp>
        <p:nvSpPr>
          <p:cNvPr id="5" name="Shape 3"/>
          <p:cNvSpPr/>
          <p:nvPr/>
        </p:nvSpPr>
        <p:spPr>
          <a:xfrm>
            <a:off x="548640" y="1463040"/>
            <a:ext cx="3931920" cy="19659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6" name="Shape 4"/>
          <p:cNvSpPr/>
          <p:nvPr/>
        </p:nvSpPr>
        <p:spPr>
          <a:xfrm>
            <a:off x="548640" y="1463040"/>
            <a:ext cx="54864" cy="1965960"/>
          </a:xfrm>
          <a:prstGeom prst="rect">
            <a:avLst/>
          </a:prstGeom>
          <a:solidFill>
            <a:srgbClr val="28B894"/>
          </a:solidFill>
          <a:ln/>
        </p:spPr>
      </p:sp>
      <p:sp>
        <p:nvSpPr>
          <p:cNvPr id="7" name="Text 5"/>
          <p:cNvSpPr/>
          <p:nvPr/>
        </p:nvSpPr>
        <p:spPr>
          <a:xfrm>
            <a:off x="731520" y="1572768"/>
            <a:ext cx="3566160" cy="411480"/>
          </a:xfrm>
          <a:prstGeom prst="rect">
            <a:avLst/>
          </a:prstGeom>
          <a:noFill/>
          <a:ln/>
        </p:spPr>
        <p:txBody>
          <a:bodyPr wrap="square" lIns="0" tIns="0" rIns="0" bIns="0" rtlCol="0" anchor="ctr"/>
          <a:lstStyle/>
          <a:p>
            <a:pPr indent="0" marL="0">
              <a:buNone/>
            </a:pPr>
            <a:r>
              <a:rPr lang="en-US" sz="1500" b="1" dirty="0">
                <a:solidFill>
                  <a:srgbClr val="28B894"/>
                </a:solidFill>
                <a:latin typeface="Microsoft YaHei" pitchFamily="34" charset="0"/>
                <a:ea typeface="Microsoft YaHei" pitchFamily="34" charset="-122"/>
                <a:cs typeface="Microsoft YaHei" pitchFamily="34" charset="-120"/>
              </a:rPr>
              <a:t>专家（Agent）</a:t>
            </a:r>
            <a:endParaRPr lang="en-US" sz="1500" dirty="0"/>
          </a:p>
        </p:txBody>
      </p:sp>
      <p:sp>
        <p:nvSpPr>
          <p:cNvPr id="8" name="Text 6"/>
          <p:cNvSpPr/>
          <p:nvPr/>
        </p:nvSpPr>
        <p:spPr>
          <a:xfrm>
            <a:off x="731520" y="2057400"/>
            <a:ext cx="3566160" cy="1280160"/>
          </a:xfrm>
          <a:prstGeom prst="rect">
            <a:avLst/>
          </a:prstGeom>
          <a:noFill/>
          <a:ln/>
        </p:spPr>
        <p:txBody>
          <a:bodyPr wrap="square" lIns="0" tIns="0" rIns="0" bIns="0" rtlCol="0" anchor="t"/>
          <a:lstStyle/>
          <a:p>
            <a:pPr indent="0" marL="0">
              <a:lnSpc>
                <a:spcPct val="125000"/>
              </a:lnSpc>
              <a:buNone/>
            </a:pPr>
            <a:r>
              <a:rPr lang="en-US" sz="1050" dirty="0">
                <a:solidFill>
                  <a:srgbClr val="2C3E50"/>
                </a:solidFill>
                <a:latin typeface="Microsoft YaHei" pitchFamily="34" charset="0"/>
                <a:ea typeface="Microsoft YaHei" pitchFamily="34" charset="-122"/>
                <a:cs typeface="Microsoft YaHei" pitchFamily="34" charset="-120"/>
              </a:rPr>
              <a:t>拥有独立的人设、专属的方法论以及特定的工具链配置。专家擅长单兵作战，专注于解决某一垂直领域或特定环节的问题。</a:t>
            </a:r>
            <a:endParaRPr lang="en-US" sz="1050" dirty="0"/>
          </a:p>
        </p:txBody>
      </p:sp>
      <p:sp>
        <p:nvSpPr>
          <p:cNvPr id="9" name="Shape 7"/>
          <p:cNvSpPr/>
          <p:nvPr/>
        </p:nvSpPr>
        <p:spPr>
          <a:xfrm>
            <a:off x="4709160" y="1463040"/>
            <a:ext cx="3931920" cy="19659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0" name="Shape 8"/>
          <p:cNvSpPr/>
          <p:nvPr/>
        </p:nvSpPr>
        <p:spPr>
          <a:xfrm>
            <a:off x="4709160" y="1463040"/>
            <a:ext cx="54864" cy="1965960"/>
          </a:xfrm>
          <a:prstGeom prst="rect">
            <a:avLst/>
          </a:prstGeom>
          <a:solidFill>
            <a:srgbClr val="2E9E83"/>
          </a:solidFill>
          <a:ln/>
        </p:spPr>
      </p:sp>
      <p:sp>
        <p:nvSpPr>
          <p:cNvPr id="11" name="Text 9"/>
          <p:cNvSpPr/>
          <p:nvPr/>
        </p:nvSpPr>
        <p:spPr>
          <a:xfrm>
            <a:off x="4892040" y="1572768"/>
            <a:ext cx="3566160" cy="411480"/>
          </a:xfrm>
          <a:prstGeom prst="rect">
            <a:avLst/>
          </a:prstGeom>
          <a:noFill/>
          <a:ln/>
        </p:spPr>
        <p:txBody>
          <a:bodyPr wrap="square" lIns="0" tIns="0" rIns="0" bIns="0" rtlCol="0" anchor="ctr"/>
          <a:lstStyle/>
          <a:p>
            <a:pPr indent="0" marL="0">
              <a:buNone/>
            </a:pPr>
            <a:r>
              <a:rPr lang="en-US" sz="1500" b="1" dirty="0">
                <a:solidFill>
                  <a:srgbClr val="28B894"/>
                </a:solidFill>
                <a:latin typeface="Microsoft YaHei" pitchFamily="34" charset="0"/>
                <a:ea typeface="Microsoft YaHei" pitchFamily="34" charset="-122"/>
                <a:cs typeface="Microsoft YaHei" pitchFamily="34" charset="-120"/>
              </a:rPr>
              <a:t>专家团（Team）</a:t>
            </a:r>
            <a:endParaRPr lang="en-US" sz="1500" dirty="0"/>
          </a:p>
        </p:txBody>
      </p:sp>
      <p:sp>
        <p:nvSpPr>
          <p:cNvPr id="12" name="Text 10"/>
          <p:cNvSpPr/>
          <p:nvPr/>
        </p:nvSpPr>
        <p:spPr>
          <a:xfrm>
            <a:off x="4892040" y="2057400"/>
            <a:ext cx="3566160" cy="1280160"/>
          </a:xfrm>
          <a:prstGeom prst="rect">
            <a:avLst/>
          </a:prstGeom>
          <a:noFill/>
          <a:ln/>
        </p:spPr>
        <p:txBody>
          <a:bodyPr wrap="square" lIns="0" tIns="0" rIns="0" bIns="0" rtlCol="0" anchor="t"/>
          <a:lstStyle/>
          <a:p>
            <a:pPr indent="0" marL="0">
              <a:lnSpc>
                <a:spcPct val="125000"/>
              </a:lnSpc>
              <a:buNone/>
            </a:pPr>
            <a:r>
              <a:rPr lang="en-US" sz="1050" dirty="0">
                <a:solidFill>
                  <a:srgbClr val="2C3E50"/>
                </a:solidFill>
                <a:latin typeface="Microsoft YaHei" pitchFamily="34" charset="0"/>
                <a:ea typeface="Microsoft YaHei" pitchFamily="34" charset="-122"/>
                <a:cs typeface="Microsoft YaHei" pitchFamily="34" charset="-120"/>
              </a:rPr>
              <a:t>由一名“团长”和多个“专家”组成的 Multi-Agent 协作团队，擅长应对综合性、多步骤的复杂项目。其核心机制在于通过团长自动将大目标拆解、分配给不同专家的 Agent 进行并行或串行执行，最终整合各方结果进行统一交付。</a:t>
            </a:r>
            <a:endParaRPr lang="en-US" sz="1050" dirty="0"/>
          </a:p>
        </p:txBody>
      </p:sp>
      <p:sp>
        <p:nvSpPr>
          <p:cNvPr id="13" name="Shape 11"/>
          <p:cNvSpPr/>
          <p:nvPr/>
        </p:nvSpPr>
        <p:spPr>
          <a:xfrm>
            <a:off x="548640" y="3611880"/>
            <a:ext cx="8046720" cy="621792"/>
          </a:xfrm>
          <a:prstGeom prst="rect">
            <a:avLst/>
          </a:prstGeom>
          <a:solidFill>
            <a:srgbClr val="E9F5F1"/>
          </a:solidFill>
          <a:ln/>
          <a:effectLst>
            <a:outerShdw sx="100000" sy="100000" kx="0" ky="0" algn="bl" rotWithShape="0" blurRad="76200" dist="25400" dir="8100000">
              <a:srgbClr val="000000">
                <a:alpha val="8000"/>
              </a:srgbClr>
            </a:outerShdw>
          </a:effectLst>
        </p:spPr>
      </p:sp>
      <p:sp>
        <p:nvSpPr>
          <p:cNvPr id="14" name="Shape 12"/>
          <p:cNvSpPr/>
          <p:nvPr/>
        </p:nvSpPr>
        <p:spPr>
          <a:xfrm>
            <a:off x="548640" y="3611880"/>
            <a:ext cx="64008" cy="621792"/>
          </a:xfrm>
          <a:prstGeom prst="rect">
            <a:avLst/>
          </a:prstGeom>
          <a:solidFill>
            <a:srgbClr val="28B894"/>
          </a:solidFill>
          <a:ln/>
        </p:spPr>
      </p:sp>
      <p:sp>
        <p:nvSpPr>
          <p:cNvPr id="15" name="Text 13"/>
          <p:cNvSpPr/>
          <p:nvPr/>
        </p:nvSpPr>
        <p:spPr>
          <a:xfrm>
            <a:off x="868680" y="3611880"/>
            <a:ext cx="7498080" cy="621792"/>
          </a:xfrm>
          <a:prstGeom prst="rect">
            <a:avLst/>
          </a:prstGeom>
          <a:noFill/>
          <a:ln/>
        </p:spPr>
        <p:txBody>
          <a:bodyPr wrap="square" lIns="0" tIns="0" rIns="0" bIns="0" rtlCol="0" anchor="ctr">
            <a:normAutofit/>
          </a:bodyPr>
          <a:lstStyle/>
          <a:p>
            <a:pPr indent="0" marL="0">
              <a:lnSpc>
                <a:spcPct val="120000"/>
              </a:lnSpc>
              <a:buNone/>
            </a:pPr>
            <a:r>
              <a:rPr lang="en-US" sz="1200" b="1" dirty="0">
                <a:solidFill>
                  <a:srgbClr val="28B894"/>
                </a:solidFill>
                <a:latin typeface="Microsoft YaHei" pitchFamily="34" charset="0"/>
                <a:ea typeface="Microsoft YaHei" pitchFamily="34" charset="-122"/>
                <a:cs typeface="Microsoft YaHei" pitchFamily="34" charset="-120"/>
              </a:rPr>
              <a:t>资源消耗：专家团并行调用多位专家、涉及多轮模型交互，执行积分消耗通常为单个专家的 3–5 倍（以实际任务为准）。</a:t>
            </a:r>
            <a:endParaRPr lang="en-US" sz="1200" dirty="0"/>
          </a:p>
        </p:txBody>
      </p:sp>
      <p:sp>
        <p:nvSpPr>
          <p:cNvPr id="16" name="Text 14"/>
          <p:cNvSpPr/>
          <p:nvPr/>
        </p:nvSpPr>
        <p:spPr>
          <a:xfrm>
            <a:off x="548640" y="4526280"/>
            <a:ext cx="8046720" cy="365760"/>
          </a:xfrm>
          <a:prstGeom prst="rect">
            <a:avLst/>
          </a:prstGeom>
          <a:noFill/>
          <a:ln/>
        </p:spPr>
        <p:txBody>
          <a:bodyPr wrap="square" lIns="0" tIns="0" rIns="0" bIns="0" rtlCol="0" anchor="ctr"/>
          <a:lstStyle/>
          <a:p>
            <a:pPr indent="0" marL="0">
              <a:lnSpc>
                <a:spcPct val="130000"/>
              </a:lnSpc>
              <a:buNone/>
            </a:pPr>
            <a:r>
              <a:rPr lang="en-US" sz="800" dirty="0">
                <a:solidFill>
                  <a:srgbClr val="7F8C8D"/>
                </a:solidFill>
                <a:latin typeface="Microsoft YaHei" pitchFamily="34" charset="0"/>
                <a:ea typeface="Microsoft YaHei" pitchFamily="34" charset="-122"/>
                <a:cs typeface="Microsoft YaHei" pitchFamily="34" charset="-120"/>
              </a:rPr>
              <a:t>官方文档《专家》：https://www.workbuddy.cn/docs/workbuddy/From-Beginner-to-Expert-Guide/Function-Description/Expert-Center</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594360"/>
          </a:xfrm>
          <a:prstGeom prst="rect">
            <a:avLst/>
          </a:prstGeom>
          <a:noFill/>
          <a:ln/>
        </p:spPr>
        <p:txBody>
          <a:bodyPr wrap="square" lIns="0" tIns="0" rIns="0" bIns="0" rtlCol="0" anchor="ctr"/>
          <a:lstStyle/>
          <a:p>
            <a:pPr indent="0" marL="0">
              <a:buNone/>
            </a:pPr>
            <a:r>
              <a:rPr lang="en-US" sz="2600" b="1" dirty="0">
                <a:solidFill>
                  <a:srgbClr val="28B894"/>
                </a:solidFill>
                <a:latin typeface="Microsoft YaHei" pitchFamily="34" charset="0"/>
                <a:ea typeface="Microsoft YaHei" pitchFamily="34" charset="-122"/>
                <a:cs typeface="Microsoft YaHei" pitchFamily="34" charset="-120"/>
              </a:rPr>
              <a:t>Skill、专家与专家团的对比</a:t>
            </a:r>
            <a:endParaRPr lang="en-US" sz="2600" dirty="0"/>
          </a:p>
        </p:txBody>
      </p:sp>
      <p:sp>
        <p:nvSpPr>
          <p:cNvPr id="3" name="Shape 1"/>
          <p:cNvSpPr/>
          <p:nvPr/>
        </p:nvSpPr>
        <p:spPr>
          <a:xfrm>
            <a:off x="548640" y="868680"/>
            <a:ext cx="914400" cy="32004"/>
          </a:xfrm>
          <a:prstGeom prst="rect">
            <a:avLst/>
          </a:prstGeom>
          <a:solidFill>
            <a:srgbClr val="2E9E83"/>
          </a:solidFill>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8046720" cy="914400"/>
        </p:xfrm>
        <a:graphic>
          <a:graphicData uri="http://schemas.openxmlformats.org/drawingml/2006/table">
            <a:tbl>
              <a:tblPr/>
              <a:tblGrid>
                <a:gridCol w="1234440"/>
                <a:gridCol w="1554480"/>
                <a:gridCol w="2331720"/>
                <a:gridCol w="1188720"/>
                <a:gridCol w="1737360"/>
              </a:tblGrid>
              <a:tr h="384048">
                <a:tc>
                  <a:txBody>
                    <a:bodyPr/>
                    <a:lstStyle/>
                    <a:p>
                      <a:pPr algn="l" indent="0" marL="0">
                        <a:buNone/>
                      </a:pPr>
                      <a:r>
                        <a:rPr lang="en-US" sz="1000" b="1" dirty="0">
                          <a:solidFill>
                            <a:srgbClr val="FFFFFF"/>
                          </a:solidFill>
                          <a:latin typeface="Microsoft YaHei" pitchFamily="34" charset="0"/>
                          <a:ea typeface="Microsoft YaHei" pitchFamily="34" charset="-122"/>
                          <a:cs typeface="Microsoft YaHei" pitchFamily="34" charset="-120"/>
                        </a:rPr>
                        <a:t>智能实体</a:t>
                      </a:r>
                      <a:endParaRPr lang="en-US" sz="1000" dirty="0">
                        <a:latin typeface="Microsoft YaHei" charset="0"/>
                        <a:ea typeface="Microsoft YaHei" charset="0"/>
                        <a:cs typeface="Microsoft YaHei" charset="0"/>
                      </a:endParaRPr>
                    </a:p>
                  </a:txBody>
                  <a:tcPr marL="91440" marR="91440" marT="45720" marB="45720"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28B894"/>
                    </a:solidFill>
                  </a:tcPr>
                </a:tc>
                <a:tc>
                  <a:txBody>
                    <a:bodyPr/>
                    <a:lstStyle/>
                    <a:p>
                      <a:pPr algn="l" indent="0" marL="0">
                        <a:buNone/>
                      </a:pPr>
                      <a:r>
                        <a:rPr lang="en-US" sz="1000" b="1" dirty="0">
                          <a:solidFill>
                            <a:srgbClr val="FFFFFF"/>
                          </a:solidFill>
                          <a:latin typeface="Microsoft YaHei" pitchFamily="34" charset="0"/>
                          <a:ea typeface="Microsoft YaHei" pitchFamily="34" charset="-122"/>
                          <a:cs typeface="Microsoft YaHei" pitchFamily="34" charset="-120"/>
                        </a:rPr>
                        <a:t>定位</a:t>
                      </a:r>
                      <a:endParaRPr lang="en-US" sz="1000" dirty="0">
                        <a:latin typeface="Microsoft YaHei" charset="0"/>
                        <a:ea typeface="Microsoft YaHei" charset="0"/>
                        <a:cs typeface="Microsoft YaHei" charset="0"/>
                      </a:endParaRPr>
                    </a:p>
                  </a:txBody>
                  <a:tcPr marL="91440" marR="91440" marT="45720" marB="45720"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28B894"/>
                    </a:solidFill>
                  </a:tcPr>
                </a:tc>
                <a:tc>
                  <a:txBody>
                    <a:bodyPr/>
                    <a:lstStyle/>
                    <a:p>
                      <a:pPr algn="l" indent="0" marL="0">
                        <a:buNone/>
                      </a:pPr>
                      <a:r>
                        <a:rPr lang="en-US" sz="1000" b="1" dirty="0">
                          <a:solidFill>
                            <a:srgbClr val="FFFFFF"/>
                          </a:solidFill>
                          <a:latin typeface="Microsoft YaHei" pitchFamily="34" charset="0"/>
                          <a:ea typeface="Microsoft YaHei" pitchFamily="34" charset="-122"/>
                          <a:cs typeface="Microsoft YaHei" pitchFamily="34" charset="-120"/>
                        </a:rPr>
                        <a:t>核心逻辑</a:t>
                      </a:r>
                      <a:endParaRPr lang="en-US" sz="1000" dirty="0">
                        <a:latin typeface="Microsoft YaHei" charset="0"/>
                        <a:ea typeface="Microsoft YaHei" charset="0"/>
                        <a:cs typeface="Microsoft YaHei" charset="0"/>
                      </a:endParaRPr>
                    </a:p>
                  </a:txBody>
                  <a:tcPr marL="91440" marR="91440" marT="45720" marB="45720"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28B894"/>
                    </a:solidFill>
                  </a:tcPr>
                </a:tc>
                <a:tc>
                  <a:txBody>
                    <a:bodyPr/>
                    <a:lstStyle/>
                    <a:p>
                      <a:pPr algn="l" indent="0" marL="0">
                        <a:buNone/>
                      </a:pPr>
                      <a:r>
                        <a:rPr lang="en-US" sz="1000" b="1" dirty="0">
                          <a:solidFill>
                            <a:srgbClr val="FFFFFF"/>
                          </a:solidFill>
                          <a:latin typeface="Microsoft YaHei" pitchFamily="34" charset="0"/>
                          <a:ea typeface="Microsoft YaHei" pitchFamily="34" charset="-122"/>
                          <a:cs typeface="Microsoft YaHei" pitchFamily="34" charset="-120"/>
                        </a:rPr>
                        <a:t>积分消耗</a:t>
                      </a:r>
                      <a:endParaRPr lang="en-US" sz="1000" dirty="0">
                        <a:latin typeface="Microsoft YaHei" charset="0"/>
                        <a:ea typeface="Microsoft YaHei" charset="0"/>
                        <a:cs typeface="Microsoft YaHei" charset="0"/>
                      </a:endParaRPr>
                    </a:p>
                  </a:txBody>
                  <a:tcPr marL="91440" marR="91440" marT="45720" marB="45720"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28B894"/>
                    </a:solidFill>
                  </a:tcPr>
                </a:tc>
                <a:tc>
                  <a:txBody>
                    <a:bodyPr/>
                    <a:lstStyle/>
                    <a:p>
                      <a:pPr algn="l" indent="0" marL="0">
                        <a:buNone/>
                      </a:pPr>
                      <a:r>
                        <a:rPr lang="en-US" sz="1000" b="1" dirty="0">
                          <a:solidFill>
                            <a:srgbClr val="FFFFFF"/>
                          </a:solidFill>
                          <a:latin typeface="Microsoft YaHei" pitchFamily="34" charset="0"/>
                          <a:ea typeface="Microsoft YaHei" pitchFamily="34" charset="-122"/>
                          <a:cs typeface="Microsoft YaHei" pitchFamily="34" charset="-120"/>
                        </a:rPr>
                        <a:t>适用场景</a:t>
                      </a:r>
                      <a:endParaRPr lang="en-US" sz="1000" dirty="0">
                        <a:latin typeface="Microsoft YaHei" charset="0"/>
                        <a:ea typeface="Microsoft YaHei" charset="0"/>
                        <a:cs typeface="Microsoft YaHei" charset="0"/>
                      </a:endParaRPr>
                    </a:p>
                  </a:txBody>
                  <a:tcPr marL="91440" marR="91440" marT="45720" marB="45720"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28B894"/>
                    </a:solidFill>
                  </a:tcPr>
                </a:tc>
              </a:tr>
              <a:tr h="868680">
                <a:tc>
                  <a:txBody>
                    <a:bodyPr/>
                    <a:lstStyle/>
                    <a:p>
                      <a:pPr algn="l" indent="0" marL="0">
                        <a:buNone/>
                      </a:pPr>
                      <a:r>
                        <a:rPr lang="en-US" sz="1000" b="1" dirty="0">
                          <a:solidFill>
                            <a:srgbClr val="28B894"/>
                          </a:solidFill>
                          <a:latin typeface="Microsoft YaHei" pitchFamily="34" charset="0"/>
                          <a:ea typeface="Microsoft YaHei" pitchFamily="34" charset="-122"/>
                          <a:cs typeface="Microsoft YaHei" pitchFamily="34" charset="-120"/>
                        </a:rPr>
                        <a:t>Skill</a:t>
                      </a:r>
                      <a:endParaRPr lang="en-US" sz="1000" dirty="0">
                        <a:latin typeface="Microsoft YaHei" charset="0"/>
                        <a:ea typeface="Microsoft YaHei" charset="0"/>
                        <a:cs typeface="Microsoft YaHei" charset="0"/>
                      </a:endParaRPr>
                    </a:p>
                  </a:txBody>
                  <a:tcPr marL="91440" marR="91440" marT="45720" marB="45720"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C3E50"/>
                          </a:solidFill>
                          <a:latin typeface="Microsoft YaHei" pitchFamily="34" charset="0"/>
                          <a:ea typeface="Microsoft YaHei" pitchFamily="34" charset="-122"/>
                          <a:cs typeface="Microsoft YaHei" pitchFamily="34" charset="-120"/>
                        </a:rPr>
                        <a:t>轻量级的可复用能力包</a:t>
                      </a:r>
                      <a:endParaRPr lang="en-US" sz="1000" dirty="0">
                        <a:latin typeface="Microsoft YaHei" charset="0"/>
                        <a:ea typeface="Microsoft YaHei" charset="0"/>
                        <a:cs typeface="Microsoft YaHei" charset="0"/>
                      </a:endParaRPr>
                    </a:p>
                  </a:txBody>
                  <a:tcPr marL="91440" marR="91440" marT="45720" marB="45720"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C3E50"/>
                          </a:solidFill>
                          <a:latin typeface="Microsoft YaHei" pitchFamily="34" charset="0"/>
                          <a:ea typeface="Microsoft YaHei" pitchFamily="34" charset="-122"/>
                          <a:cs typeface="Microsoft YaHei" pitchFamily="34" charset="-120"/>
                        </a:rPr>
                        <a:t>“让 AI 做某件事”（如提取摘要、翻译文本）</a:t>
                      </a:r>
                      <a:endParaRPr lang="en-US" sz="1000" dirty="0">
                        <a:latin typeface="Microsoft YaHei" charset="0"/>
                        <a:ea typeface="Microsoft YaHei" charset="0"/>
                        <a:cs typeface="Microsoft YaHei" charset="0"/>
                      </a:endParaRPr>
                    </a:p>
                  </a:txBody>
                  <a:tcPr marL="91440" marR="91440" marT="45720" marB="45720"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C3E50"/>
                          </a:solidFill>
                          <a:latin typeface="Microsoft YaHei" pitchFamily="34" charset="0"/>
                          <a:ea typeface="Microsoft YaHei" pitchFamily="34" charset="-122"/>
                          <a:cs typeface="Microsoft YaHei" pitchFamily="34" charset="-120"/>
                        </a:rPr>
                        <a:t>最低，运行速度最快</a:t>
                      </a:r>
                      <a:endParaRPr lang="en-US" sz="1000" dirty="0">
                        <a:latin typeface="Microsoft YaHei" charset="0"/>
                        <a:ea typeface="Microsoft YaHei" charset="0"/>
                        <a:cs typeface="Microsoft YaHei" charset="0"/>
                      </a:endParaRPr>
                    </a:p>
                  </a:txBody>
                  <a:tcPr marL="91440" marR="91440" marT="45720" marB="45720"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C3E50"/>
                          </a:solidFill>
                          <a:latin typeface="Microsoft YaHei" pitchFamily="34" charset="0"/>
                          <a:ea typeface="Microsoft YaHei" pitchFamily="34" charset="-122"/>
                          <a:cs typeface="Microsoft YaHei" pitchFamily="34" charset="-120"/>
                        </a:rPr>
                        <a:t>简单指令</a:t>
                      </a:r>
                      <a:endParaRPr lang="en-US" sz="1000" dirty="0">
                        <a:latin typeface="Microsoft YaHei" charset="0"/>
                        <a:ea typeface="Microsoft YaHei" charset="0"/>
                        <a:cs typeface="Microsoft YaHei" charset="0"/>
                      </a:endParaRPr>
                    </a:p>
                  </a:txBody>
                  <a:tcPr marL="91440" marR="91440" marT="45720" marB="45720"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r>
              <a:tr h="868680">
                <a:tc>
                  <a:txBody>
                    <a:bodyPr/>
                    <a:lstStyle/>
                    <a:p>
                      <a:pPr algn="l" indent="0" marL="0">
                        <a:buNone/>
                      </a:pPr>
                      <a:r>
                        <a:rPr lang="en-US" sz="1000" b="1" dirty="0">
                          <a:solidFill>
                            <a:srgbClr val="28B894"/>
                          </a:solidFill>
                          <a:latin typeface="Microsoft YaHei" pitchFamily="34" charset="0"/>
                          <a:ea typeface="Microsoft YaHei" pitchFamily="34" charset="-122"/>
                          <a:cs typeface="Microsoft YaHei" pitchFamily="34" charset="-120"/>
                        </a:rPr>
                        <a:t>专家（Agent）</a:t>
                      </a:r>
                      <a:endParaRPr lang="en-US" sz="1000" dirty="0">
                        <a:latin typeface="Microsoft YaHei" charset="0"/>
                        <a:ea typeface="Microsoft YaHei" charset="0"/>
                        <a:cs typeface="Microsoft YaHei" charset="0"/>
                      </a:endParaRPr>
                    </a:p>
                  </a:txBody>
                  <a:tcPr marL="91440" marR="91440" marT="45720" marB="45720"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C3E50"/>
                          </a:solidFill>
                          <a:latin typeface="Microsoft YaHei" pitchFamily="34" charset="0"/>
                          <a:ea typeface="Microsoft YaHei" pitchFamily="34" charset="-122"/>
                          <a:cs typeface="Microsoft YaHei" pitchFamily="34" charset="-120"/>
                        </a:rPr>
                        <a:t>具备独立角色的解决方案</a:t>
                      </a:r>
                      <a:endParaRPr lang="en-US" sz="1000" dirty="0">
                        <a:latin typeface="Microsoft YaHei" charset="0"/>
                        <a:ea typeface="Microsoft YaHei" charset="0"/>
                        <a:cs typeface="Microsoft YaHei" charset="0"/>
                      </a:endParaRPr>
                    </a:p>
                  </a:txBody>
                  <a:tcPr marL="91440" marR="91440" marT="45720" marB="45720"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C3E50"/>
                          </a:solidFill>
                          <a:latin typeface="Microsoft YaHei" pitchFamily="34" charset="0"/>
                          <a:ea typeface="Microsoft YaHei" pitchFamily="34" charset="-122"/>
                          <a:cs typeface="Microsoft YaHei" pitchFamily="34" charset="-120"/>
                        </a:rPr>
                        <a:t>“谁能帮我做”——找到具备专业视角和系统性方法论指导的角色</a:t>
                      </a:r>
                      <a:endParaRPr lang="en-US" sz="1000" dirty="0">
                        <a:latin typeface="Microsoft YaHei" charset="0"/>
                        <a:ea typeface="Microsoft YaHei" charset="0"/>
                        <a:cs typeface="Microsoft YaHei" charset="0"/>
                      </a:endParaRPr>
                    </a:p>
                  </a:txBody>
                  <a:tcPr marL="91440" marR="91440" marT="45720" marB="45720"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C3E50"/>
                          </a:solidFill>
                          <a:latin typeface="Microsoft YaHei" pitchFamily="34" charset="0"/>
                          <a:ea typeface="Microsoft YaHei" pitchFamily="34" charset="-122"/>
                          <a:cs typeface="Microsoft YaHei" pitchFamily="34" charset="-120"/>
                        </a:rPr>
                        <a:t>中等</a:t>
                      </a:r>
                      <a:endParaRPr lang="en-US" sz="1000" dirty="0">
                        <a:latin typeface="Microsoft YaHei" charset="0"/>
                        <a:ea typeface="Microsoft YaHei" charset="0"/>
                        <a:cs typeface="Microsoft YaHei" charset="0"/>
                      </a:endParaRPr>
                    </a:p>
                  </a:txBody>
                  <a:tcPr marL="91440" marR="91440" marT="45720" marB="45720"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C3E50"/>
                          </a:solidFill>
                          <a:latin typeface="Microsoft YaHei" pitchFamily="34" charset="0"/>
                          <a:ea typeface="Microsoft YaHei" pitchFamily="34" charset="-122"/>
                          <a:cs typeface="Microsoft YaHei" pitchFamily="34" charset="-120"/>
                        </a:rPr>
                        <a:t>需要一定专业深度的单项任务</a:t>
                      </a:r>
                      <a:endParaRPr lang="en-US" sz="1000" dirty="0">
                        <a:latin typeface="Microsoft YaHei" charset="0"/>
                        <a:ea typeface="Microsoft YaHei" charset="0"/>
                        <a:cs typeface="Microsoft YaHei" charset="0"/>
                      </a:endParaRPr>
                    </a:p>
                  </a:txBody>
                  <a:tcPr marL="91440" marR="91440" marT="45720" marB="45720"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r>
              <a:tr h="868680">
                <a:tc>
                  <a:txBody>
                    <a:bodyPr/>
                    <a:lstStyle/>
                    <a:p>
                      <a:pPr algn="l" indent="0" marL="0">
                        <a:buNone/>
                      </a:pPr>
                      <a:r>
                        <a:rPr lang="en-US" sz="1000" b="1" dirty="0">
                          <a:solidFill>
                            <a:srgbClr val="28B894"/>
                          </a:solidFill>
                          <a:latin typeface="Microsoft YaHei" pitchFamily="34" charset="0"/>
                          <a:ea typeface="Microsoft YaHei" pitchFamily="34" charset="-122"/>
                          <a:cs typeface="Microsoft YaHei" pitchFamily="34" charset="-120"/>
                        </a:rPr>
                        <a:t>专家团（Team）</a:t>
                      </a:r>
                      <a:endParaRPr lang="en-US" sz="1000" dirty="0">
                        <a:latin typeface="Microsoft YaHei" charset="0"/>
                        <a:ea typeface="Microsoft YaHei" charset="0"/>
                        <a:cs typeface="Microsoft YaHei" charset="0"/>
                      </a:endParaRPr>
                    </a:p>
                  </a:txBody>
                  <a:tcPr marL="91440" marR="91440" marT="45720" marB="45720"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C3E50"/>
                          </a:solidFill>
                          <a:latin typeface="Microsoft YaHei" pitchFamily="34" charset="0"/>
                          <a:ea typeface="Microsoft YaHei" pitchFamily="34" charset="-122"/>
                          <a:cs typeface="Microsoft YaHei" pitchFamily="34" charset="-120"/>
                        </a:rPr>
                        <a:t>复杂项目的攻坚团队</a:t>
                      </a:r>
                      <a:endParaRPr lang="en-US" sz="1000" dirty="0">
                        <a:latin typeface="Microsoft YaHei" charset="0"/>
                        <a:ea typeface="Microsoft YaHei" charset="0"/>
                        <a:cs typeface="Microsoft YaHei" charset="0"/>
                      </a:endParaRPr>
                    </a:p>
                  </a:txBody>
                  <a:tcPr marL="91440" marR="91440" marT="45720" marB="45720"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C3E50"/>
                          </a:solidFill>
                          <a:latin typeface="Microsoft YaHei" pitchFamily="34" charset="0"/>
                          <a:ea typeface="Microsoft YaHei" pitchFamily="34" charset="-122"/>
                          <a:cs typeface="Microsoft YaHei" pitchFamily="34" charset="-120"/>
                        </a:rPr>
                        <a:t>“复杂项目如何交付”——通过多 Agent 协作应对庞大工程</a:t>
                      </a:r>
                      <a:endParaRPr lang="en-US" sz="1000" dirty="0">
                        <a:latin typeface="Microsoft YaHei" charset="0"/>
                        <a:ea typeface="Microsoft YaHei" charset="0"/>
                        <a:cs typeface="Microsoft YaHei" charset="0"/>
                      </a:endParaRPr>
                    </a:p>
                  </a:txBody>
                  <a:tcPr marL="91440" marR="91440" marT="45720" marB="45720"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C3E50"/>
                          </a:solidFill>
                          <a:latin typeface="Microsoft YaHei" pitchFamily="34" charset="0"/>
                          <a:ea typeface="Microsoft YaHei" pitchFamily="34" charset="-122"/>
                          <a:cs typeface="Microsoft YaHei" pitchFamily="34" charset="-120"/>
                        </a:rPr>
                        <a:t>最多</a:t>
                      </a:r>
                      <a:endParaRPr lang="en-US" sz="1000" dirty="0">
                        <a:latin typeface="Microsoft YaHei" charset="0"/>
                        <a:ea typeface="Microsoft YaHei" charset="0"/>
                        <a:cs typeface="Microsoft YaHei" charset="0"/>
                      </a:endParaRPr>
                    </a:p>
                  </a:txBody>
                  <a:tcPr marL="91440" marR="91440" marT="45720" marB="45720"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C3E50"/>
                          </a:solidFill>
                          <a:latin typeface="Microsoft YaHei" pitchFamily="34" charset="0"/>
                          <a:ea typeface="Microsoft YaHei" pitchFamily="34" charset="-122"/>
                          <a:cs typeface="Microsoft YaHei" pitchFamily="34" charset="-120"/>
                        </a:rPr>
                        <a:t>多步骤复杂项目、庞大工程</a:t>
                      </a:r>
                      <a:endParaRPr lang="en-US" sz="1000" dirty="0">
                        <a:latin typeface="Microsoft YaHei" charset="0"/>
                        <a:ea typeface="Microsoft YaHei" charset="0"/>
                        <a:cs typeface="Microsoft YaHei" charset="0"/>
                      </a:endParaRPr>
                    </a:p>
                  </a:txBody>
                  <a:tcPr marL="91440" marR="91440" marT="45720" marB="45720" anchor="ctr">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4069080"/>
            <a:ext cx="8046720" cy="777240"/>
          </a:xfrm>
          <a:prstGeom prst="rect">
            <a:avLst/>
          </a:prstGeom>
          <a:solidFill>
            <a:srgbClr val="E9F5F1"/>
          </a:solidFill>
          <a:ln/>
          <a:effectLst>
            <a:outerShdw sx="100000" sy="100000" kx="0" ky="0" algn="bl" rotWithShape="0" blurRad="76200" dist="25400" dir="8100000">
              <a:srgbClr val="000000">
                <a:alpha val="8000"/>
              </a:srgbClr>
            </a:outerShdw>
          </a:effectLst>
        </p:spPr>
      </p:sp>
      <p:sp>
        <p:nvSpPr>
          <p:cNvPr id="6" name="Shape 3"/>
          <p:cNvSpPr/>
          <p:nvPr/>
        </p:nvSpPr>
        <p:spPr>
          <a:xfrm>
            <a:off x="548640" y="4069080"/>
            <a:ext cx="64008" cy="777240"/>
          </a:xfrm>
          <a:prstGeom prst="rect">
            <a:avLst/>
          </a:prstGeom>
          <a:solidFill>
            <a:srgbClr val="28B894"/>
          </a:solidFill>
          <a:ln/>
        </p:spPr>
      </p:sp>
      <p:sp>
        <p:nvSpPr>
          <p:cNvPr id="7" name="Text 4"/>
          <p:cNvSpPr/>
          <p:nvPr/>
        </p:nvSpPr>
        <p:spPr>
          <a:xfrm>
            <a:off x="868680" y="4069080"/>
            <a:ext cx="7498080" cy="457200"/>
          </a:xfrm>
          <a:prstGeom prst="rect">
            <a:avLst/>
          </a:prstGeom>
          <a:noFill/>
          <a:ln/>
        </p:spPr>
        <p:txBody>
          <a:bodyPr wrap="square" lIns="0" tIns="0" rIns="0" bIns="0" rtlCol="0" anchor="ctr"/>
          <a:lstStyle/>
          <a:p>
            <a:pPr indent="0" marL="0">
              <a:buNone/>
            </a:pPr>
            <a:r>
              <a:rPr lang="en-US" sz="1300" b="1" dirty="0">
                <a:solidFill>
                  <a:srgbClr val="28B894"/>
                </a:solidFill>
                <a:latin typeface="Microsoft YaHei" pitchFamily="34" charset="0"/>
                <a:ea typeface="Microsoft YaHei" pitchFamily="34" charset="-122"/>
                <a:cs typeface="Microsoft YaHei" pitchFamily="34" charset="-120"/>
              </a:rPr>
              <a:t>能力进阶链：先判断是否需要“工具”（Skill）→ 再判断是否需要“方法与角色”（专家）→ 最后判断是否需要“团队协同”（专家团）</a:t>
            </a:r>
            <a:endParaRPr lang="en-US" sz="1300" dirty="0"/>
          </a:p>
        </p:txBody>
      </p:sp>
      <p:sp>
        <p:nvSpPr>
          <p:cNvPr id="8" name="Text 5"/>
          <p:cNvSpPr/>
          <p:nvPr/>
        </p:nvSpPr>
        <p:spPr>
          <a:xfrm>
            <a:off x="868680" y="4526280"/>
            <a:ext cx="7498080" cy="274320"/>
          </a:xfrm>
          <a:prstGeom prst="rect">
            <a:avLst/>
          </a:prstGeom>
          <a:noFill/>
          <a:ln/>
        </p:spPr>
        <p:txBody>
          <a:bodyPr wrap="square" lIns="0" tIns="0" rIns="0" bIns="0" rtlCol="0" anchor="ctr"/>
          <a:lstStyle/>
          <a:p>
            <a:pPr indent="0" marL="0">
              <a:buNone/>
            </a:pPr>
            <a:r>
              <a:rPr lang="en-US" sz="1100" dirty="0">
                <a:solidFill>
                  <a:srgbClr val="2C3E50"/>
                </a:solidFill>
                <a:latin typeface="Microsoft YaHei" pitchFamily="34" charset="0"/>
                <a:ea typeface="Microsoft YaHei" pitchFamily="34" charset="-122"/>
                <a:cs typeface="Microsoft YaHei" pitchFamily="34" charset="-120"/>
              </a:rPr>
              <a:t>一句话速记：想要能力找技能；想要建议找专家；想要团队协作攻坚找专家团。</a:t>
            </a:r>
            <a:endParaRPr lang="en-US" sz="1100" dirty="0"/>
          </a:p>
        </p:txBody>
      </p:sp>
      <p:sp>
        <p:nvSpPr>
          <p:cNvPr id="9" name="Text 6"/>
          <p:cNvSpPr/>
          <p:nvPr/>
        </p:nvSpPr>
        <p:spPr>
          <a:xfrm>
            <a:off x="548640" y="4956048"/>
            <a:ext cx="8046720" cy="182880"/>
          </a:xfrm>
          <a:prstGeom prst="rect">
            <a:avLst/>
          </a:prstGeom>
          <a:noFill/>
          <a:ln/>
        </p:spPr>
        <p:txBody>
          <a:bodyPr wrap="square" lIns="0" tIns="0" rIns="0" bIns="0" rtlCol="0" anchor="ctr"/>
          <a:lstStyle/>
          <a:p>
            <a:pPr indent="0" marL="0">
              <a:buNone/>
            </a:pPr>
            <a:r>
              <a:rPr lang="en-US" sz="800" dirty="0">
                <a:solidFill>
                  <a:srgbClr val="7F8C8D"/>
                </a:solidFill>
                <a:latin typeface="Microsoft YaHei" pitchFamily="34" charset="0"/>
                <a:ea typeface="Microsoft YaHei" pitchFamily="34" charset="-122"/>
                <a:cs typeface="Microsoft YaHei" pitchFamily="34" charset="-120"/>
              </a:rPr>
              <a:t>官方文档《灵感》：https://www.workbuddy.cn/docs/workbuddy/From-Beginner-to-Expert-Guide/Function-Description/Ispiration</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8F73"/>
        </a:solidFill>
      </p:bgPr>
    </p:bg>
    <p:spTree>
      <p:nvGrpSpPr>
        <p:cNvPr id="1" name=""/>
        <p:cNvGrpSpPr/>
        <p:nvPr/>
      </p:nvGrpSpPr>
      <p:grpSpPr>
        <a:xfrm>
          <a:off x="0" y="0"/>
          <a:ext cx="0" cy="0"/>
          <a:chOff x="0" y="0"/>
          <a:chExt cx="0" cy="0"/>
        </a:xfrm>
      </p:grpSpPr>
      <p:sp>
        <p:nvSpPr>
          <p:cNvPr id="2" name="Text 0"/>
          <p:cNvSpPr/>
          <p:nvPr/>
        </p:nvSpPr>
        <p:spPr>
          <a:xfrm>
            <a:off x="548640" y="640080"/>
            <a:ext cx="8046720" cy="548640"/>
          </a:xfrm>
          <a:prstGeom prst="rect">
            <a:avLst/>
          </a:prstGeom>
          <a:noFill/>
          <a:ln/>
        </p:spPr>
        <p:txBody>
          <a:bodyPr wrap="square" lIns="0" tIns="0" rIns="0" bIns="0" rtlCol="0" anchor="ctr"/>
          <a:lstStyle/>
          <a:p>
            <a:pPr indent="0" marL="0">
              <a:buNone/>
            </a:pPr>
            <a:r>
              <a:rPr lang="en-US" sz="2200" b="1" dirty="0">
                <a:solidFill>
                  <a:srgbClr val="B8E8DC"/>
                </a:solidFill>
                <a:latin typeface="Microsoft YaHei" pitchFamily="34" charset="0"/>
                <a:ea typeface="Microsoft YaHei" pitchFamily="34" charset="-122"/>
                <a:cs typeface="Microsoft YaHei" pitchFamily="34" charset="-120"/>
              </a:rPr>
              <a:t>一句话速记</a:t>
            </a:r>
            <a:endParaRPr lang="en-US" sz="2200" dirty="0"/>
          </a:p>
        </p:txBody>
      </p:sp>
      <p:sp>
        <p:nvSpPr>
          <p:cNvPr id="3" name="Shape 1"/>
          <p:cNvSpPr/>
          <p:nvPr/>
        </p:nvSpPr>
        <p:spPr>
          <a:xfrm>
            <a:off x="548640" y="1188720"/>
            <a:ext cx="914400" cy="32004"/>
          </a:xfrm>
          <a:prstGeom prst="rect">
            <a:avLst/>
          </a:prstGeom>
          <a:solidFill>
            <a:srgbClr val="2E9E83"/>
          </a:solidFill>
          <a:ln/>
        </p:spPr>
      </p:sp>
      <p:sp>
        <p:nvSpPr>
          <p:cNvPr id="4" name="Text 2"/>
          <p:cNvSpPr/>
          <p:nvPr/>
        </p:nvSpPr>
        <p:spPr>
          <a:xfrm>
            <a:off x="914400" y="1645920"/>
            <a:ext cx="2926080" cy="640080"/>
          </a:xfrm>
          <a:prstGeom prst="rect">
            <a:avLst/>
          </a:prstGeom>
          <a:noFill/>
          <a:ln/>
        </p:spPr>
        <p:txBody>
          <a:bodyPr wrap="square" lIns="0" tIns="0" rIns="0" bIns="0" rtlCol="0" anchor="ctr"/>
          <a:lstStyle/>
          <a:p>
            <a:pPr indent="0" marL="0">
              <a:buNone/>
            </a:pPr>
            <a:r>
              <a:rPr lang="en-US" sz="2000" dirty="0">
                <a:solidFill>
                  <a:srgbClr val="B8E8DC"/>
                </a:solidFill>
                <a:latin typeface="Microsoft YaHei" pitchFamily="34" charset="0"/>
                <a:ea typeface="Microsoft YaHei" pitchFamily="34" charset="-122"/>
                <a:cs typeface="Microsoft YaHei" pitchFamily="34" charset="-120"/>
              </a:rPr>
              <a:t>想要能力</a:t>
            </a:r>
            <a:endParaRPr lang="en-US" sz="2000" dirty="0"/>
          </a:p>
        </p:txBody>
      </p:sp>
      <p:sp>
        <p:nvSpPr>
          <p:cNvPr id="5" name="Text 3"/>
          <p:cNvSpPr/>
          <p:nvPr/>
        </p:nvSpPr>
        <p:spPr>
          <a:xfrm>
            <a:off x="3840480" y="1645920"/>
            <a:ext cx="548640" cy="640080"/>
          </a:xfrm>
          <a:prstGeom prst="rect">
            <a:avLst/>
          </a:prstGeom>
          <a:noFill/>
          <a:ln/>
        </p:spPr>
        <p:txBody>
          <a:bodyPr wrap="square" lIns="0" tIns="0" rIns="0" bIns="0" rtlCol="0" anchor="ctr"/>
          <a:lstStyle/>
          <a:p>
            <a:pPr algn="ctr" indent="0" marL="0">
              <a:buNone/>
            </a:pPr>
            <a:r>
              <a:rPr lang="en-US" sz="2400" b="1" dirty="0">
                <a:solidFill>
                  <a:srgbClr val="2E9E83"/>
                </a:solidFill>
                <a:latin typeface="Microsoft YaHei" pitchFamily="34" charset="0"/>
                <a:ea typeface="Microsoft YaHei" pitchFamily="34" charset="-122"/>
                <a:cs typeface="Microsoft YaHei" pitchFamily="34" charset="-120"/>
              </a:rPr>
              <a:t>→</a:t>
            </a:r>
            <a:endParaRPr lang="en-US" sz="2400" dirty="0"/>
          </a:p>
        </p:txBody>
      </p:sp>
      <p:sp>
        <p:nvSpPr>
          <p:cNvPr id="6" name="Shape 4"/>
          <p:cNvSpPr/>
          <p:nvPr/>
        </p:nvSpPr>
        <p:spPr>
          <a:xfrm>
            <a:off x="4480560" y="1719072"/>
            <a:ext cx="3108960" cy="502920"/>
          </a:xfrm>
          <a:prstGeom prst="rect">
            <a:avLst/>
          </a:prstGeom>
          <a:solidFill>
            <a:srgbClr val="28B894"/>
          </a:solidFill>
          <a:ln/>
        </p:spPr>
      </p:sp>
      <p:sp>
        <p:nvSpPr>
          <p:cNvPr id="7" name="Text 5"/>
          <p:cNvSpPr/>
          <p:nvPr/>
        </p:nvSpPr>
        <p:spPr>
          <a:xfrm>
            <a:off x="4480560" y="1719072"/>
            <a:ext cx="310896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Microsoft YaHei" pitchFamily="34" charset="0"/>
                <a:ea typeface="Microsoft YaHei" pitchFamily="34" charset="-122"/>
                <a:cs typeface="Microsoft YaHei" pitchFamily="34" charset="-120"/>
              </a:rPr>
              <a:t>找技能</a:t>
            </a:r>
            <a:endParaRPr lang="en-US" sz="2000" dirty="0"/>
          </a:p>
        </p:txBody>
      </p:sp>
      <p:sp>
        <p:nvSpPr>
          <p:cNvPr id="8" name="Text 6"/>
          <p:cNvSpPr/>
          <p:nvPr/>
        </p:nvSpPr>
        <p:spPr>
          <a:xfrm>
            <a:off x="914400" y="2560320"/>
            <a:ext cx="2926080" cy="640080"/>
          </a:xfrm>
          <a:prstGeom prst="rect">
            <a:avLst/>
          </a:prstGeom>
          <a:noFill/>
          <a:ln/>
        </p:spPr>
        <p:txBody>
          <a:bodyPr wrap="square" lIns="0" tIns="0" rIns="0" bIns="0" rtlCol="0" anchor="ctr"/>
          <a:lstStyle/>
          <a:p>
            <a:pPr indent="0" marL="0">
              <a:buNone/>
            </a:pPr>
            <a:r>
              <a:rPr lang="en-US" sz="2000" dirty="0">
                <a:solidFill>
                  <a:srgbClr val="FFFFFF"/>
                </a:solidFill>
                <a:latin typeface="Microsoft YaHei" pitchFamily="34" charset="0"/>
                <a:ea typeface="Microsoft YaHei" pitchFamily="34" charset="-122"/>
                <a:cs typeface="Microsoft YaHei" pitchFamily="34" charset="-120"/>
              </a:rPr>
              <a:t>想要建议</a:t>
            </a:r>
            <a:endParaRPr lang="en-US" sz="2000" dirty="0"/>
          </a:p>
        </p:txBody>
      </p:sp>
      <p:sp>
        <p:nvSpPr>
          <p:cNvPr id="9" name="Text 7"/>
          <p:cNvSpPr/>
          <p:nvPr/>
        </p:nvSpPr>
        <p:spPr>
          <a:xfrm>
            <a:off x="3840480" y="2560320"/>
            <a:ext cx="548640" cy="640080"/>
          </a:xfrm>
          <a:prstGeom prst="rect">
            <a:avLst/>
          </a:prstGeom>
          <a:noFill/>
          <a:ln/>
        </p:spPr>
        <p:txBody>
          <a:bodyPr wrap="square" lIns="0" tIns="0" rIns="0" bIns="0" rtlCol="0" anchor="ctr"/>
          <a:lstStyle/>
          <a:p>
            <a:pPr algn="ctr" indent="0" marL="0">
              <a:buNone/>
            </a:pPr>
            <a:r>
              <a:rPr lang="en-US" sz="2400" b="1" dirty="0">
                <a:solidFill>
                  <a:srgbClr val="2E9E83"/>
                </a:solidFill>
                <a:latin typeface="Microsoft YaHei" pitchFamily="34" charset="0"/>
                <a:ea typeface="Microsoft YaHei" pitchFamily="34" charset="-122"/>
                <a:cs typeface="Microsoft YaHei" pitchFamily="34" charset="-120"/>
              </a:rPr>
              <a:t>→</a:t>
            </a:r>
            <a:endParaRPr lang="en-US" sz="2400" dirty="0"/>
          </a:p>
        </p:txBody>
      </p:sp>
      <p:sp>
        <p:nvSpPr>
          <p:cNvPr id="10" name="Shape 8"/>
          <p:cNvSpPr/>
          <p:nvPr/>
        </p:nvSpPr>
        <p:spPr>
          <a:xfrm>
            <a:off x="4480560" y="2633472"/>
            <a:ext cx="3108960" cy="502920"/>
          </a:xfrm>
          <a:prstGeom prst="rect">
            <a:avLst/>
          </a:prstGeom>
          <a:solidFill>
            <a:srgbClr val="28B894"/>
          </a:solidFill>
          <a:ln/>
        </p:spPr>
      </p:sp>
      <p:sp>
        <p:nvSpPr>
          <p:cNvPr id="11" name="Text 9"/>
          <p:cNvSpPr/>
          <p:nvPr/>
        </p:nvSpPr>
        <p:spPr>
          <a:xfrm>
            <a:off x="4480560" y="2633472"/>
            <a:ext cx="310896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Microsoft YaHei" pitchFamily="34" charset="0"/>
                <a:ea typeface="Microsoft YaHei" pitchFamily="34" charset="-122"/>
                <a:cs typeface="Microsoft YaHei" pitchFamily="34" charset="-120"/>
              </a:rPr>
              <a:t>找专家</a:t>
            </a:r>
            <a:endParaRPr lang="en-US" sz="2000" dirty="0"/>
          </a:p>
        </p:txBody>
      </p:sp>
      <p:sp>
        <p:nvSpPr>
          <p:cNvPr id="12" name="Text 10"/>
          <p:cNvSpPr/>
          <p:nvPr/>
        </p:nvSpPr>
        <p:spPr>
          <a:xfrm>
            <a:off x="914400" y="3474720"/>
            <a:ext cx="2926080" cy="640080"/>
          </a:xfrm>
          <a:prstGeom prst="rect">
            <a:avLst/>
          </a:prstGeom>
          <a:noFill/>
          <a:ln/>
        </p:spPr>
        <p:txBody>
          <a:bodyPr wrap="square" lIns="0" tIns="0" rIns="0" bIns="0" rtlCol="0" anchor="ctr"/>
          <a:lstStyle/>
          <a:p>
            <a:pPr indent="0" marL="0">
              <a:buNone/>
            </a:pPr>
            <a:r>
              <a:rPr lang="en-US" sz="2000" dirty="0">
                <a:solidFill>
                  <a:srgbClr val="B8E8DC"/>
                </a:solidFill>
                <a:latin typeface="Microsoft YaHei" pitchFamily="34" charset="0"/>
                <a:ea typeface="Microsoft YaHei" pitchFamily="34" charset="-122"/>
                <a:cs typeface="Microsoft YaHei" pitchFamily="34" charset="-120"/>
              </a:rPr>
              <a:t>想要团队协作攻坚</a:t>
            </a:r>
            <a:endParaRPr lang="en-US" sz="2000" dirty="0"/>
          </a:p>
        </p:txBody>
      </p:sp>
      <p:sp>
        <p:nvSpPr>
          <p:cNvPr id="13" name="Text 11"/>
          <p:cNvSpPr/>
          <p:nvPr/>
        </p:nvSpPr>
        <p:spPr>
          <a:xfrm>
            <a:off x="3840480" y="3474720"/>
            <a:ext cx="548640" cy="640080"/>
          </a:xfrm>
          <a:prstGeom prst="rect">
            <a:avLst/>
          </a:prstGeom>
          <a:noFill/>
          <a:ln/>
        </p:spPr>
        <p:txBody>
          <a:bodyPr wrap="square" lIns="0" tIns="0" rIns="0" bIns="0" rtlCol="0" anchor="ctr"/>
          <a:lstStyle/>
          <a:p>
            <a:pPr algn="ctr" indent="0" marL="0">
              <a:buNone/>
            </a:pPr>
            <a:r>
              <a:rPr lang="en-US" sz="2400" b="1" dirty="0">
                <a:solidFill>
                  <a:srgbClr val="2E9E83"/>
                </a:solidFill>
                <a:latin typeface="Microsoft YaHei" pitchFamily="34" charset="0"/>
                <a:ea typeface="Microsoft YaHei" pitchFamily="34" charset="-122"/>
                <a:cs typeface="Microsoft YaHei" pitchFamily="34" charset="-120"/>
              </a:rPr>
              <a:t>→</a:t>
            </a:r>
            <a:endParaRPr lang="en-US" sz="2400" dirty="0"/>
          </a:p>
        </p:txBody>
      </p:sp>
      <p:sp>
        <p:nvSpPr>
          <p:cNvPr id="14" name="Shape 12"/>
          <p:cNvSpPr/>
          <p:nvPr/>
        </p:nvSpPr>
        <p:spPr>
          <a:xfrm>
            <a:off x="4480560" y="3547872"/>
            <a:ext cx="3108960" cy="502920"/>
          </a:xfrm>
          <a:prstGeom prst="rect">
            <a:avLst/>
          </a:prstGeom>
          <a:solidFill>
            <a:srgbClr val="28B894"/>
          </a:solidFill>
          <a:ln/>
        </p:spPr>
      </p:sp>
      <p:sp>
        <p:nvSpPr>
          <p:cNvPr id="15" name="Text 13"/>
          <p:cNvSpPr/>
          <p:nvPr/>
        </p:nvSpPr>
        <p:spPr>
          <a:xfrm>
            <a:off x="4480560" y="3547872"/>
            <a:ext cx="310896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Microsoft YaHei" pitchFamily="34" charset="0"/>
                <a:ea typeface="Microsoft YaHei" pitchFamily="34" charset="-122"/>
                <a:cs typeface="Microsoft YaHei" pitchFamily="34" charset="-120"/>
              </a:rPr>
              <a:t>找专家团</a:t>
            </a:r>
            <a:endParaRPr lang="en-US" sz="2000" dirty="0"/>
          </a:p>
        </p:txBody>
      </p:sp>
      <p:sp>
        <p:nvSpPr>
          <p:cNvPr id="16" name="Text 14"/>
          <p:cNvSpPr/>
          <p:nvPr/>
        </p:nvSpPr>
        <p:spPr>
          <a:xfrm>
            <a:off x="548640" y="4434840"/>
            <a:ext cx="8046720" cy="365760"/>
          </a:xfrm>
          <a:prstGeom prst="rect">
            <a:avLst/>
          </a:prstGeom>
          <a:noFill/>
          <a:ln/>
        </p:spPr>
        <p:txBody>
          <a:bodyPr wrap="square" lIns="0" tIns="0" rIns="0" bIns="0" rtlCol="0" anchor="ctr"/>
          <a:lstStyle/>
          <a:p>
            <a:pPr indent="0" marL="0">
              <a:buNone/>
            </a:pPr>
            <a:r>
              <a:rPr lang="en-US" sz="1300" i="1" dirty="0">
                <a:solidFill>
                  <a:srgbClr val="C8E8E0"/>
                </a:solidFill>
                <a:latin typeface="Microsoft YaHei" pitchFamily="34" charset="0"/>
                <a:ea typeface="Microsoft YaHei" pitchFamily="34" charset="-122"/>
                <a:cs typeface="Microsoft YaHei" pitchFamily="34" charset="-120"/>
              </a:rPr>
              <a:t>—— 能力进阶链：工具（Skill）→ 方法与角色（专家）→ 团队协同（专家团）</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F8F6"/>
        </a:solidFill>
      </p:bgPr>
    </p:bg>
    <p:spTree>
      <p:nvGrpSpPr>
        <p:cNvPr id="1" name=""/>
        <p:cNvGrpSpPr/>
        <p:nvPr/>
      </p:nvGrpSpPr>
      <p:grpSpPr>
        <a:xfrm>
          <a:off x="0" y="0"/>
          <a:ext cx="0" cy="0"/>
          <a:chOff x="0" y="0"/>
          <a:chExt cx="0" cy="0"/>
        </a:xfrm>
      </p:grpSpPr>
      <p:sp>
        <p:nvSpPr>
          <p:cNvPr id="2" name="Text 0"/>
          <p:cNvSpPr/>
          <p:nvPr/>
        </p:nvSpPr>
        <p:spPr>
          <a:xfrm>
            <a:off x="548640" y="274320"/>
            <a:ext cx="8046720" cy="594360"/>
          </a:xfrm>
          <a:prstGeom prst="rect">
            <a:avLst/>
          </a:prstGeom>
          <a:noFill/>
          <a:ln/>
        </p:spPr>
        <p:txBody>
          <a:bodyPr wrap="square" lIns="0" tIns="0" rIns="0" bIns="0" rtlCol="0" anchor="ctr"/>
          <a:lstStyle/>
          <a:p>
            <a:pPr indent="0" marL="0">
              <a:buNone/>
            </a:pPr>
            <a:r>
              <a:rPr lang="en-US" sz="2600" b="1" dirty="0">
                <a:solidFill>
                  <a:srgbClr val="28B894"/>
                </a:solidFill>
                <a:latin typeface="Microsoft YaHei" pitchFamily="34" charset="0"/>
                <a:ea typeface="Microsoft YaHei" pitchFamily="34" charset="-122"/>
                <a:cs typeface="Microsoft YaHei" pitchFamily="34" charset="-120"/>
              </a:rPr>
              <a:t>召唤与自定义流程</a:t>
            </a:r>
            <a:endParaRPr lang="en-US" sz="2600" dirty="0"/>
          </a:p>
        </p:txBody>
      </p:sp>
      <p:sp>
        <p:nvSpPr>
          <p:cNvPr id="3" name="Shape 1"/>
          <p:cNvSpPr/>
          <p:nvPr/>
        </p:nvSpPr>
        <p:spPr>
          <a:xfrm>
            <a:off x="548640" y="868680"/>
            <a:ext cx="914400" cy="32004"/>
          </a:xfrm>
          <a:prstGeom prst="rect">
            <a:avLst/>
          </a:prstGeom>
          <a:solidFill>
            <a:srgbClr val="2E9E83"/>
          </a:solidFill>
          <a:ln/>
        </p:spPr>
      </p:sp>
      <p:sp>
        <p:nvSpPr>
          <p:cNvPr id="4" name="Shape 2"/>
          <p:cNvSpPr/>
          <p:nvPr/>
        </p:nvSpPr>
        <p:spPr>
          <a:xfrm>
            <a:off x="548640" y="1024128"/>
            <a:ext cx="8046720" cy="365760"/>
          </a:xfrm>
          <a:prstGeom prst="rect">
            <a:avLst/>
          </a:prstGeom>
          <a:solidFill>
            <a:srgbClr val="E0F2EC"/>
          </a:solidFill>
          <a:ln/>
        </p:spPr>
      </p:sp>
      <p:sp>
        <p:nvSpPr>
          <p:cNvPr id="5" name="Text 3"/>
          <p:cNvSpPr/>
          <p:nvPr/>
        </p:nvSpPr>
        <p:spPr>
          <a:xfrm>
            <a:off x="731520" y="1024128"/>
            <a:ext cx="7772400" cy="365760"/>
          </a:xfrm>
          <a:prstGeom prst="rect">
            <a:avLst/>
          </a:prstGeom>
          <a:noFill/>
          <a:ln/>
        </p:spPr>
        <p:txBody>
          <a:bodyPr wrap="square" lIns="0" tIns="0" rIns="0" bIns="0" rtlCol="0" anchor="ctr"/>
          <a:lstStyle/>
          <a:p>
            <a:pPr indent="0" marL="0">
              <a:buNone/>
            </a:pPr>
            <a:r>
              <a:rPr lang="en-US" sz="1150" dirty="0">
                <a:solidFill>
                  <a:srgbClr val="2C3E50"/>
                </a:solidFill>
                <a:latin typeface="Microsoft YaHei" pitchFamily="34" charset="0"/>
                <a:ea typeface="Microsoft YaHei" pitchFamily="34" charset="-122"/>
                <a:cs typeface="Microsoft YaHei" pitchFamily="34" charset="-120"/>
              </a:rPr>
              <a:t>请参见产品界面：点击左侧边栏的“专家”入口，即可浏览系统内置及已创建的专家列表。</a:t>
            </a:r>
            <a:endParaRPr lang="en-US" sz="1150" dirty="0"/>
          </a:p>
        </p:txBody>
      </p:sp>
      <p:sp>
        <p:nvSpPr>
          <p:cNvPr id="6" name="Text 4"/>
          <p:cNvSpPr/>
          <p:nvPr/>
        </p:nvSpPr>
        <p:spPr>
          <a:xfrm>
            <a:off x="548640" y="1481328"/>
            <a:ext cx="3657600" cy="292608"/>
          </a:xfrm>
          <a:prstGeom prst="rect">
            <a:avLst/>
          </a:prstGeom>
          <a:noFill/>
          <a:ln/>
        </p:spPr>
        <p:txBody>
          <a:bodyPr wrap="square" lIns="0" tIns="0" rIns="0" bIns="0" rtlCol="0" anchor="ctr"/>
          <a:lstStyle/>
          <a:p>
            <a:pPr indent="0" marL="0">
              <a:buNone/>
            </a:pPr>
            <a:r>
              <a:rPr lang="en-US" sz="1300" b="1" dirty="0">
                <a:solidFill>
                  <a:srgbClr val="28B894"/>
                </a:solidFill>
                <a:latin typeface="Microsoft YaHei" pitchFamily="34" charset="0"/>
                <a:ea typeface="Microsoft YaHei" pitchFamily="34" charset="-122"/>
                <a:cs typeface="Microsoft YaHei" pitchFamily="34" charset="-120"/>
              </a:rPr>
              <a:t>召唤专家的标准流程</a:t>
            </a:r>
            <a:endParaRPr lang="en-US" sz="1300" dirty="0"/>
          </a:p>
        </p:txBody>
      </p:sp>
      <p:sp>
        <p:nvSpPr>
          <p:cNvPr id="7" name="Shape 5"/>
          <p:cNvSpPr/>
          <p:nvPr/>
        </p:nvSpPr>
        <p:spPr>
          <a:xfrm>
            <a:off x="640080" y="1837944"/>
            <a:ext cx="411480" cy="411480"/>
          </a:xfrm>
          <a:prstGeom prst="ellipse">
            <a:avLst/>
          </a:prstGeom>
          <a:solidFill>
            <a:srgbClr val="5A6B7F"/>
          </a:solidFill>
          <a:ln/>
        </p:spPr>
      </p:sp>
      <p:sp>
        <p:nvSpPr>
          <p:cNvPr id="8" name="Text 6"/>
          <p:cNvSpPr/>
          <p:nvPr/>
        </p:nvSpPr>
        <p:spPr>
          <a:xfrm>
            <a:off x="640080" y="1837944"/>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01</a:t>
            </a:r>
            <a:endParaRPr lang="en-US" sz="1400" dirty="0"/>
          </a:p>
        </p:txBody>
      </p:sp>
      <p:sp>
        <p:nvSpPr>
          <p:cNvPr id="9" name="Text 7"/>
          <p:cNvSpPr/>
          <p:nvPr/>
        </p:nvSpPr>
        <p:spPr>
          <a:xfrm>
            <a:off x="1234440" y="1810512"/>
            <a:ext cx="1920240" cy="457200"/>
          </a:xfrm>
          <a:prstGeom prst="rect">
            <a:avLst/>
          </a:prstGeom>
          <a:noFill/>
          <a:ln/>
        </p:spPr>
        <p:txBody>
          <a:bodyPr wrap="square" lIns="0" tIns="0" rIns="0" bIns="0" rtlCol="0" anchor="ctr"/>
          <a:lstStyle/>
          <a:p>
            <a:pPr indent="0" marL="0">
              <a:buNone/>
            </a:pPr>
            <a:r>
              <a:rPr lang="en-US" sz="1250" b="1" dirty="0">
                <a:solidFill>
                  <a:srgbClr val="28B894"/>
                </a:solidFill>
                <a:latin typeface="Microsoft YaHei" pitchFamily="34" charset="0"/>
                <a:ea typeface="Microsoft YaHei" pitchFamily="34" charset="-122"/>
                <a:cs typeface="Microsoft YaHei" pitchFamily="34" charset="-120"/>
              </a:rPr>
              <a:t>浏览与筛选</a:t>
            </a:r>
            <a:endParaRPr lang="en-US" sz="1250" dirty="0"/>
          </a:p>
        </p:txBody>
      </p:sp>
      <p:sp>
        <p:nvSpPr>
          <p:cNvPr id="10" name="Text 8"/>
          <p:cNvSpPr/>
          <p:nvPr/>
        </p:nvSpPr>
        <p:spPr>
          <a:xfrm>
            <a:off x="3246120" y="1810512"/>
            <a:ext cx="5303520" cy="457200"/>
          </a:xfrm>
          <a:prstGeom prst="rect">
            <a:avLst/>
          </a:prstGeom>
          <a:noFill/>
          <a:ln/>
        </p:spPr>
        <p:txBody>
          <a:bodyPr wrap="square" lIns="0" tIns="0" rIns="0" bIns="0" rtlCol="0" anchor="ctr"/>
          <a:lstStyle/>
          <a:p>
            <a:pPr indent="0" marL="0">
              <a:buNone/>
            </a:pPr>
            <a:r>
              <a:rPr lang="en-US" sz="1100" dirty="0">
                <a:solidFill>
                  <a:srgbClr val="2C3E50"/>
                </a:solidFill>
                <a:latin typeface="Microsoft YaHei" pitchFamily="34" charset="0"/>
                <a:ea typeface="Microsoft YaHei" pitchFamily="34" charset="-122"/>
                <a:cs typeface="Microsoft YaHei" pitchFamily="34" charset="-120"/>
              </a:rPr>
              <a:t>在专家中心通过标签或搜索定位所需领域</a:t>
            </a:r>
            <a:endParaRPr lang="en-US" sz="1100" dirty="0"/>
          </a:p>
        </p:txBody>
      </p:sp>
      <p:sp>
        <p:nvSpPr>
          <p:cNvPr id="11" name="Shape 9"/>
          <p:cNvSpPr/>
          <p:nvPr/>
        </p:nvSpPr>
        <p:spPr>
          <a:xfrm>
            <a:off x="640080" y="2368296"/>
            <a:ext cx="411480" cy="411480"/>
          </a:xfrm>
          <a:prstGeom prst="ellipse">
            <a:avLst/>
          </a:prstGeom>
          <a:solidFill>
            <a:srgbClr val="5A6B7F"/>
          </a:solidFill>
          <a:ln/>
        </p:spPr>
      </p:sp>
      <p:sp>
        <p:nvSpPr>
          <p:cNvPr id="12" name="Text 10"/>
          <p:cNvSpPr/>
          <p:nvPr/>
        </p:nvSpPr>
        <p:spPr>
          <a:xfrm>
            <a:off x="640080" y="236829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02</a:t>
            </a:r>
            <a:endParaRPr lang="en-US" sz="1400" dirty="0"/>
          </a:p>
        </p:txBody>
      </p:sp>
      <p:sp>
        <p:nvSpPr>
          <p:cNvPr id="13" name="Text 11"/>
          <p:cNvSpPr/>
          <p:nvPr/>
        </p:nvSpPr>
        <p:spPr>
          <a:xfrm>
            <a:off x="1234440" y="2340864"/>
            <a:ext cx="1920240" cy="457200"/>
          </a:xfrm>
          <a:prstGeom prst="rect">
            <a:avLst/>
          </a:prstGeom>
          <a:noFill/>
          <a:ln/>
        </p:spPr>
        <p:txBody>
          <a:bodyPr wrap="square" lIns="0" tIns="0" rIns="0" bIns="0" rtlCol="0" anchor="ctr"/>
          <a:lstStyle/>
          <a:p>
            <a:pPr indent="0" marL="0">
              <a:buNone/>
            </a:pPr>
            <a:r>
              <a:rPr lang="en-US" sz="1250" b="1" dirty="0">
                <a:solidFill>
                  <a:srgbClr val="28B894"/>
                </a:solidFill>
                <a:latin typeface="Microsoft YaHei" pitchFamily="34" charset="0"/>
                <a:ea typeface="Microsoft YaHei" pitchFamily="34" charset="-122"/>
                <a:cs typeface="Microsoft YaHei" pitchFamily="34" charset="-120"/>
              </a:rPr>
              <a:t>评估卡片</a:t>
            </a:r>
            <a:endParaRPr lang="en-US" sz="1250" dirty="0"/>
          </a:p>
        </p:txBody>
      </p:sp>
      <p:sp>
        <p:nvSpPr>
          <p:cNvPr id="14" name="Text 12"/>
          <p:cNvSpPr/>
          <p:nvPr/>
        </p:nvSpPr>
        <p:spPr>
          <a:xfrm>
            <a:off x="3246120" y="2340864"/>
            <a:ext cx="5303520" cy="457200"/>
          </a:xfrm>
          <a:prstGeom prst="rect">
            <a:avLst/>
          </a:prstGeom>
          <a:noFill/>
          <a:ln/>
        </p:spPr>
        <p:txBody>
          <a:bodyPr wrap="square" lIns="0" tIns="0" rIns="0" bIns="0" rtlCol="0" anchor="ctr"/>
          <a:lstStyle/>
          <a:p>
            <a:pPr indent="0" marL="0">
              <a:buNone/>
            </a:pPr>
            <a:r>
              <a:rPr lang="en-US" sz="1100" dirty="0">
                <a:solidFill>
                  <a:srgbClr val="2C3E50"/>
                </a:solidFill>
                <a:latin typeface="Microsoft YaHei" pitchFamily="34" charset="0"/>
                <a:ea typeface="Microsoft YaHei" pitchFamily="34" charset="-122"/>
                <a:cs typeface="Microsoft YaHei" pitchFamily="34" charset="-120"/>
              </a:rPr>
              <a:t>查看能力介绍、擅长领域和任务示例，对比后做出选择</a:t>
            </a:r>
            <a:endParaRPr lang="en-US" sz="1100" dirty="0"/>
          </a:p>
        </p:txBody>
      </p:sp>
      <p:sp>
        <p:nvSpPr>
          <p:cNvPr id="15" name="Shape 13"/>
          <p:cNvSpPr/>
          <p:nvPr/>
        </p:nvSpPr>
        <p:spPr>
          <a:xfrm>
            <a:off x="640080" y="2898648"/>
            <a:ext cx="411480" cy="411480"/>
          </a:xfrm>
          <a:prstGeom prst="ellipse">
            <a:avLst/>
          </a:prstGeom>
          <a:solidFill>
            <a:srgbClr val="5A6B7F"/>
          </a:solidFill>
          <a:ln/>
        </p:spPr>
      </p:sp>
      <p:sp>
        <p:nvSpPr>
          <p:cNvPr id="16" name="Text 14"/>
          <p:cNvSpPr/>
          <p:nvPr/>
        </p:nvSpPr>
        <p:spPr>
          <a:xfrm>
            <a:off x="640080" y="289864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03</a:t>
            </a:r>
            <a:endParaRPr lang="en-US" sz="1400" dirty="0"/>
          </a:p>
        </p:txBody>
      </p:sp>
      <p:sp>
        <p:nvSpPr>
          <p:cNvPr id="17" name="Text 15"/>
          <p:cNvSpPr/>
          <p:nvPr/>
        </p:nvSpPr>
        <p:spPr>
          <a:xfrm>
            <a:off x="1234440" y="2871216"/>
            <a:ext cx="1920240" cy="457200"/>
          </a:xfrm>
          <a:prstGeom prst="rect">
            <a:avLst/>
          </a:prstGeom>
          <a:noFill/>
          <a:ln/>
        </p:spPr>
        <p:txBody>
          <a:bodyPr wrap="square" lIns="0" tIns="0" rIns="0" bIns="0" rtlCol="0" anchor="ctr"/>
          <a:lstStyle/>
          <a:p>
            <a:pPr indent="0" marL="0">
              <a:buNone/>
            </a:pPr>
            <a:r>
              <a:rPr lang="en-US" sz="1250" b="1" dirty="0">
                <a:solidFill>
                  <a:srgbClr val="28B894"/>
                </a:solidFill>
                <a:latin typeface="Microsoft YaHei" pitchFamily="34" charset="0"/>
                <a:ea typeface="Microsoft YaHei" pitchFamily="34" charset="-122"/>
                <a:cs typeface="Microsoft YaHei" pitchFamily="34" charset="-120"/>
              </a:rPr>
              <a:t>确认成本</a:t>
            </a:r>
            <a:endParaRPr lang="en-US" sz="1250" dirty="0"/>
          </a:p>
        </p:txBody>
      </p:sp>
      <p:sp>
        <p:nvSpPr>
          <p:cNvPr id="18" name="Text 16"/>
          <p:cNvSpPr/>
          <p:nvPr/>
        </p:nvSpPr>
        <p:spPr>
          <a:xfrm>
            <a:off x="3246120" y="2871216"/>
            <a:ext cx="5303520" cy="457200"/>
          </a:xfrm>
          <a:prstGeom prst="rect">
            <a:avLst/>
          </a:prstGeom>
          <a:noFill/>
          <a:ln/>
        </p:spPr>
        <p:txBody>
          <a:bodyPr wrap="square" lIns="0" tIns="0" rIns="0" bIns="0" rtlCol="0" anchor="ctr"/>
          <a:lstStyle/>
          <a:p>
            <a:pPr indent="0" marL="0">
              <a:buNone/>
            </a:pPr>
            <a:r>
              <a:rPr lang="en-US" sz="1100" dirty="0">
                <a:solidFill>
                  <a:srgbClr val="2C3E50"/>
                </a:solidFill>
                <a:latin typeface="Microsoft YaHei" pitchFamily="34" charset="0"/>
                <a:ea typeface="Microsoft YaHei" pitchFamily="34" charset="-122"/>
                <a:cs typeface="Microsoft YaHei" pitchFamily="34" charset="-120"/>
              </a:rPr>
              <a:t>留意该实体的积分消耗提示（特别是专家团），并明确 AI 生成内容仅供参考的原则</a:t>
            </a:r>
            <a:endParaRPr lang="en-US" sz="1100" dirty="0"/>
          </a:p>
        </p:txBody>
      </p:sp>
      <p:sp>
        <p:nvSpPr>
          <p:cNvPr id="19" name="Shape 17"/>
          <p:cNvSpPr/>
          <p:nvPr/>
        </p:nvSpPr>
        <p:spPr>
          <a:xfrm>
            <a:off x="640080" y="3429000"/>
            <a:ext cx="411480" cy="411480"/>
          </a:xfrm>
          <a:prstGeom prst="ellipse">
            <a:avLst/>
          </a:prstGeom>
          <a:solidFill>
            <a:srgbClr val="5A6B7F"/>
          </a:solidFill>
          <a:ln/>
        </p:spPr>
      </p:sp>
      <p:sp>
        <p:nvSpPr>
          <p:cNvPr id="20" name="Text 18"/>
          <p:cNvSpPr/>
          <p:nvPr/>
        </p:nvSpPr>
        <p:spPr>
          <a:xfrm>
            <a:off x="640080" y="342900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04</a:t>
            </a:r>
            <a:endParaRPr lang="en-US" sz="1400" dirty="0"/>
          </a:p>
        </p:txBody>
      </p:sp>
      <p:sp>
        <p:nvSpPr>
          <p:cNvPr id="21" name="Text 19"/>
          <p:cNvSpPr/>
          <p:nvPr/>
        </p:nvSpPr>
        <p:spPr>
          <a:xfrm>
            <a:off x="1234440" y="3401568"/>
            <a:ext cx="1920240" cy="457200"/>
          </a:xfrm>
          <a:prstGeom prst="rect">
            <a:avLst/>
          </a:prstGeom>
          <a:noFill/>
          <a:ln/>
        </p:spPr>
        <p:txBody>
          <a:bodyPr wrap="square" lIns="0" tIns="0" rIns="0" bIns="0" rtlCol="0" anchor="ctr"/>
          <a:lstStyle/>
          <a:p>
            <a:pPr indent="0" marL="0">
              <a:buNone/>
            </a:pPr>
            <a:r>
              <a:rPr lang="en-US" sz="1250" b="1" dirty="0">
                <a:solidFill>
                  <a:srgbClr val="28B894"/>
                </a:solidFill>
                <a:latin typeface="Microsoft YaHei" pitchFamily="34" charset="0"/>
                <a:ea typeface="Microsoft YaHei" pitchFamily="34" charset="-122"/>
                <a:cs typeface="Microsoft YaHei" pitchFamily="34" charset="-120"/>
              </a:rPr>
              <a:t>下达任务</a:t>
            </a:r>
            <a:endParaRPr lang="en-US" sz="1250" dirty="0"/>
          </a:p>
        </p:txBody>
      </p:sp>
      <p:sp>
        <p:nvSpPr>
          <p:cNvPr id="22" name="Text 20"/>
          <p:cNvSpPr/>
          <p:nvPr/>
        </p:nvSpPr>
        <p:spPr>
          <a:xfrm>
            <a:off x="3246120" y="3401568"/>
            <a:ext cx="5303520" cy="457200"/>
          </a:xfrm>
          <a:prstGeom prst="rect">
            <a:avLst/>
          </a:prstGeom>
          <a:noFill/>
          <a:ln/>
        </p:spPr>
        <p:txBody>
          <a:bodyPr wrap="square" lIns="0" tIns="0" rIns="0" bIns="0" rtlCol="0" anchor="ctr"/>
          <a:lstStyle/>
          <a:p>
            <a:pPr indent="0" marL="0">
              <a:buNone/>
            </a:pPr>
            <a:r>
              <a:rPr lang="en-US" sz="1100" dirty="0">
                <a:solidFill>
                  <a:srgbClr val="2C3E50"/>
                </a:solidFill>
                <a:latin typeface="Microsoft YaHei" pitchFamily="34" charset="0"/>
                <a:ea typeface="Microsoft YaHei" pitchFamily="34" charset="-122"/>
                <a:cs typeface="Microsoft YaHei" pitchFamily="34" charset="-120"/>
              </a:rPr>
              <a:t>使用自然语言向专家描述任务需求；专家团场景下团长自动接管并进行后续拆解</a:t>
            </a:r>
            <a:endParaRPr lang="en-US" sz="1100" dirty="0"/>
          </a:p>
        </p:txBody>
      </p:sp>
      <p:sp>
        <p:nvSpPr>
          <p:cNvPr id="23" name="Shape 21"/>
          <p:cNvSpPr/>
          <p:nvPr/>
        </p:nvSpPr>
        <p:spPr>
          <a:xfrm>
            <a:off x="548640" y="4023360"/>
            <a:ext cx="8046720" cy="841248"/>
          </a:xfrm>
          <a:prstGeom prst="rect">
            <a:avLst/>
          </a:prstGeom>
          <a:solidFill>
            <a:srgbClr val="E9F5F1"/>
          </a:solidFill>
          <a:ln/>
          <a:effectLst>
            <a:outerShdw sx="100000" sy="100000" kx="0" ky="0" algn="bl" rotWithShape="0" blurRad="76200" dist="25400" dir="8100000">
              <a:srgbClr val="000000">
                <a:alpha val="8000"/>
              </a:srgbClr>
            </a:outerShdw>
          </a:effectLst>
        </p:spPr>
      </p:sp>
      <p:sp>
        <p:nvSpPr>
          <p:cNvPr id="24" name="Shape 22"/>
          <p:cNvSpPr/>
          <p:nvPr/>
        </p:nvSpPr>
        <p:spPr>
          <a:xfrm>
            <a:off x="548640" y="4023360"/>
            <a:ext cx="64008" cy="841248"/>
          </a:xfrm>
          <a:prstGeom prst="rect">
            <a:avLst/>
          </a:prstGeom>
          <a:solidFill>
            <a:srgbClr val="2E9E83"/>
          </a:solidFill>
          <a:ln/>
        </p:spPr>
      </p:sp>
      <p:sp>
        <p:nvSpPr>
          <p:cNvPr id="25" name="Text 23"/>
          <p:cNvSpPr/>
          <p:nvPr/>
        </p:nvSpPr>
        <p:spPr>
          <a:xfrm>
            <a:off x="868680" y="4078224"/>
            <a:ext cx="7498080" cy="365760"/>
          </a:xfrm>
          <a:prstGeom prst="rect">
            <a:avLst/>
          </a:prstGeom>
          <a:noFill/>
          <a:ln/>
        </p:spPr>
        <p:txBody>
          <a:bodyPr wrap="square" lIns="0" tIns="0" rIns="0" bIns="0" rtlCol="0" anchor="ctr"/>
          <a:lstStyle/>
          <a:p>
            <a:pPr indent="0" marL="0">
              <a:lnSpc>
                <a:spcPct val="115000"/>
              </a:lnSpc>
              <a:buNone/>
            </a:pPr>
            <a:r>
              <a:rPr lang="en-US" sz="1050" dirty="0">
                <a:solidFill>
                  <a:srgbClr val="2C3E50"/>
                </a:solidFill>
                <a:latin typeface="Microsoft YaHei" pitchFamily="34" charset="0"/>
                <a:ea typeface="Microsoft YaHei" pitchFamily="34" charset="-122"/>
                <a:cs typeface="Microsoft YaHei" pitchFamily="34" charset="-120"/>
              </a:rPr>
              <a:t>创建自定义专家 / 专家团：通过“我的专家”入口创建自己的专家（Agent）或专家团（Team）并分享专业知识，字段约束与向导流程以产品内实际展示为准。</a:t>
            </a:r>
            <a:endParaRPr lang="en-US" sz="1050" dirty="0"/>
          </a:p>
        </p:txBody>
      </p:sp>
      <p:sp>
        <p:nvSpPr>
          <p:cNvPr id="26" name="Text 24"/>
          <p:cNvSpPr/>
          <p:nvPr/>
        </p:nvSpPr>
        <p:spPr>
          <a:xfrm>
            <a:off x="868680" y="4480560"/>
            <a:ext cx="7498080" cy="292608"/>
          </a:xfrm>
          <a:prstGeom prst="rect">
            <a:avLst/>
          </a:prstGeom>
          <a:noFill/>
          <a:ln/>
        </p:spPr>
        <p:txBody>
          <a:bodyPr wrap="square" lIns="0" tIns="0" rIns="0" bIns="0" rtlCol="0" anchor="ctr"/>
          <a:lstStyle/>
          <a:p>
            <a:pPr indent="0" marL="0">
              <a:buNone/>
            </a:pPr>
            <a:r>
              <a:rPr lang="en-US" sz="1000" b="1" dirty="0">
                <a:solidFill>
                  <a:srgbClr val="28B894"/>
                </a:solidFill>
                <a:latin typeface="Microsoft YaHei" pitchFamily="34" charset="0"/>
                <a:ea typeface="Microsoft YaHei" pitchFamily="34" charset="-122"/>
                <a:cs typeface="Microsoft YaHei" pitchFamily="34" charset="-120"/>
              </a:rPr>
              <a:t>建议：从已完成的日常项目中提取优秀的提示词和交互逻辑，将其沉淀为专家的默认经验。</a:t>
            </a:r>
            <a:endParaRPr lang="en-US" sz="1000" dirty="0"/>
          </a:p>
        </p:txBody>
      </p:sp>
      <p:sp>
        <p:nvSpPr>
          <p:cNvPr id="27" name="Text 25"/>
          <p:cNvSpPr/>
          <p:nvPr/>
        </p:nvSpPr>
        <p:spPr>
          <a:xfrm>
            <a:off x="548640" y="4937760"/>
            <a:ext cx="8046720" cy="182880"/>
          </a:xfrm>
          <a:prstGeom prst="rect">
            <a:avLst/>
          </a:prstGeom>
          <a:noFill/>
          <a:ln/>
        </p:spPr>
        <p:txBody>
          <a:bodyPr wrap="square" lIns="0" tIns="0" rIns="0" bIns="0" rtlCol="0" anchor="ctr"/>
          <a:lstStyle/>
          <a:p>
            <a:pPr indent="0" marL="0">
              <a:buNone/>
            </a:pPr>
            <a:r>
              <a:rPr lang="en-US" sz="800" dirty="0">
                <a:solidFill>
                  <a:srgbClr val="7F8C8D"/>
                </a:solidFill>
                <a:latin typeface="Microsoft YaHei" pitchFamily="34" charset="0"/>
                <a:ea typeface="Microsoft YaHei" pitchFamily="34" charset="-122"/>
                <a:cs typeface="Microsoft YaHei" pitchFamily="34" charset="-120"/>
              </a:rPr>
              <a:t>官方文档《专家》：https://www.workbuddy.cn/docs/workbuddy/From-Beginner-to-Expert-Guide/Function-Description/Expert-Center</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594360"/>
          </a:xfrm>
          <a:prstGeom prst="rect">
            <a:avLst/>
          </a:prstGeom>
          <a:noFill/>
          <a:ln/>
        </p:spPr>
        <p:txBody>
          <a:bodyPr wrap="square" lIns="0" tIns="0" rIns="0" bIns="0" rtlCol="0" anchor="ctr"/>
          <a:lstStyle/>
          <a:p>
            <a:pPr indent="0" marL="0">
              <a:buNone/>
            </a:pPr>
            <a:r>
              <a:rPr lang="en-US" sz="2600" b="1" dirty="0">
                <a:solidFill>
                  <a:srgbClr val="28B894"/>
                </a:solidFill>
                <a:latin typeface="Microsoft YaHei" pitchFamily="34" charset="0"/>
                <a:ea typeface="Microsoft YaHei" pitchFamily="34" charset="-122"/>
                <a:cs typeface="Microsoft YaHei" pitchFamily="34" charset="-120"/>
              </a:rPr>
              <a:t>Multi-Agent 协作原理</a:t>
            </a:r>
            <a:endParaRPr lang="en-US" sz="2600" dirty="0"/>
          </a:p>
        </p:txBody>
      </p:sp>
      <p:sp>
        <p:nvSpPr>
          <p:cNvPr id="3" name="Shape 1"/>
          <p:cNvSpPr/>
          <p:nvPr/>
        </p:nvSpPr>
        <p:spPr>
          <a:xfrm>
            <a:off x="548640" y="868680"/>
            <a:ext cx="914400" cy="32004"/>
          </a:xfrm>
          <a:prstGeom prst="rect">
            <a:avLst/>
          </a:prstGeom>
          <a:solidFill>
            <a:srgbClr val="2E9E83"/>
          </a:solidFill>
          <a:ln/>
        </p:spPr>
      </p:sp>
      <p:sp>
        <p:nvSpPr>
          <p:cNvPr id="4" name="Text 2"/>
          <p:cNvSpPr/>
          <p:nvPr/>
        </p:nvSpPr>
        <p:spPr>
          <a:xfrm>
            <a:off x="548640" y="1005840"/>
            <a:ext cx="8046720" cy="320040"/>
          </a:xfrm>
          <a:prstGeom prst="rect">
            <a:avLst/>
          </a:prstGeom>
          <a:noFill/>
          <a:ln/>
        </p:spPr>
        <p:txBody>
          <a:bodyPr wrap="square" lIns="0" tIns="0" rIns="0" bIns="0" rtlCol="0" anchor="ctr"/>
          <a:lstStyle/>
          <a:p>
            <a:pPr indent="0" marL="0">
              <a:buNone/>
            </a:pPr>
            <a:r>
              <a:rPr lang="en-US" sz="1250" dirty="0">
                <a:solidFill>
                  <a:srgbClr val="7F8C8D"/>
                </a:solidFill>
                <a:latin typeface="Microsoft YaHei" pitchFamily="34" charset="0"/>
                <a:ea typeface="Microsoft YaHei" pitchFamily="34" charset="-122"/>
                <a:cs typeface="Microsoft YaHei" pitchFamily="34" charset="-120"/>
              </a:rPr>
              <a:t>专家团的强大源于其精巧的 Multi-Agent 协作机制，基本运行逻辑分为五个关键阶段：</a:t>
            </a:r>
            <a:endParaRPr lang="en-US" sz="1250" dirty="0"/>
          </a:p>
        </p:txBody>
      </p:sp>
      <p:sp>
        <p:nvSpPr>
          <p:cNvPr id="5" name="Shape 3"/>
          <p:cNvSpPr/>
          <p:nvPr/>
        </p:nvSpPr>
        <p:spPr>
          <a:xfrm>
            <a:off x="548640" y="1417320"/>
            <a:ext cx="1481328" cy="18745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6" name="Shape 4"/>
          <p:cNvSpPr/>
          <p:nvPr/>
        </p:nvSpPr>
        <p:spPr>
          <a:xfrm>
            <a:off x="548640" y="1417320"/>
            <a:ext cx="54864" cy="1874520"/>
          </a:xfrm>
          <a:prstGeom prst="rect">
            <a:avLst/>
          </a:prstGeom>
          <a:solidFill>
            <a:srgbClr val="28B894"/>
          </a:solidFill>
          <a:ln/>
        </p:spPr>
      </p:sp>
      <p:sp>
        <p:nvSpPr>
          <p:cNvPr id="7" name="Shape 5"/>
          <p:cNvSpPr/>
          <p:nvPr/>
        </p:nvSpPr>
        <p:spPr>
          <a:xfrm>
            <a:off x="658368" y="1527048"/>
            <a:ext cx="411480" cy="411480"/>
          </a:xfrm>
          <a:prstGeom prst="ellipse">
            <a:avLst/>
          </a:prstGeom>
          <a:solidFill>
            <a:srgbClr val="28B894"/>
          </a:solidFill>
          <a:ln/>
        </p:spPr>
      </p:sp>
      <p:sp>
        <p:nvSpPr>
          <p:cNvPr id="8" name="Text 6"/>
          <p:cNvSpPr/>
          <p:nvPr/>
        </p:nvSpPr>
        <p:spPr>
          <a:xfrm>
            <a:off x="658368" y="152704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01</a:t>
            </a:r>
            <a:endParaRPr lang="en-US" sz="1400" dirty="0"/>
          </a:p>
        </p:txBody>
      </p:sp>
      <p:sp>
        <p:nvSpPr>
          <p:cNvPr id="9" name="Text 7"/>
          <p:cNvSpPr/>
          <p:nvPr/>
        </p:nvSpPr>
        <p:spPr>
          <a:xfrm>
            <a:off x="658368" y="1965960"/>
            <a:ext cx="1261872" cy="274320"/>
          </a:xfrm>
          <a:prstGeom prst="rect">
            <a:avLst/>
          </a:prstGeom>
          <a:noFill/>
          <a:ln/>
        </p:spPr>
        <p:txBody>
          <a:bodyPr wrap="square" lIns="0" tIns="0" rIns="0" bIns="0" rtlCol="0" anchor="ctr"/>
          <a:lstStyle/>
          <a:p>
            <a:pPr indent="0" marL="0">
              <a:buNone/>
            </a:pPr>
            <a:r>
              <a:rPr lang="en-US" sz="1150" b="1" dirty="0">
                <a:solidFill>
                  <a:srgbClr val="28B894"/>
                </a:solidFill>
                <a:latin typeface="Microsoft YaHei" pitchFamily="34" charset="0"/>
                <a:ea typeface="Microsoft YaHei" pitchFamily="34" charset="-122"/>
                <a:cs typeface="Microsoft YaHei" pitchFamily="34" charset="-120"/>
              </a:rPr>
              <a:t>需求理解</a:t>
            </a:r>
            <a:endParaRPr lang="en-US" sz="1150" dirty="0"/>
          </a:p>
        </p:txBody>
      </p:sp>
      <p:sp>
        <p:nvSpPr>
          <p:cNvPr id="10" name="Text 8"/>
          <p:cNvSpPr/>
          <p:nvPr/>
        </p:nvSpPr>
        <p:spPr>
          <a:xfrm>
            <a:off x="658368" y="2267712"/>
            <a:ext cx="1261872" cy="960120"/>
          </a:xfrm>
          <a:prstGeom prst="rect">
            <a:avLst/>
          </a:prstGeom>
          <a:noFill/>
          <a:ln/>
        </p:spPr>
        <p:txBody>
          <a:bodyPr wrap="square" lIns="0" tIns="0" rIns="0" bIns="0" rtlCol="0" anchor="t"/>
          <a:lstStyle/>
          <a:p>
            <a:pPr indent="0" marL="0">
              <a:lnSpc>
                <a:spcPct val="120000"/>
              </a:lnSpc>
              <a:buNone/>
            </a:pPr>
            <a:r>
              <a:rPr lang="en-US" sz="900" dirty="0">
                <a:solidFill>
                  <a:srgbClr val="2C3E50"/>
                </a:solidFill>
                <a:latin typeface="Microsoft YaHei" pitchFamily="34" charset="0"/>
                <a:ea typeface="Microsoft YaHei" pitchFamily="34" charset="-122"/>
                <a:cs typeface="Microsoft YaHei" pitchFamily="34" charset="-120"/>
              </a:rPr>
              <a:t>团长接收用户的原始输入，进行意图识别和全局评估</a:t>
            </a:r>
            <a:endParaRPr lang="en-US" sz="900" dirty="0"/>
          </a:p>
        </p:txBody>
      </p:sp>
      <p:sp>
        <p:nvSpPr>
          <p:cNvPr id="11" name="Text 9"/>
          <p:cNvSpPr/>
          <p:nvPr/>
        </p:nvSpPr>
        <p:spPr>
          <a:xfrm>
            <a:off x="2029968" y="2103120"/>
            <a:ext cx="219456" cy="365760"/>
          </a:xfrm>
          <a:prstGeom prst="rect">
            <a:avLst/>
          </a:prstGeom>
          <a:noFill/>
          <a:ln/>
        </p:spPr>
        <p:txBody>
          <a:bodyPr wrap="square" lIns="0" tIns="0" rIns="0" bIns="0" rtlCol="0" anchor="ctr"/>
          <a:lstStyle/>
          <a:p>
            <a:pPr algn="ctr" indent="0" marL="0">
              <a:buNone/>
            </a:pPr>
            <a:r>
              <a:rPr lang="en-US" sz="1400" b="1" dirty="0">
                <a:solidFill>
                  <a:srgbClr val="5A6B7F"/>
                </a:solidFill>
                <a:latin typeface="Microsoft YaHei" pitchFamily="34" charset="0"/>
                <a:ea typeface="Microsoft YaHei" pitchFamily="34" charset="-122"/>
                <a:cs typeface="Microsoft YaHei" pitchFamily="34" charset="-120"/>
              </a:rPr>
              <a:t>→</a:t>
            </a:r>
            <a:endParaRPr lang="en-US" sz="1400" dirty="0"/>
          </a:p>
        </p:txBody>
      </p:sp>
      <p:sp>
        <p:nvSpPr>
          <p:cNvPr id="12" name="Shape 10"/>
          <p:cNvSpPr/>
          <p:nvPr/>
        </p:nvSpPr>
        <p:spPr>
          <a:xfrm>
            <a:off x="2157984" y="1417320"/>
            <a:ext cx="1481328" cy="18745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3" name="Shape 11"/>
          <p:cNvSpPr/>
          <p:nvPr/>
        </p:nvSpPr>
        <p:spPr>
          <a:xfrm>
            <a:off x="2157984" y="1417320"/>
            <a:ext cx="54864" cy="1874520"/>
          </a:xfrm>
          <a:prstGeom prst="rect">
            <a:avLst/>
          </a:prstGeom>
          <a:solidFill>
            <a:srgbClr val="28B894"/>
          </a:solidFill>
          <a:ln/>
        </p:spPr>
      </p:sp>
      <p:sp>
        <p:nvSpPr>
          <p:cNvPr id="14" name="Shape 12"/>
          <p:cNvSpPr/>
          <p:nvPr/>
        </p:nvSpPr>
        <p:spPr>
          <a:xfrm>
            <a:off x="2267712" y="1527048"/>
            <a:ext cx="411480" cy="411480"/>
          </a:xfrm>
          <a:prstGeom prst="ellipse">
            <a:avLst/>
          </a:prstGeom>
          <a:solidFill>
            <a:srgbClr val="28B894"/>
          </a:solidFill>
          <a:ln/>
        </p:spPr>
      </p:sp>
      <p:sp>
        <p:nvSpPr>
          <p:cNvPr id="15" name="Text 13"/>
          <p:cNvSpPr/>
          <p:nvPr/>
        </p:nvSpPr>
        <p:spPr>
          <a:xfrm>
            <a:off x="2267712" y="152704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02</a:t>
            </a:r>
            <a:endParaRPr lang="en-US" sz="1400" dirty="0"/>
          </a:p>
        </p:txBody>
      </p:sp>
      <p:sp>
        <p:nvSpPr>
          <p:cNvPr id="16" name="Text 14"/>
          <p:cNvSpPr/>
          <p:nvPr/>
        </p:nvSpPr>
        <p:spPr>
          <a:xfrm>
            <a:off x="2267712" y="1965960"/>
            <a:ext cx="1261872" cy="274320"/>
          </a:xfrm>
          <a:prstGeom prst="rect">
            <a:avLst/>
          </a:prstGeom>
          <a:noFill/>
          <a:ln/>
        </p:spPr>
        <p:txBody>
          <a:bodyPr wrap="square" lIns="0" tIns="0" rIns="0" bIns="0" rtlCol="0" anchor="ctr"/>
          <a:lstStyle/>
          <a:p>
            <a:pPr indent="0" marL="0">
              <a:buNone/>
            </a:pPr>
            <a:r>
              <a:rPr lang="en-US" sz="1150" b="1" dirty="0">
                <a:solidFill>
                  <a:srgbClr val="28B894"/>
                </a:solidFill>
                <a:latin typeface="Microsoft YaHei" pitchFamily="34" charset="0"/>
                <a:ea typeface="Microsoft YaHei" pitchFamily="34" charset="-122"/>
                <a:cs typeface="Microsoft YaHei" pitchFamily="34" charset="-120"/>
              </a:rPr>
              <a:t>任务拆解</a:t>
            </a:r>
            <a:endParaRPr lang="en-US" sz="1150" dirty="0"/>
          </a:p>
        </p:txBody>
      </p:sp>
      <p:sp>
        <p:nvSpPr>
          <p:cNvPr id="17" name="Text 15"/>
          <p:cNvSpPr/>
          <p:nvPr/>
        </p:nvSpPr>
        <p:spPr>
          <a:xfrm>
            <a:off x="2267712" y="2267712"/>
            <a:ext cx="1261872" cy="960120"/>
          </a:xfrm>
          <a:prstGeom prst="rect">
            <a:avLst/>
          </a:prstGeom>
          <a:noFill/>
          <a:ln/>
        </p:spPr>
        <p:txBody>
          <a:bodyPr wrap="square" lIns="0" tIns="0" rIns="0" bIns="0" rtlCol="0" anchor="t"/>
          <a:lstStyle/>
          <a:p>
            <a:pPr indent="0" marL="0">
              <a:lnSpc>
                <a:spcPct val="120000"/>
              </a:lnSpc>
              <a:buNone/>
            </a:pPr>
            <a:r>
              <a:rPr lang="en-US" sz="900" dirty="0">
                <a:solidFill>
                  <a:srgbClr val="2C3E50"/>
                </a:solidFill>
                <a:latin typeface="Microsoft YaHei" pitchFamily="34" charset="0"/>
                <a:ea typeface="Microsoft YaHei" pitchFamily="34" charset="-122"/>
                <a:cs typeface="Microsoft YaHei" pitchFamily="34" charset="-120"/>
              </a:rPr>
              <a:t>团长将庞大的目标分解为若干个可独立执行的子任务</a:t>
            </a:r>
            <a:endParaRPr lang="en-US" sz="900" dirty="0"/>
          </a:p>
        </p:txBody>
      </p:sp>
      <p:sp>
        <p:nvSpPr>
          <p:cNvPr id="18" name="Text 16"/>
          <p:cNvSpPr/>
          <p:nvPr/>
        </p:nvSpPr>
        <p:spPr>
          <a:xfrm>
            <a:off x="3639312" y="2103120"/>
            <a:ext cx="219456" cy="365760"/>
          </a:xfrm>
          <a:prstGeom prst="rect">
            <a:avLst/>
          </a:prstGeom>
          <a:noFill/>
          <a:ln/>
        </p:spPr>
        <p:txBody>
          <a:bodyPr wrap="square" lIns="0" tIns="0" rIns="0" bIns="0" rtlCol="0" anchor="ctr"/>
          <a:lstStyle/>
          <a:p>
            <a:pPr algn="ctr" indent="0" marL="0">
              <a:buNone/>
            </a:pPr>
            <a:r>
              <a:rPr lang="en-US" sz="1400" b="1" dirty="0">
                <a:solidFill>
                  <a:srgbClr val="5A6B7F"/>
                </a:solidFill>
                <a:latin typeface="Microsoft YaHei" pitchFamily="34" charset="0"/>
                <a:ea typeface="Microsoft YaHei" pitchFamily="34" charset="-122"/>
                <a:cs typeface="Microsoft YaHei" pitchFamily="34" charset="-120"/>
              </a:rPr>
              <a:t>→</a:t>
            </a:r>
            <a:endParaRPr lang="en-US" sz="1400" dirty="0"/>
          </a:p>
        </p:txBody>
      </p:sp>
      <p:sp>
        <p:nvSpPr>
          <p:cNvPr id="19" name="Shape 17"/>
          <p:cNvSpPr/>
          <p:nvPr/>
        </p:nvSpPr>
        <p:spPr>
          <a:xfrm>
            <a:off x="3767328" y="1417320"/>
            <a:ext cx="1481328" cy="18745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0" name="Shape 18"/>
          <p:cNvSpPr/>
          <p:nvPr/>
        </p:nvSpPr>
        <p:spPr>
          <a:xfrm>
            <a:off x="3767328" y="1417320"/>
            <a:ext cx="54864" cy="1874520"/>
          </a:xfrm>
          <a:prstGeom prst="rect">
            <a:avLst/>
          </a:prstGeom>
          <a:solidFill>
            <a:srgbClr val="28B894"/>
          </a:solidFill>
          <a:ln/>
        </p:spPr>
      </p:sp>
      <p:sp>
        <p:nvSpPr>
          <p:cNvPr id="21" name="Shape 19"/>
          <p:cNvSpPr/>
          <p:nvPr/>
        </p:nvSpPr>
        <p:spPr>
          <a:xfrm>
            <a:off x="3877056" y="1527048"/>
            <a:ext cx="411480" cy="411480"/>
          </a:xfrm>
          <a:prstGeom prst="ellipse">
            <a:avLst/>
          </a:prstGeom>
          <a:solidFill>
            <a:srgbClr val="28B894"/>
          </a:solidFill>
          <a:ln/>
        </p:spPr>
      </p:sp>
      <p:sp>
        <p:nvSpPr>
          <p:cNvPr id="22" name="Text 20"/>
          <p:cNvSpPr/>
          <p:nvPr/>
        </p:nvSpPr>
        <p:spPr>
          <a:xfrm>
            <a:off x="3877056" y="152704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03</a:t>
            </a:r>
            <a:endParaRPr lang="en-US" sz="1400" dirty="0"/>
          </a:p>
        </p:txBody>
      </p:sp>
      <p:sp>
        <p:nvSpPr>
          <p:cNvPr id="23" name="Text 21"/>
          <p:cNvSpPr/>
          <p:nvPr/>
        </p:nvSpPr>
        <p:spPr>
          <a:xfrm>
            <a:off x="3877056" y="1965960"/>
            <a:ext cx="1261872" cy="274320"/>
          </a:xfrm>
          <a:prstGeom prst="rect">
            <a:avLst/>
          </a:prstGeom>
          <a:noFill/>
          <a:ln/>
        </p:spPr>
        <p:txBody>
          <a:bodyPr wrap="square" lIns="0" tIns="0" rIns="0" bIns="0" rtlCol="0" anchor="ctr"/>
          <a:lstStyle/>
          <a:p>
            <a:pPr indent="0" marL="0">
              <a:buNone/>
            </a:pPr>
            <a:r>
              <a:rPr lang="en-US" sz="1150" b="1" dirty="0">
                <a:solidFill>
                  <a:srgbClr val="28B894"/>
                </a:solidFill>
                <a:latin typeface="Microsoft YaHei" pitchFamily="34" charset="0"/>
                <a:ea typeface="Microsoft YaHei" pitchFamily="34" charset="-122"/>
                <a:cs typeface="Microsoft YaHei" pitchFamily="34" charset="-120"/>
              </a:rPr>
              <a:t>智能分配</a:t>
            </a:r>
            <a:endParaRPr lang="en-US" sz="1150" dirty="0"/>
          </a:p>
        </p:txBody>
      </p:sp>
      <p:sp>
        <p:nvSpPr>
          <p:cNvPr id="24" name="Text 22"/>
          <p:cNvSpPr/>
          <p:nvPr/>
        </p:nvSpPr>
        <p:spPr>
          <a:xfrm>
            <a:off x="3877056" y="2267712"/>
            <a:ext cx="1261872" cy="960120"/>
          </a:xfrm>
          <a:prstGeom prst="rect">
            <a:avLst/>
          </a:prstGeom>
          <a:noFill/>
          <a:ln/>
        </p:spPr>
        <p:txBody>
          <a:bodyPr wrap="square" lIns="0" tIns="0" rIns="0" bIns="0" rtlCol="0" anchor="t"/>
          <a:lstStyle/>
          <a:p>
            <a:pPr indent="0" marL="0">
              <a:lnSpc>
                <a:spcPct val="120000"/>
              </a:lnSpc>
              <a:buNone/>
            </a:pPr>
            <a:r>
              <a:rPr lang="en-US" sz="900" dirty="0">
                <a:solidFill>
                  <a:srgbClr val="2C3E50"/>
                </a:solidFill>
                <a:latin typeface="Microsoft YaHei" pitchFamily="34" charset="0"/>
                <a:ea typeface="Microsoft YaHei" pitchFamily="34" charset="-122"/>
                <a:cs typeface="Microsoft YaHei" pitchFamily="34" charset="-120"/>
              </a:rPr>
              <a:t>根据团内各 Agent 的专长与能力，将子任务精准派发</a:t>
            </a:r>
            <a:endParaRPr lang="en-US" sz="900" dirty="0"/>
          </a:p>
        </p:txBody>
      </p:sp>
      <p:sp>
        <p:nvSpPr>
          <p:cNvPr id="25" name="Text 23"/>
          <p:cNvSpPr/>
          <p:nvPr/>
        </p:nvSpPr>
        <p:spPr>
          <a:xfrm>
            <a:off x="5248656" y="2103120"/>
            <a:ext cx="219456" cy="365760"/>
          </a:xfrm>
          <a:prstGeom prst="rect">
            <a:avLst/>
          </a:prstGeom>
          <a:noFill/>
          <a:ln/>
        </p:spPr>
        <p:txBody>
          <a:bodyPr wrap="square" lIns="0" tIns="0" rIns="0" bIns="0" rtlCol="0" anchor="ctr"/>
          <a:lstStyle/>
          <a:p>
            <a:pPr algn="ctr" indent="0" marL="0">
              <a:buNone/>
            </a:pPr>
            <a:r>
              <a:rPr lang="en-US" sz="1400" b="1" dirty="0">
                <a:solidFill>
                  <a:srgbClr val="5A6B7F"/>
                </a:solidFill>
                <a:latin typeface="Microsoft YaHei" pitchFamily="34" charset="0"/>
                <a:ea typeface="Microsoft YaHei" pitchFamily="34" charset="-122"/>
                <a:cs typeface="Microsoft YaHei" pitchFamily="34" charset="-120"/>
              </a:rPr>
              <a:t>→</a:t>
            </a:r>
            <a:endParaRPr lang="en-US" sz="1400" dirty="0"/>
          </a:p>
        </p:txBody>
      </p:sp>
      <p:sp>
        <p:nvSpPr>
          <p:cNvPr id="26" name="Shape 24"/>
          <p:cNvSpPr/>
          <p:nvPr/>
        </p:nvSpPr>
        <p:spPr>
          <a:xfrm>
            <a:off x="5376672" y="1417320"/>
            <a:ext cx="1481328" cy="18745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7" name="Shape 25"/>
          <p:cNvSpPr/>
          <p:nvPr/>
        </p:nvSpPr>
        <p:spPr>
          <a:xfrm>
            <a:off x="5376672" y="1417320"/>
            <a:ext cx="54864" cy="1874520"/>
          </a:xfrm>
          <a:prstGeom prst="rect">
            <a:avLst/>
          </a:prstGeom>
          <a:solidFill>
            <a:srgbClr val="28B894"/>
          </a:solidFill>
          <a:ln/>
        </p:spPr>
      </p:sp>
      <p:sp>
        <p:nvSpPr>
          <p:cNvPr id="28" name="Shape 26"/>
          <p:cNvSpPr/>
          <p:nvPr/>
        </p:nvSpPr>
        <p:spPr>
          <a:xfrm>
            <a:off x="5486400" y="1527048"/>
            <a:ext cx="411480" cy="411480"/>
          </a:xfrm>
          <a:prstGeom prst="ellipse">
            <a:avLst/>
          </a:prstGeom>
          <a:solidFill>
            <a:srgbClr val="28B894"/>
          </a:solidFill>
          <a:ln/>
        </p:spPr>
      </p:sp>
      <p:sp>
        <p:nvSpPr>
          <p:cNvPr id="29" name="Text 27"/>
          <p:cNvSpPr/>
          <p:nvPr/>
        </p:nvSpPr>
        <p:spPr>
          <a:xfrm>
            <a:off x="5486400" y="152704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04</a:t>
            </a:r>
            <a:endParaRPr lang="en-US" sz="1400" dirty="0"/>
          </a:p>
        </p:txBody>
      </p:sp>
      <p:sp>
        <p:nvSpPr>
          <p:cNvPr id="30" name="Text 28"/>
          <p:cNvSpPr/>
          <p:nvPr/>
        </p:nvSpPr>
        <p:spPr>
          <a:xfrm>
            <a:off x="5486400" y="1965960"/>
            <a:ext cx="1261872" cy="274320"/>
          </a:xfrm>
          <a:prstGeom prst="rect">
            <a:avLst/>
          </a:prstGeom>
          <a:noFill/>
          <a:ln/>
        </p:spPr>
        <p:txBody>
          <a:bodyPr wrap="square" lIns="0" tIns="0" rIns="0" bIns="0" rtlCol="0" anchor="ctr"/>
          <a:lstStyle/>
          <a:p>
            <a:pPr indent="0" marL="0">
              <a:buNone/>
            </a:pPr>
            <a:r>
              <a:rPr lang="en-US" sz="1150" b="1" dirty="0">
                <a:solidFill>
                  <a:srgbClr val="28B894"/>
                </a:solidFill>
                <a:latin typeface="Microsoft YaHei" pitchFamily="34" charset="0"/>
                <a:ea typeface="Microsoft YaHei" pitchFamily="34" charset="-122"/>
                <a:cs typeface="Microsoft YaHei" pitchFamily="34" charset="-120"/>
              </a:rPr>
              <a:t>协同执行</a:t>
            </a:r>
            <a:endParaRPr lang="en-US" sz="1150" dirty="0"/>
          </a:p>
        </p:txBody>
      </p:sp>
      <p:sp>
        <p:nvSpPr>
          <p:cNvPr id="31" name="Text 29"/>
          <p:cNvSpPr/>
          <p:nvPr/>
        </p:nvSpPr>
        <p:spPr>
          <a:xfrm>
            <a:off x="5486400" y="2267712"/>
            <a:ext cx="1261872" cy="960120"/>
          </a:xfrm>
          <a:prstGeom prst="rect">
            <a:avLst/>
          </a:prstGeom>
          <a:noFill/>
          <a:ln/>
        </p:spPr>
        <p:txBody>
          <a:bodyPr wrap="square" lIns="0" tIns="0" rIns="0" bIns="0" rtlCol="0" anchor="t"/>
          <a:lstStyle/>
          <a:p>
            <a:pPr indent="0" marL="0">
              <a:lnSpc>
                <a:spcPct val="120000"/>
              </a:lnSpc>
              <a:buNone/>
            </a:pPr>
            <a:r>
              <a:rPr lang="en-US" sz="900" dirty="0">
                <a:solidFill>
                  <a:srgbClr val="2C3E50"/>
                </a:solidFill>
                <a:latin typeface="Microsoft YaHei" pitchFamily="34" charset="0"/>
                <a:ea typeface="Microsoft YaHei" pitchFamily="34" charset="-122"/>
                <a:cs typeface="Microsoft YaHei" pitchFamily="34" charset="-120"/>
              </a:rPr>
              <a:t>各专家根据任务间的依赖关系，采取并行或串行的方式推进工作</a:t>
            </a:r>
            <a:endParaRPr lang="en-US" sz="900" dirty="0"/>
          </a:p>
        </p:txBody>
      </p:sp>
      <p:sp>
        <p:nvSpPr>
          <p:cNvPr id="32" name="Text 30"/>
          <p:cNvSpPr/>
          <p:nvPr/>
        </p:nvSpPr>
        <p:spPr>
          <a:xfrm>
            <a:off x="6858000" y="2103120"/>
            <a:ext cx="219456" cy="365760"/>
          </a:xfrm>
          <a:prstGeom prst="rect">
            <a:avLst/>
          </a:prstGeom>
          <a:noFill/>
          <a:ln/>
        </p:spPr>
        <p:txBody>
          <a:bodyPr wrap="square" lIns="0" tIns="0" rIns="0" bIns="0" rtlCol="0" anchor="ctr"/>
          <a:lstStyle/>
          <a:p>
            <a:pPr algn="ctr" indent="0" marL="0">
              <a:buNone/>
            </a:pPr>
            <a:r>
              <a:rPr lang="en-US" sz="1400" b="1" dirty="0">
                <a:solidFill>
                  <a:srgbClr val="5A6B7F"/>
                </a:solidFill>
                <a:latin typeface="Microsoft YaHei" pitchFamily="34" charset="0"/>
                <a:ea typeface="Microsoft YaHei" pitchFamily="34" charset="-122"/>
                <a:cs typeface="Microsoft YaHei" pitchFamily="34" charset="-120"/>
              </a:rPr>
              <a:t>→</a:t>
            </a:r>
            <a:endParaRPr lang="en-US" sz="1400" dirty="0"/>
          </a:p>
        </p:txBody>
      </p:sp>
      <p:sp>
        <p:nvSpPr>
          <p:cNvPr id="33" name="Shape 31"/>
          <p:cNvSpPr/>
          <p:nvPr/>
        </p:nvSpPr>
        <p:spPr>
          <a:xfrm>
            <a:off x="6986016" y="1417320"/>
            <a:ext cx="1481328" cy="18745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34" name="Shape 32"/>
          <p:cNvSpPr/>
          <p:nvPr/>
        </p:nvSpPr>
        <p:spPr>
          <a:xfrm>
            <a:off x="6986016" y="1417320"/>
            <a:ext cx="54864" cy="1874520"/>
          </a:xfrm>
          <a:prstGeom prst="rect">
            <a:avLst/>
          </a:prstGeom>
          <a:solidFill>
            <a:srgbClr val="2E9E83"/>
          </a:solidFill>
          <a:ln/>
        </p:spPr>
      </p:sp>
      <p:sp>
        <p:nvSpPr>
          <p:cNvPr id="35" name="Shape 33"/>
          <p:cNvSpPr/>
          <p:nvPr/>
        </p:nvSpPr>
        <p:spPr>
          <a:xfrm>
            <a:off x="7095744" y="1527048"/>
            <a:ext cx="411480" cy="411480"/>
          </a:xfrm>
          <a:prstGeom prst="ellipse">
            <a:avLst/>
          </a:prstGeom>
          <a:solidFill>
            <a:srgbClr val="2E9E83"/>
          </a:solidFill>
          <a:ln/>
        </p:spPr>
      </p:sp>
      <p:sp>
        <p:nvSpPr>
          <p:cNvPr id="36" name="Text 34"/>
          <p:cNvSpPr/>
          <p:nvPr/>
        </p:nvSpPr>
        <p:spPr>
          <a:xfrm>
            <a:off x="7095744" y="152704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05</a:t>
            </a:r>
            <a:endParaRPr lang="en-US" sz="1400" dirty="0"/>
          </a:p>
        </p:txBody>
      </p:sp>
      <p:sp>
        <p:nvSpPr>
          <p:cNvPr id="37" name="Text 35"/>
          <p:cNvSpPr/>
          <p:nvPr/>
        </p:nvSpPr>
        <p:spPr>
          <a:xfrm>
            <a:off x="7095744" y="1965960"/>
            <a:ext cx="1261872" cy="274320"/>
          </a:xfrm>
          <a:prstGeom prst="rect">
            <a:avLst/>
          </a:prstGeom>
          <a:noFill/>
          <a:ln/>
        </p:spPr>
        <p:txBody>
          <a:bodyPr wrap="square" lIns="0" tIns="0" rIns="0" bIns="0" rtlCol="0" anchor="ctr"/>
          <a:lstStyle/>
          <a:p>
            <a:pPr indent="0" marL="0">
              <a:buNone/>
            </a:pPr>
            <a:r>
              <a:rPr lang="en-US" sz="1150" b="1" dirty="0">
                <a:solidFill>
                  <a:srgbClr val="28B894"/>
                </a:solidFill>
                <a:latin typeface="Microsoft YaHei" pitchFamily="34" charset="0"/>
                <a:ea typeface="Microsoft YaHei" pitchFamily="34" charset="-122"/>
                <a:cs typeface="Microsoft YaHei" pitchFamily="34" charset="-120"/>
              </a:rPr>
              <a:t>整合交付</a:t>
            </a:r>
            <a:endParaRPr lang="en-US" sz="1150" dirty="0"/>
          </a:p>
        </p:txBody>
      </p:sp>
      <p:sp>
        <p:nvSpPr>
          <p:cNvPr id="38" name="Text 36"/>
          <p:cNvSpPr/>
          <p:nvPr/>
        </p:nvSpPr>
        <p:spPr>
          <a:xfrm>
            <a:off x="7095744" y="2267712"/>
            <a:ext cx="1261872" cy="960120"/>
          </a:xfrm>
          <a:prstGeom prst="rect">
            <a:avLst/>
          </a:prstGeom>
          <a:noFill/>
          <a:ln/>
        </p:spPr>
        <p:txBody>
          <a:bodyPr wrap="square" lIns="0" tIns="0" rIns="0" bIns="0" rtlCol="0" anchor="t"/>
          <a:lstStyle/>
          <a:p>
            <a:pPr indent="0" marL="0">
              <a:lnSpc>
                <a:spcPct val="120000"/>
              </a:lnSpc>
              <a:buNone/>
            </a:pPr>
            <a:r>
              <a:rPr lang="en-US" sz="900" dirty="0">
                <a:solidFill>
                  <a:srgbClr val="2C3E50"/>
                </a:solidFill>
                <a:latin typeface="Microsoft YaHei" pitchFamily="34" charset="0"/>
                <a:ea typeface="Microsoft YaHei" pitchFamily="34" charset="-122"/>
                <a:cs typeface="Microsoft YaHei" pitchFamily="34" charset="-120"/>
              </a:rPr>
              <a:t>团长收集各专家的阶段性产物，进行逻辑校验、格式统一与最终合并</a:t>
            </a:r>
            <a:endParaRPr lang="en-US" sz="900" dirty="0"/>
          </a:p>
        </p:txBody>
      </p:sp>
      <p:sp>
        <p:nvSpPr>
          <p:cNvPr id="39" name="Shape 37"/>
          <p:cNvSpPr/>
          <p:nvPr/>
        </p:nvSpPr>
        <p:spPr>
          <a:xfrm>
            <a:off x="548640" y="3520440"/>
            <a:ext cx="8046720" cy="621792"/>
          </a:xfrm>
          <a:prstGeom prst="rect">
            <a:avLst/>
          </a:prstGeom>
          <a:solidFill>
            <a:srgbClr val="E9F5F1"/>
          </a:solidFill>
          <a:ln/>
          <a:effectLst>
            <a:outerShdw sx="100000" sy="100000" kx="0" ky="0" algn="bl" rotWithShape="0" blurRad="76200" dist="25400" dir="8100000">
              <a:srgbClr val="000000">
                <a:alpha val="8000"/>
              </a:srgbClr>
            </a:outerShdw>
          </a:effectLst>
        </p:spPr>
      </p:sp>
      <p:sp>
        <p:nvSpPr>
          <p:cNvPr id="40" name="Shape 38"/>
          <p:cNvSpPr/>
          <p:nvPr/>
        </p:nvSpPr>
        <p:spPr>
          <a:xfrm>
            <a:off x="548640" y="3520440"/>
            <a:ext cx="64008" cy="621792"/>
          </a:xfrm>
          <a:prstGeom prst="rect">
            <a:avLst/>
          </a:prstGeom>
          <a:solidFill>
            <a:srgbClr val="28B894"/>
          </a:solidFill>
          <a:ln/>
        </p:spPr>
      </p:sp>
      <p:sp>
        <p:nvSpPr>
          <p:cNvPr id="41" name="Text 39"/>
          <p:cNvSpPr/>
          <p:nvPr/>
        </p:nvSpPr>
        <p:spPr>
          <a:xfrm>
            <a:off x="868680" y="3520440"/>
            <a:ext cx="7498080" cy="621792"/>
          </a:xfrm>
          <a:prstGeom prst="rect">
            <a:avLst/>
          </a:prstGeom>
          <a:noFill/>
          <a:ln/>
        </p:spPr>
        <p:txBody>
          <a:bodyPr wrap="square" lIns="0" tIns="0" rIns="0" bIns="0" rtlCol="0" anchor="ctr">
            <a:normAutofit/>
          </a:bodyPr>
          <a:lstStyle/>
          <a:p>
            <a:pPr indent="0" marL="0">
              <a:lnSpc>
                <a:spcPct val="120000"/>
              </a:lnSpc>
              <a:buNone/>
            </a:pPr>
            <a:r>
              <a:rPr lang="en-US" sz="1200" b="1" dirty="0">
                <a:solidFill>
                  <a:srgbClr val="28B894"/>
                </a:solidFill>
                <a:latin typeface="Microsoft YaHei" pitchFamily="34" charset="0"/>
                <a:ea typeface="Microsoft YaHei" pitchFamily="34" charset="-122"/>
                <a:cs typeface="Microsoft YaHei" pitchFamily="34" charset="-120"/>
              </a:rPr>
              <a:t>团长是专家团的“总指挥”：接收需求 → 拆解目标 → 派发任务 → 协同推进 → 整合交付，全程负责。</a:t>
            </a:r>
            <a:endParaRPr lang="en-US" sz="1200" dirty="0"/>
          </a:p>
        </p:txBody>
      </p:sp>
      <p:sp>
        <p:nvSpPr>
          <p:cNvPr id="42" name="Shape 40"/>
          <p:cNvSpPr/>
          <p:nvPr/>
        </p:nvSpPr>
        <p:spPr>
          <a:xfrm>
            <a:off x="548640" y="4389120"/>
            <a:ext cx="8046720" cy="457200"/>
          </a:xfrm>
          <a:prstGeom prst="rect">
            <a:avLst/>
          </a:prstGeom>
          <a:solidFill>
            <a:srgbClr val="E7F3EE"/>
          </a:solidFill>
          <a:ln/>
        </p:spPr>
      </p:sp>
      <p:sp>
        <p:nvSpPr>
          <p:cNvPr id="43" name="Shape 41"/>
          <p:cNvSpPr/>
          <p:nvPr/>
        </p:nvSpPr>
        <p:spPr>
          <a:xfrm>
            <a:off x="548640" y="4389120"/>
            <a:ext cx="45720" cy="457200"/>
          </a:xfrm>
          <a:prstGeom prst="rect">
            <a:avLst/>
          </a:prstGeom>
          <a:solidFill>
            <a:srgbClr val="2E9E83"/>
          </a:solidFill>
          <a:ln/>
        </p:spPr>
      </p:sp>
      <p:sp>
        <p:nvSpPr>
          <p:cNvPr id="44" name="Text 42"/>
          <p:cNvSpPr/>
          <p:nvPr/>
        </p:nvSpPr>
        <p:spPr>
          <a:xfrm>
            <a:off x="777240" y="4389120"/>
            <a:ext cx="7589520" cy="457200"/>
          </a:xfrm>
          <a:prstGeom prst="rect">
            <a:avLst/>
          </a:prstGeom>
          <a:noFill/>
          <a:ln/>
        </p:spPr>
        <p:txBody>
          <a:bodyPr wrap="square" lIns="0" tIns="0" rIns="0" bIns="0" rtlCol="0" anchor="ctr"/>
          <a:lstStyle/>
          <a:p>
            <a:pPr indent="0" marL="0">
              <a:buNone/>
            </a:pPr>
            <a:r>
              <a:rPr lang="en-US" sz="1200" dirty="0">
                <a:solidFill>
                  <a:srgbClr val="2C3E50"/>
                </a:solidFill>
                <a:latin typeface="Microsoft YaHei" pitchFamily="34" charset="0"/>
                <a:ea typeface="Microsoft YaHei" pitchFamily="34" charset="-122"/>
                <a:cs typeface="Microsoft YaHei" pitchFamily="34" charset="-120"/>
              </a:rPr>
              <a:t>本质：一名团长统筹 + 多位专家并行/串行执行 + 结果统一整合，这就是 Multi-Agent 的核心机制。</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8F73"/>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2E9E83"/>
          </a:solidFill>
          <a:ln/>
        </p:spPr>
      </p:sp>
      <p:sp>
        <p:nvSpPr>
          <p:cNvPr id="3" name="Shape 1"/>
          <p:cNvSpPr/>
          <p:nvPr/>
        </p:nvSpPr>
        <p:spPr>
          <a:xfrm>
            <a:off x="0" y="5097780"/>
            <a:ext cx="9144000" cy="45720"/>
          </a:xfrm>
          <a:prstGeom prst="rect">
            <a:avLst/>
          </a:prstGeom>
          <a:solidFill>
            <a:srgbClr val="2E9E83"/>
          </a:solidFill>
          <a:ln/>
        </p:spPr>
      </p:sp>
      <p:sp>
        <p:nvSpPr>
          <p:cNvPr id="4" name="Text 2"/>
          <p:cNvSpPr/>
          <p:nvPr/>
        </p:nvSpPr>
        <p:spPr>
          <a:xfrm>
            <a:off x="6035040" y="91440"/>
            <a:ext cx="3108960" cy="3108960"/>
          </a:xfrm>
          <a:prstGeom prst="rect">
            <a:avLst/>
          </a:prstGeom>
          <a:noFill/>
          <a:ln/>
        </p:spPr>
        <p:txBody>
          <a:bodyPr wrap="square" lIns="0" tIns="0" rIns="0" bIns="0" rtlCol="0" anchor="ctr"/>
          <a:lstStyle/>
          <a:p>
            <a:pPr algn="ctr" indent="0" marL="0">
              <a:buNone/>
            </a:pPr>
            <a:r>
              <a:rPr lang="en-US" sz="15000" b="1" dirty="0">
                <a:solidFill>
                  <a:srgbClr val="28B894">
                    <a:alpha val="18000"/>
                  </a:srgbClr>
                </a:solidFill>
                <a:latin typeface="Arial" pitchFamily="34" charset="0"/>
                <a:ea typeface="Arial" pitchFamily="34" charset="-122"/>
                <a:cs typeface="Arial" pitchFamily="34" charset="-120"/>
              </a:rPr>
              <a:t>4.4</a:t>
            </a:r>
            <a:endParaRPr lang="en-US" sz="15000" dirty="0"/>
          </a:p>
        </p:txBody>
      </p:sp>
      <p:sp>
        <p:nvSpPr>
          <p:cNvPr id="5" name="Shape 3"/>
          <p:cNvSpPr/>
          <p:nvPr/>
        </p:nvSpPr>
        <p:spPr>
          <a:xfrm>
            <a:off x="7223760" y="-1188720"/>
            <a:ext cx="3291840" cy="3291840"/>
          </a:xfrm>
          <a:prstGeom prst="ellipse">
            <a:avLst/>
          </a:prstGeom>
          <a:solidFill>
            <a:srgbClr val="FFFFFF">
              <a:alpha val="7000"/>
            </a:srgbClr>
          </a:solidFill>
          <a:ln w="15240">
            <a:solidFill>
              <a:srgbClr val="B8E8DC">
                <a:alpha val="40000"/>
              </a:srgbClr>
            </a:solidFill>
            <a:prstDash val="solid"/>
          </a:ln>
        </p:spPr>
      </p:sp>
      <p:sp>
        <p:nvSpPr>
          <p:cNvPr id="6" name="Shape 4"/>
          <p:cNvSpPr/>
          <p:nvPr/>
        </p:nvSpPr>
        <p:spPr>
          <a:xfrm>
            <a:off x="7772400" y="-640080"/>
            <a:ext cx="2194560" cy="2194560"/>
          </a:xfrm>
          <a:prstGeom prst="ellipse">
            <a:avLst/>
          </a:prstGeom>
          <a:solidFill>
            <a:srgbClr val="28B894">
              <a:alpha val="13000"/>
            </a:srgbClr>
          </a:solidFill>
          <a:ln w="12700">
            <a:solidFill>
              <a:srgbClr val="B8E8DC">
                <a:alpha val="35000"/>
              </a:srgbClr>
            </a:solidFill>
            <a:prstDash val="solid"/>
          </a:ln>
        </p:spPr>
      </p:sp>
      <p:sp>
        <p:nvSpPr>
          <p:cNvPr id="7" name="Shape 5"/>
          <p:cNvSpPr/>
          <p:nvPr/>
        </p:nvSpPr>
        <p:spPr>
          <a:xfrm>
            <a:off x="-1188720" y="3749040"/>
            <a:ext cx="2560320" cy="2560320"/>
          </a:xfrm>
          <a:prstGeom prst="ellipse">
            <a:avLst/>
          </a:prstGeom>
          <a:solidFill>
            <a:srgbClr val="2E9E83">
              <a:alpha val="15000"/>
            </a:srgbClr>
          </a:solidFill>
          <a:ln w="12700">
            <a:solidFill>
              <a:srgbClr val="B8E8DC">
                <a:alpha val="40000"/>
              </a:srgbClr>
            </a:solidFill>
            <a:prstDash val="solid"/>
          </a:ln>
        </p:spPr>
      </p:sp>
      <p:sp>
        <p:nvSpPr>
          <p:cNvPr id="8" name="Shape 6"/>
          <p:cNvSpPr/>
          <p:nvPr/>
        </p:nvSpPr>
        <p:spPr>
          <a:xfrm>
            <a:off x="502920" y="457200"/>
            <a:ext cx="292608" cy="292608"/>
          </a:xfrm>
          <a:prstGeom prst="ellipse">
            <a:avLst/>
          </a:prstGeom>
          <a:solidFill>
            <a:srgbClr val="B8E8DC">
              <a:alpha val="45000"/>
            </a:srgbClr>
          </a:solidFill>
          <a:ln/>
        </p:spPr>
      </p:sp>
      <p:sp>
        <p:nvSpPr>
          <p:cNvPr id="9" name="Shape 7"/>
          <p:cNvSpPr/>
          <p:nvPr/>
        </p:nvSpPr>
        <p:spPr>
          <a:xfrm>
            <a:off x="731520" y="914400"/>
            <a:ext cx="64008" cy="2011680"/>
          </a:xfrm>
          <a:prstGeom prst="rect">
            <a:avLst/>
          </a:prstGeom>
          <a:solidFill>
            <a:srgbClr val="B8E8DC"/>
          </a:solidFill>
          <a:ln/>
        </p:spPr>
      </p:sp>
      <p:sp>
        <p:nvSpPr>
          <p:cNvPr id="10" name="Text 8"/>
          <p:cNvSpPr/>
          <p:nvPr/>
        </p:nvSpPr>
        <p:spPr>
          <a:xfrm>
            <a:off x="1097280" y="822960"/>
            <a:ext cx="2286000" cy="822960"/>
          </a:xfrm>
          <a:prstGeom prst="rect">
            <a:avLst/>
          </a:prstGeom>
          <a:noFill/>
          <a:ln/>
        </p:spPr>
        <p:txBody>
          <a:bodyPr wrap="square" lIns="0" tIns="0" rIns="0" bIns="0" rtlCol="0" anchor="ctr"/>
          <a:lstStyle/>
          <a:p>
            <a:pPr indent="0" marL="0">
              <a:buNone/>
            </a:pPr>
            <a:r>
              <a:rPr lang="en-US" sz="3200" b="1" dirty="0">
                <a:solidFill>
                  <a:srgbClr val="B8E8DC"/>
                </a:solidFill>
                <a:latin typeface="Microsoft YaHei" pitchFamily="34" charset="0"/>
                <a:ea typeface="Microsoft YaHei" pitchFamily="34" charset="-122"/>
                <a:cs typeface="Microsoft YaHei" pitchFamily="34" charset="-120"/>
              </a:rPr>
              <a:t>4.4</a:t>
            </a:r>
            <a:endParaRPr lang="en-US" sz="3200" dirty="0"/>
          </a:p>
        </p:txBody>
      </p:sp>
      <p:sp>
        <p:nvSpPr>
          <p:cNvPr id="11" name="Text 9"/>
          <p:cNvSpPr/>
          <p:nvPr/>
        </p:nvSpPr>
        <p:spPr>
          <a:xfrm>
            <a:off x="1097280" y="1691640"/>
            <a:ext cx="6858000" cy="731520"/>
          </a:xfrm>
          <a:prstGeom prst="rect">
            <a:avLst/>
          </a:prstGeom>
          <a:noFill/>
          <a:ln/>
        </p:spPr>
        <p:txBody>
          <a:bodyPr wrap="square" lIns="0" tIns="0" rIns="0" bIns="0" rtlCol="0" anchor="ctr"/>
          <a:lstStyle/>
          <a:p>
            <a:pPr indent="0" marL="0">
              <a:buNone/>
            </a:pPr>
            <a:r>
              <a:rPr lang="en-US" sz="2400" b="1" dirty="0">
                <a:solidFill>
                  <a:srgbClr val="FFFFFF"/>
                </a:solidFill>
                <a:latin typeface="Microsoft YaHei" pitchFamily="34" charset="0"/>
                <a:ea typeface="Microsoft YaHei" pitchFamily="34" charset="-122"/>
                <a:cs typeface="Microsoft YaHei" pitchFamily="34" charset="-120"/>
              </a:rPr>
              <a:t>高频专家团解析与应用</a:t>
            </a:r>
            <a:endParaRPr lang="en-US" sz="2400" dirty="0"/>
          </a:p>
        </p:txBody>
      </p:sp>
      <p:sp>
        <p:nvSpPr>
          <p:cNvPr id="12" name="Shape 10"/>
          <p:cNvSpPr/>
          <p:nvPr/>
        </p:nvSpPr>
        <p:spPr>
          <a:xfrm>
            <a:off x="1188720" y="2871216"/>
            <a:ext cx="164592" cy="164592"/>
          </a:xfrm>
          <a:prstGeom prst="ellipse">
            <a:avLst/>
          </a:prstGeom>
          <a:solidFill>
            <a:srgbClr val="28B894"/>
          </a:solidFill>
          <a:ln/>
        </p:spPr>
      </p:sp>
      <p:sp>
        <p:nvSpPr>
          <p:cNvPr id="13" name="Text 11"/>
          <p:cNvSpPr/>
          <p:nvPr/>
        </p:nvSpPr>
        <p:spPr>
          <a:xfrm>
            <a:off x="1508760" y="2743200"/>
            <a:ext cx="6766560" cy="411480"/>
          </a:xfrm>
          <a:prstGeom prst="rect">
            <a:avLst/>
          </a:prstGeom>
          <a:noFill/>
          <a:ln/>
        </p:spPr>
        <p:txBody>
          <a:bodyPr wrap="square" lIns="0" tIns="0" rIns="0" bIns="0" rtlCol="0" anchor="ctr"/>
          <a:lstStyle/>
          <a:p>
            <a:pPr indent="0" marL="0">
              <a:buNone/>
            </a:pPr>
            <a:r>
              <a:rPr lang="en-US" sz="1500" dirty="0">
                <a:solidFill>
                  <a:srgbClr val="DDF2EC"/>
                </a:solidFill>
                <a:latin typeface="Microsoft YaHei" pitchFamily="34" charset="0"/>
                <a:ea typeface="Microsoft YaHei" pitchFamily="34" charset="-122"/>
                <a:cs typeface="Microsoft YaHei" pitchFamily="34" charset="-120"/>
              </a:rPr>
              <a:t>专家中心：覆盖法律、财务、品牌、研究、产品与技术等多个细分领域</a:t>
            </a:r>
            <a:endParaRPr lang="en-US" sz="1500" dirty="0"/>
          </a:p>
        </p:txBody>
      </p:sp>
      <p:sp>
        <p:nvSpPr>
          <p:cNvPr id="14" name="Shape 12"/>
          <p:cNvSpPr/>
          <p:nvPr/>
        </p:nvSpPr>
        <p:spPr>
          <a:xfrm>
            <a:off x="1188720" y="3328416"/>
            <a:ext cx="164592" cy="164592"/>
          </a:xfrm>
          <a:prstGeom prst="ellipse">
            <a:avLst/>
          </a:prstGeom>
          <a:solidFill>
            <a:srgbClr val="28B894"/>
          </a:solidFill>
          <a:ln/>
        </p:spPr>
      </p:sp>
      <p:sp>
        <p:nvSpPr>
          <p:cNvPr id="15" name="Text 13"/>
          <p:cNvSpPr/>
          <p:nvPr/>
        </p:nvSpPr>
        <p:spPr>
          <a:xfrm>
            <a:off x="1508760" y="3200400"/>
            <a:ext cx="6766560" cy="411480"/>
          </a:xfrm>
          <a:prstGeom prst="rect">
            <a:avLst/>
          </a:prstGeom>
          <a:noFill/>
          <a:ln/>
        </p:spPr>
        <p:txBody>
          <a:bodyPr wrap="square" lIns="0" tIns="0" rIns="0" bIns="0" rtlCol="0" anchor="ctr"/>
          <a:lstStyle/>
          <a:p>
            <a:pPr indent="0" marL="0">
              <a:buNone/>
            </a:pPr>
            <a:r>
              <a:rPr lang="en-US" sz="1500" dirty="0">
                <a:solidFill>
                  <a:srgbClr val="DDF2EC"/>
                </a:solidFill>
                <a:latin typeface="Microsoft YaHei" pitchFamily="34" charset="0"/>
                <a:ea typeface="Microsoft YaHei" pitchFamily="34" charset="-122"/>
                <a:cs typeface="Microsoft YaHei" pitchFamily="34" charset="-120"/>
              </a:rPr>
              <a:t>五类典型专家团：OPC 一人公司 / 产品设计 / 技术工程 / 金融投资 / 品牌营销</a:t>
            </a:r>
            <a:endParaRPr lang="en-US" sz="1500" dirty="0"/>
          </a:p>
        </p:txBody>
      </p:sp>
      <p:sp>
        <p:nvSpPr>
          <p:cNvPr id="16" name="Shape 14"/>
          <p:cNvSpPr/>
          <p:nvPr/>
        </p:nvSpPr>
        <p:spPr>
          <a:xfrm>
            <a:off x="1188720" y="3785616"/>
            <a:ext cx="164592" cy="164592"/>
          </a:xfrm>
          <a:prstGeom prst="ellipse">
            <a:avLst/>
          </a:prstGeom>
          <a:solidFill>
            <a:srgbClr val="28B894"/>
          </a:solidFill>
          <a:ln/>
        </p:spPr>
      </p:sp>
      <p:sp>
        <p:nvSpPr>
          <p:cNvPr id="17" name="Text 15"/>
          <p:cNvSpPr/>
          <p:nvPr/>
        </p:nvSpPr>
        <p:spPr>
          <a:xfrm>
            <a:off x="1508760" y="3657600"/>
            <a:ext cx="6766560" cy="411480"/>
          </a:xfrm>
          <a:prstGeom prst="rect">
            <a:avLst/>
          </a:prstGeom>
          <a:noFill/>
          <a:ln/>
        </p:spPr>
        <p:txBody>
          <a:bodyPr wrap="square" lIns="0" tIns="0" rIns="0" bIns="0" rtlCol="0" anchor="ctr"/>
          <a:lstStyle/>
          <a:p>
            <a:pPr indent="0" marL="0">
              <a:buNone/>
            </a:pPr>
            <a:r>
              <a:rPr lang="en-US" sz="1500" dirty="0">
                <a:solidFill>
                  <a:srgbClr val="DDF2EC"/>
                </a:solidFill>
                <a:latin typeface="Microsoft YaHei" pitchFamily="34" charset="0"/>
                <a:ea typeface="Microsoft YaHei" pitchFamily="34" charset="-122"/>
                <a:cs typeface="Microsoft YaHei" pitchFamily="34" charset="-120"/>
              </a:rPr>
              <a:t>多团协作：“产品-内容-落地”闭环，一名超级个体打通完整商业闭环</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2F8F6"/>
        </a:solidFill>
      </p:bgPr>
    </p:bg>
    <p:spTree>
      <p:nvGrpSpPr>
        <p:cNvPr id="1" name=""/>
        <p:cNvGrpSpPr/>
        <p:nvPr/>
      </p:nvGrpSpPr>
      <p:grpSpPr>
        <a:xfrm>
          <a:off x="0" y="0"/>
          <a:ext cx="0" cy="0"/>
          <a:chOff x="0" y="0"/>
          <a:chExt cx="0" cy="0"/>
        </a:xfrm>
      </p:grpSpPr>
      <p:sp>
        <p:nvSpPr>
          <p:cNvPr id="2" name="Text 0"/>
          <p:cNvSpPr/>
          <p:nvPr/>
        </p:nvSpPr>
        <p:spPr>
          <a:xfrm>
            <a:off x="548640" y="274320"/>
            <a:ext cx="8046720" cy="594360"/>
          </a:xfrm>
          <a:prstGeom prst="rect">
            <a:avLst/>
          </a:prstGeom>
          <a:noFill/>
          <a:ln/>
        </p:spPr>
        <p:txBody>
          <a:bodyPr wrap="square" lIns="0" tIns="0" rIns="0" bIns="0" rtlCol="0" anchor="ctr"/>
          <a:lstStyle/>
          <a:p>
            <a:pPr indent="0" marL="0">
              <a:buNone/>
            </a:pPr>
            <a:r>
              <a:rPr lang="en-US" sz="2600" b="1" dirty="0">
                <a:solidFill>
                  <a:srgbClr val="28B894"/>
                </a:solidFill>
                <a:latin typeface="Microsoft YaHei" pitchFamily="34" charset="0"/>
                <a:ea typeface="Microsoft YaHei" pitchFamily="34" charset="-122"/>
                <a:cs typeface="Microsoft YaHei" pitchFamily="34" charset="-120"/>
              </a:rPr>
              <a:t>专家中心概览</a:t>
            </a:r>
            <a:endParaRPr lang="en-US" sz="2600" dirty="0"/>
          </a:p>
        </p:txBody>
      </p:sp>
      <p:sp>
        <p:nvSpPr>
          <p:cNvPr id="3" name="Shape 1"/>
          <p:cNvSpPr/>
          <p:nvPr/>
        </p:nvSpPr>
        <p:spPr>
          <a:xfrm>
            <a:off x="548640" y="868680"/>
            <a:ext cx="914400" cy="32004"/>
          </a:xfrm>
          <a:prstGeom prst="rect">
            <a:avLst/>
          </a:prstGeom>
          <a:solidFill>
            <a:srgbClr val="2E9E83"/>
          </a:solidFill>
          <a:ln/>
        </p:spPr>
      </p:sp>
      <p:sp>
        <p:nvSpPr>
          <p:cNvPr id="4" name="Shape 2"/>
          <p:cNvSpPr/>
          <p:nvPr/>
        </p:nvSpPr>
        <p:spPr>
          <a:xfrm>
            <a:off x="548640" y="1024128"/>
            <a:ext cx="8046720" cy="365760"/>
          </a:xfrm>
          <a:prstGeom prst="rect">
            <a:avLst/>
          </a:prstGeom>
          <a:solidFill>
            <a:srgbClr val="E0F2EC"/>
          </a:solidFill>
          <a:ln/>
        </p:spPr>
      </p:sp>
      <p:sp>
        <p:nvSpPr>
          <p:cNvPr id="5" name="Text 3"/>
          <p:cNvSpPr/>
          <p:nvPr/>
        </p:nvSpPr>
        <p:spPr>
          <a:xfrm>
            <a:off x="731520" y="1024128"/>
            <a:ext cx="7772400" cy="365760"/>
          </a:xfrm>
          <a:prstGeom prst="rect">
            <a:avLst/>
          </a:prstGeom>
          <a:noFill/>
          <a:ln/>
        </p:spPr>
        <p:txBody>
          <a:bodyPr wrap="square" lIns="0" tIns="0" rIns="0" bIns="0" rtlCol="0" anchor="ctr"/>
          <a:lstStyle/>
          <a:p>
            <a:pPr indent="0" marL="0">
              <a:buNone/>
            </a:pPr>
            <a:r>
              <a:rPr lang="en-US" sz="1150" dirty="0">
                <a:solidFill>
                  <a:srgbClr val="2C3E50"/>
                </a:solidFill>
                <a:latin typeface="Microsoft YaHei" pitchFamily="34" charset="0"/>
                <a:ea typeface="Microsoft YaHei" pitchFamily="34" charset="-122"/>
                <a:cs typeface="Microsoft YaHei" pitchFamily="34" charset="-120"/>
              </a:rPr>
              <a:t>请参见产品界面：左侧导航栏的[专家中心]模块。</a:t>
            </a:r>
            <a:endParaRPr lang="en-US" sz="1150" dirty="0"/>
          </a:p>
        </p:txBody>
      </p:sp>
      <p:sp>
        <p:nvSpPr>
          <p:cNvPr id="6" name="Shape 4"/>
          <p:cNvSpPr/>
          <p:nvPr/>
        </p:nvSpPr>
        <p:spPr>
          <a:xfrm>
            <a:off x="548640" y="1554480"/>
            <a:ext cx="3931920" cy="18288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7" name="Shape 5"/>
          <p:cNvSpPr/>
          <p:nvPr/>
        </p:nvSpPr>
        <p:spPr>
          <a:xfrm>
            <a:off x="548640" y="1554480"/>
            <a:ext cx="54864" cy="1828800"/>
          </a:xfrm>
          <a:prstGeom prst="rect">
            <a:avLst/>
          </a:prstGeom>
          <a:solidFill>
            <a:srgbClr val="28B894"/>
          </a:solidFill>
          <a:ln/>
        </p:spPr>
      </p:sp>
      <p:sp>
        <p:nvSpPr>
          <p:cNvPr id="8" name="Text 6"/>
          <p:cNvSpPr/>
          <p:nvPr/>
        </p:nvSpPr>
        <p:spPr>
          <a:xfrm>
            <a:off x="731520" y="1664208"/>
            <a:ext cx="3566160" cy="411480"/>
          </a:xfrm>
          <a:prstGeom prst="rect">
            <a:avLst/>
          </a:prstGeom>
          <a:noFill/>
          <a:ln/>
        </p:spPr>
        <p:txBody>
          <a:bodyPr wrap="square" lIns="0" tIns="0" rIns="0" bIns="0" rtlCol="0" anchor="ctr"/>
          <a:lstStyle/>
          <a:p>
            <a:pPr indent="0" marL="0">
              <a:buNone/>
            </a:pPr>
            <a:r>
              <a:rPr lang="en-US" sz="1500" b="1" dirty="0">
                <a:solidFill>
                  <a:srgbClr val="28B894"/>
                </a:solidFill>
                <a:latin typeface="Microsoft YaHei" pitchFamily="34" charset="0"/>
                <a:ea typeface="Microsoft YaHei" pitchFamily="34" charset="-122"/>
                <a:cs typeface="Microsoft YaHei" pitchFamily="34" charset="-120"/>
              </a:rPr>
              <a:t>领域覆盖</a:t>
            </a:r>
            <a:endParaRPr lang="en-US" sz="1500" dirty="0"/>
          </a:p>
        </p:txBody>
      </p:sp>
      <p:sp>
        <p:nvSpPr>
          <p:cNvPr id="9" name="Text 7"/>
          <p:cNvSpPr/>
          <p:nvPr/>
        </p:nvSpPr>
        <p:spPr>
          <a:xfrm>
            <a:off x="731520" y="2148840"/>
            <a:ext cx="3566160" cy="1143000"/>
          </a:xfrm>
          <a:prstGeom prst="rect">
            <a:avLst/>
          </a:prstGeom>
          <a:noFill/>
          <a:ln/>
        </p:spPr>
        <p:txBody>
          <a:bodyPr wrap="square" lIns="0" tIns="0" rIns="0" bIns="0" rtlCol="0" anchor="t"/>
          <a:lstStyle/>
          <a:p>
            <a:pPr indent="0" marL="0">
              <a:lnSpc>
                <a:spcPct val="125000"/>
              </a:lnSpc>
              <a:buNone/>
            </a:pPr>
            <a:r>
              <a:rPr lang="en-US" sz="1100" dirty="0">
                <a:solidFill>
                  <a:srgbClr val="2C3E50"/>
                </a:solidFill>
                <a:latin typeface="Microsoft YaHei" pitchFamily="34" charset="0"/>
                <a:ea typeface="Microsoft YaHei" pitchFamily="34" charset="-122"/>
                <a:cs typeface="Microsoft YaHei" pitchFamily="34" charset="-120"/>
              </a:rPr>
              <a:t>专家中心内置了覆盖法律、财务、品牌、研究、产品与技术等多个细分领域的虚拟专家团队（Team），具体覆盖数量以产品内实际展示为准。</a:t>
            </a:r>
            <a:endParaRPr lang="en-US" sz="1100" dirty="0"/>
          </a:p>
        </p:txBody>
      </p:sp>
      <p:sp>
        <p:nvSpPr>
          <p:cNvPr id="10" name="Shape 8"/>
          <p:cNvSpPr/>
          <p:nvPr/>
        </p:nvSpPr>
        <p:spPr>
          <a:xfrm>
            <a:off x="4709160" y="1554480"/>
            <a:ext cx="3931920" cy="18288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1" name="Shape 9"/>
          <p:cNvSpPr/>
          <p:nvPr/>
        </p:nvSpPr>
        <p:spPr>
          <a:xfrm>
            <a:off x="4709160" y="1554480"/>
            <a:ext cx="54864" cy="1828800"/>
          </a:xfrm>
          <a:prstGeom prst="rect">
            <a:avLst/>
          </a:prstGeom>
          <a:solidFill>
            <a:srgbClr val="2E9E83"/>
          </a:solidFill>
          <a:ln/>
        </p:spPr>
      </p:sp>
      <p:sp>
        <p:nvSpPr>
          <p:cNvPr id="12" name="Text 10"/>
          <p:cNvSpPr/>
          <p:nvPr/>
        </p:nvSpPr>
        <p:spPr>
          <a:xfrm>
            <a:off x="4892040" y="1664208"/>
            <a:ext cx="3566160" cy="411480"/>
          </a:xfrm>
          <a:prstGeom prst="rect">
            <a:avLst/>
          </a:prstGeom>
          <a:noFill/>
          <a:ln/>
        </p:spPr>
        <p:txBody>
          <a:bodyPr wrap="square" lIns="0" tIns="0" rIns="0" bIns="0" rtlCol="0" anchor="ctr"/>
          <a:lstStyle/>
          <a:p>
            <a:pPr indent="0" marL="0">
              <a:buNone/>
            </a:pPr>
            <a:r>
              <a:rPr lang="en-US" sz="1500" b="1" dirty="0">
                <a:solidFill>
                  <a:srgbClr val="28B894"/>
                </a:solidFill>
                <a:latin typeface="Microsoft YaHei" pitchFamily="34" charset="0"/>
                <a:ea typeface="Microsoft YaHei" pitchFamily="34" charset="-122"/>
                <a:cs typeface="Microsoft YaHei" pitchFamily="34" charset="-120"/>
              </a:rPr>
              <a:t>按需召唤</a:t>
            </a:r>
            <a:endParaRPr lang="en-US" sz="1500" dirty="0"/>
          </a:p>
        </p:txBody>
      </p:sp>
      <p:sp>
        <p:nvSpPr>
          <p:cNvPr id="13" name="Text 11"/>
          <p:cNvSpPr/>
          <p:nvPr/>
        </p:nvSpPr>
        <p:spPr>
          <a:xfrm>
            <a:off x="4892040" y="2148840"/>
            <a:ext cx="3566160" cy="1143000"/>
          </a:xfrm>
          <a:prstGeom prst="rect">
            <a:avLst/>
          </a:prstGeom>
          <a:noFill/>
          <a:ln/>
        </p:spPr>
        <p:txBody>
          <a:bodyPr wrap="square" lIns="0" tIns="0" rIns="0" bIns="0" rtlCol="0" anchor="t"/>
          <a:lstStyle/>
          <a:p>
            <a:pPr indent="0" marL="0">
              <a:lnSpc>
                <a:spcPct val="125000"/>
              </a:lnSpc>
              <a:buNone/>
            </a:pPr>
            <a:r>
              <a:rPr lang="en-US" sz="1100" dirty="0">
                <a:solidFill>
                  <a:srgbClr val="2C3E50"/>
                </a:solidFill>
                <a:latin typeface="Microsoft YaHei" pitchFamily="34" charset="0"/>
                <a:ea typeface="Microsoft YaHei" pitchFamily="34" charset="-122"/>
                <a:cs typeface="Microsoft YaHei" pitchFamily="34" charset="-120"/>
              </a:rPr>
              <a:t>支持按行业分类浏览、按需召唤；你可以随时根据项目需求，召唤对应领域的专家进行深度咨询与任务执行。</a:t>
            </a:r>
            <a:endParaRPr lang="en-US" sz="1100" dirty="0"/>
          </a:p>
        </p:txBody>
      </p:sp>
      <p:sp>
        <p:nvSpPr>
          <p:cNvPr id="14" name="Shape 12"/>
          <p:cNvSpPr/>
          <p:nvPr/>
        </p:nvSpPr>
        <p:spPr>
          <a:xfrm>
            <a:off x="548640" y="3611880"/>
            <a:ext cx="8046720" cy="402336"/>
          </a:xfrm>
          <a:prstGeom prst="rect">
            <a:avLst/>
          </a:prstGeom>
          <a:solidFill>
            <a:srgbClr val="E9F5F1"/>
          </a:solidFill>
          <a:ln/>
          <a:effectLst>
            <a:outerShdw sx="100000" sy="100000" kx="0" ky="0" algn="bl" rotWithShape="0" blurRad="76200" dist="25400" dir="8100000">
              <a:srgbClr val="000000">
                <a:alpha val="8000"/>
              </a:srgbClr>
            </a:outerShdw>
          </a:effectLst>
        </p:spPr>
      </p:sp>
      <p:sp>
        <p:nvSpPr>
          <p:cNvPr id="15" name="Shape 13"/>
          <p:cNvSpPr/>
          <p:nvPr/>
        </p:nvSpPr>
        <p:spPr>
          <a:xfrm>
            <a:off x="548640" y="3611880"/>
            <a:ext cx="64008" cy="402336"/>
          </a:xfrm>
          <a:prstGeom prst="rect">
            <a:avLst/>
          </a:prstGeom>
          <a:solidFill>
            <a:srgbClr val="28B894"/>
          </a:solidFill>
          <a:ln/>
        </p:spPr>
      </p:sp>
      <p:sp>
        <p:nvSpPr>
          <p:cNvPr id="16" name="Text 14"/>
          <p:cNvSpPr/>
          <p:nvPr/>
        </p:nvSpPr>
        <p:spPr>
          <a:xfrm>
            <a:off x="868680" y="3611880"/>
            <a:ext cx="7498080" cy="402336"/>
          </a:xfrm>
          <a:prstGeom prst="rect">
            <a:avLst/>
          </a:prstGeom>
          <a:noFill/>
          <a:ln/>
        </p:spPr>
        <p:txBody>
          <a:bodyPr wrap="square" lIns="0" tIns="0" rIns="0" bIns="0" rtlCol="0" anchor="ctr">
            <a:normAutofit/>
          </a:bodyPr>
          <a:lstStyle/>
          <a:p>
            <a:pPr indent="0" marL="0">
              <a:lnSpc>
                <a:spcPct val="120000"/>
              </a:lnSpc>
              <a:buNone/>
            </a:pPr>
            <a:r>
              <a:rPr lang="en-US" sz="1200" b="1" dirty="0">
                <a:solidFill>
                  <a:srgbClr val="28B894"/>
                </a:solidFill>
                <a:latin typeface="Microsoft YaHei" pitchFamily="34" charset="0"/>
                <a:ea typeface="Microsoft YaHei" pitchFamily="34" charset="-122"/>
                <a:cs typeface="Microsoft YaHei" pitchFamily="34" charset="-120"/>
              </a:rPr>
              <a:t>让超级个体轻松调配不同领域的专业资源——专家团随需应召、深度咨询、任务执行。</a:t>
            </a:r>
            <a:endParaRPr lang="en-US" sz="1200" dirty="0"/>
          </a:p>
        </p:txBody>
      </p:sp>
      <p:sp>
        <p:nvSpPr>
          <p:cNvPr id="17" name="Shape 15"/>
          <p:cNvSpPr/>
          <p:nvPr/>
        </p:nvSpPr>
        <p:spPr>
          <a:xfrm>
            <a:off x="548640" y="4434840"/>
            <a:ext cx="8046720" cy="457200"/>
          </a:xfrm>
          <a:prstGeom prst="rect">
            <a:avLst/>
          </a:prstGeom>
          <a:solidFill>
            <a:srgbClr val="E7F3EE"/>
          </a:solidFill>
          <a:ln/>
        </p:spPr>
      </p:sp>
      <p:sp>
        <p:nvSpPr>
          <p:cNvPr id="18" name="Shape 16"/>
          <p:cNvSpPr/>
          <p:nvPr/>
        </p:nvSpPr>
        <p:spPr>
          <a:xfrm>
            <a:off x="548640" y="4434840"/>
            <a:ext cx="45720" cy="457200"/>
          </a:xfrm>
          <a:prstGeom prst="rect">
            <a:avLst/>
          </a:prstGeom>
          <a:solidFill>
            <a:srgbClr val="2E9E83"/>
          </a:solidFill>
          <a:ln/>
        </p:spPr>
      </p:sp>
      <p:sp>
        <p:nvSpPr>
          <p:cNvPr id="19" name="Text 17"/>
          <p:cNvSpPr/>
          <p:nvPr/>
        </p:nvSpPr>
        <p:spPr>
          <a:xfrm>
            <a:off x="777240" y="4434840"/>
            <a:ext cx="7589520" cy="457200"/>
          </a:xfrm>
          <a:prstGeom prst="rect">
            <a:avLst/>
          </a:prstGeom>
          <a:noFill/>
          <a:ln/>
        </p:spPr>
        <p:txBody>
          <a:bodyPr wrap="square" lIns="0" tIns="0" rIns="0" bIns="0" rtlCol="0" anchor="ctr"/>
          <a:lstStyle/>
          <a:p>
            <a:pPr indent="0" marL="0">
              <a:buNone/>
            </a:pPr>
            <a:r>
              <a:rPr lang="en-US" sz="1200" dirty="0">
                <a:solidFill>
                  <a:srgbClr val="2C3E50"/>
                </a:solidFill>
                <a:latin typeface="Microsoft YaHei" pitchFamily="34" charset="0"/>
                <a:ea typeface="Microsoft YaHei" pitchFamily="34" charset="-122"/>
                <a:cs typeface="Microsoft YaHei" pitchFamily="34" charset="-120"/>
              </a:rPr>
              <a:t>覆盖多领域、随需召唤：项目不同阶段，都有对口领域的专家团可用。</a:t>
            </a:r>
            <a:endParaRPr lang="en-US" sz="1200" dirty="0"/>
          </a:p>
        </p:txBody>
      </p:sp>
      <p:sp>
        <p:nvSpPr>
          <p:cNvPr id="20" name="Text 18"/>
          <p:cNvSpPr/>
          <p:nvPr/>
        </p:nvSpPr>
        <p:spPr>
          <a:xfrm>
            <a:off x="548640" y="4956048"/>
            <a:ext cx="8046720" cy="182880"/>
          </a:xfrm>
          <a:prstGeom prst="rect">
            <a:avLst/>
          </a:prstGeom>
          <a:noFill/>
          <a:ln/>
        </p:spPr>
        <p:txBody>
          <a:bodyPr wrap="square" lIns="0" tIns="0" rIns="0" bIns="0" rtlCol="0" anchor="ctr"/>
          <a:lstStyle/>
          <a:p>
            <a:pPr indent="0" marL="0">
              <a:buNone/>
            </a:pPr>
            <a:r>
              <a:rPr lang="en-US" sz="800" dirty="0">
                <a:solidFill>
                  <a:srgbClr val="7F8C8D"/>
                </a:solidFill>
                <a:latin typeface="Microsoft YaHei" pitchFamily="34" charset="0"/>
                <a:ea typeface="Microsoft YaHei" pitchFamily="34" charset="-122"/>
                <a:cs typeface="Microsoft YaHei" pitchFamily="34" charset="-120"/>
              </a:rPr>
              <a:t>官方文档《专家》：https://www.workbuddy.cn/docs/workbuddy/From-Beginner-to-Expert-Guide/Function-Description/Expert-Center</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594360"/>
          </a:xfrm>
          <a:prstGeom prst="rect">
            <a:avLst/>
          </a:prstGeom>
          <a:noFill/>
          <a:ln/>
        </p:spPr>
        <p:txBody>
          <a:bodyPr wrap="square" lIns="0" tIns="0" rIns="0" bIns="0" rtlCol="0" anchor="ctr"/>
          <a:lstStyle/>
          <a:p>
            <a:pPr indent="0" marL="0">
              <a:buNone/>
            </a:pPr>
            <a:r>
              <a:rPr lang="en-US" sz="2600" b="1" dirty="0">
                <a:solidFill>
                  <a:srgbClr val="28B894"/>
                </a:solidFill>
                <a:latin typeface="Microsoft YaHei" pitchFamily="34" charset="0"/>
                <a:ea typeface="Microsoft YaHei" pitchFamily="34" charset="-122"/>
                <a:cs typeface="Microsoft YaHei" pitchFamily="34" charset="-120"/>
              </a:rPr>
              <a:t>五类典型专家团场景</a:t>
            </a:r>
            <a:endParaRPr lang="en-US" sz="2600" dirty="0"/>
          </a:p>
        </p:txBody>
      </p:sp>
      <p:sp>
        <p:nvSpPr>
          <p:cNvPr id="3" name="Shape 1"/>
          <p:cNvSpPr/>
          <p:nvPr/>
        </p:nvSpPr>
        <p:spPr>
          <a:xfrm>
            <a:off x="548640" y="868680"/>
            <a:ext cx="914400" cy="32004"/>
          </a:xfrm>
          <a:prstGeom prst="rect">
            <a:avLst/>
          </a:prstGeom>
          <a:solidFill>
            <a:srgbClr val="2E9E83"/>
          </a:solidFill>
          <a:ln/>
        </p:spPr>
      </p:sp>
      <p:sp>
        <p:nvSpPr>
          <p:cNvPr id="4" name="Text 2"/>
          <p:cNvSpPr/>
          <p:nvPr/>
        </p:nvSpPr>
        <p:spPr>
          <a:xfrm>
            <a:off x="548640" y="1005840"/>
            <a:ext cx="8046720" cy="320040"/>
          </a:xfrm>
          <a:prstGeom prst="rect">
            <a:avLst/>
          </a:prstGeom>
          <a:noFill/>
          <a:ln/>
        </p:spPr>
        <p:txBody>
          <a:bodyPr wrap="square" lIns="0" tIns="0" rIns="0" bIns="0" rtlCol="0" anchor="ctr"/>
          <a:lstStyle/>
          <a:p>
            <a:pPr indent="0" marL="0">
              <a:buNone/>
            </a:pPr>
            <a:r>
              <a:rPr lang="en-US" sz="1250" dirty="0">
                <a:solidFill>
                  <a:srgbClr val="7F8C8D"/>
                </a:solidFill>
                <a:latin typeface="Microsoft YaHei" pitchFamily="34" charset="0"/>
                <a:ea typeface="Microsoft YaHei" pitchFamily="34" charset="-122"/>
                <a:cs typeface="Microsoft YaHei" pitchFamily="34" charset="-120"/>
              </a:rPr>
              <a:t>以下五类团队在典型商业场景中较为常用（团队名称与分类以产品内专家中心实际展示为准）：</a:t>
            </a:r>
            <a:endParaRPr lang="en-US" sz="1250" dirty="0"/>
          </a:p>
        </p:txBody>
      </p:sp>
      <p:sp>
        <p:nvSpPr>
          <p:cNvPr id="5" name="Shape 3"/>
          <p:cNvSpPr/>
          <p:nvPr/>
        </p:nvSpPr>
        <p:spPr>
          <a:xfrm>
            <a:off x="548640" y="1371600"/>
            <a:ext cx="3931920" cy="16002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6" name="Shape 4"/>
          <p:cNvSpPr/>
          <p:nvPr/>
        </p:nvSpPr>
        <p:spPr>
          <a:xfrm>
            <a:off x="548640" y="1371600"/>
            <a:ext cx="54864" cy="1600200"/>
          </a:xfrm>
          <a:prstGeom prst="rect">
            <a:avLst/>
          </a:prstGeom>
          <a:solidFill>
            <a:srgbClr val="28B894"/>
          </a:solidFill>
          <a:ln/>
        </p:spPr>
      </p:sp>
      <p:sp>
        <p:nvSpPr>
          <p:cNvPr id="7" name="Text 5"/>
          <p:cNvSpPr/>
          <p:nvPr/>
        </p:nvSpPr>
        <p:spPr>
          <a:xfrm>
            <a:off x="731520" y="1463040"/>
            <a:ext cx="3566160" cy="365760"/>
          </a:xfrm>
          <a:prstGeom prst="rect">
            <a:avLst/>
          </a:prstGeom>
          <a:noFill/>
          <a:ln/>
        </p:spPr>
        <p:txBody>
          <a:bodyPr wrap="square" lIns="0" tIns="0" rIns="0" bIns="0" rtlCol="0" anchor="ctr"/>
          <a:lstStyle/>
          <a:p>
            <a:pPr indent="0" marL="0">
              <a:buNone/>
            </a:pPr>
            <a:r>
              <a:rPr lang="en-US" sz="1300" b="1" dirty="0">
                <a:solidFill>
                  <a:srgbClr val="28B894"/>
                </a:solidFill>
                <a:latin typeface="Microsoft YaHei" pitchFamily="34" charset="0"/>
                <a:ea typeface="Microsoft YaHei" pitchFamily="34" charset="-122"/>
                <a:cs typeface="Microsoft YaHei" pitchFamily="34" charset="-120"/>
              </a:rPr>
              <a:t>OPC 一人公司类</a:t>
            </a:r>
            <a:endParaRPr lang="en-US" sz="1300" dirty="0"/>
          </a:p>
        </p:txBody>
      </p:sp>
      <p:sp>
        <p:nvSpPr>
          <p:cNvPr id="8" name="Text 6"/>
          <p:cNvSpPr/>
          <p:nvPr/>
        </p:nvSpPr>
        <p:spPr>
          <a:xfrm>
            <a:off x="731520" y="1847088"/>
            <a:ext cx="3566160" cy="502920"/>
          </a:xfrm>
          <a:prstGeom prst="rect">
            <a:avLst/>
          </a:prstGeom>
          <a:noFill/>
          <a:ln/>
        </p:spPr>
        <p:txBody>
          <a:bodyPr wrap="square" lIns="0" tIns="0" rIns="0" bIns="0" rtlCol="0" anchor="t"/>
          <a:lstStyle/>
          <a:p>
            <a:pPr indent="0" marL="0">
              <a:lnSpc>
                <a:spcPct val="118000"/>
              </a:lnSpc>
              <a:buNone/>
            </a:pPr>
            <a:r>
              <a:rPr lang="en-US" sz="950" dirty="0">
                <a:solidFill>
                  <a:srgbClr val="2C3E50"/>
                </a:solidFill>
                <a:latin typeface="Microsoft YaHei" pitchFamily="34" charset="0"/>
                <a:ea typeface="Microsoft YaHei" pitchFamily="34" charset="-122"/>
                <a:cs typeface="Microsoft YaHei" pitchFamily="34" charset="-120"/>
              </a:rPr>
              <a:t>提供法务、财务、品牌、运营、研究的一站式服务。</a:t>
            </a:r>
            <a:endParaRPr lang="en-US" sz="950" dirty="0"/>
          </a:p>
        </p:txBody>
      </p:sp>
      <p:sp>
        <p:nvSpPr>
          <p:cNvPr id="9" name="Text 7"/>
          <p:cNvSpPr/>
          <p:nvPr/>
        </p:nvSpPr>
        <p:spPr>
          <a:xfrm>
            <a:off x="731520" y="2395728"/>
            <a:ext cx="3566160" cy="530352"/>
          </a:xfrm>
          <a:prstGeom prst="rect">
            <a:avLst/>
          </a:prstGeom>
          <a:noFill/>
          <a:ln/>
        </p:spPr>
        <p:txBody>
          <a:bodyPr wrap="square" lIns="0" tIns="0" rIns="0" bIns="0" rtlCol="0" anchor="t"/>
          <a:lstStyle/>
          <a:p>
            <a:pPr indent="0" marL="0">
              <a:lnSpc>
                <a:spcPct val="118000"/>
              </a:lnSpc>
              <a:buNone/>
            </a:pPr>
            <a:r>
              <a:rPr lang="en-US" sz="950" b="1" dirty="0">
                <a:solidFill>
                  <a:srgbClr val="2E9E83"/>
                </a:solidFill>
                <a:latin typeface="Microsoft YaHei" pitchFamily="34" charset="0"/>
                <a:ea typeface="Microsoft YaHei" pitchFamily="34" charset="-122"/>
                <a:cs typeface="Microsoft YaHei" pitchFamily="34" charset="-120"/>
              </a:rPr>
              <a:t>案例：</a:t>
            </a:r>
            <a:pPr indent="0" marL="0">
              <a:lnSpc>
                <a:spcPct val="118000"/>
              </a:lnSpc>
              <a:buNone/>
            </a:pPr>
            <a:r>
              <a:rPr lang="en-US" sz="950" dirty="0">
                <a:solidFill>
                  <a:srgbClr val="2C3E50"/>
                </a:solidFill>
                <a:latin typeface="Microsoft YaHei" pitchFamily="34" charset="0"/>
                <a:ea typeface="Microsoft YaHei" pitchFamily="34" charset="-122"/>
                <a:cs typeface="Microsoft YaHei" pitchFamily="34" charset="-120"/>
              </a:rPr>
              <a:t>典型案例：从 0 到 1 启动一家小公司，协助完成商标注册规划、初创期财税模型建立以及基础运营策略的制定。</a:t>
            </a:r>
            <a:endParaRPr lang="en-US" sz="950" dirty="0"/>
          </a:p>
        </p:txBody>
      </p:sp>
      <p:sp>
        <p:nvSpPr>
          <p:cNvPr id="10" name="Shape 8"/>
          <p:cNvSpPr/>
          <p:nvPr/>
        </p:nvSpPr>
        <p:spPr>
          <a:xfrm>
            <a:off x="4709160" y="1371600"/>
            <a:ext cx="3931920" cy="16002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1" name="Shape 9"/>
          <p:cNvSpPr/>
          <p:nvPr/>
        </p:nvSpPr>
        <p:spPr>
          <a:xfrm>
            <a:off x="4709160" y="1371600"/>
            <a:ext cx="54864" cy="1600200"/>
          </a:xfrm>
          <a:prstGeom prst="rect">
            <a:avLst/>
          </a:prstGeom>
          <a:solidFill>
            <a:srgbClr val="2E9E83"/>
          </a:solidFill>
          <a:ln/>
        </p:spPr>
      </p:sp>
      <p:sp>
        <p:nvSpPr>
          <p:cNvPr id="12" name="Text 10"/>
          <p:cNvSpPr/>
          <p:nvPr/>
        </p:nvSpPr>
        <p:spPr>
          <a:xfrm>
            <a:off x="4892040" y="1463040"/>
            <a:ext cx="3566160" cy="365760"/>
          </a:xfrm>
          <a:prstGeom prst="rect">
            <a:avLst/>
          </a:prstGeom>
          <a:noFill/>
          <a:ln/>
        </p:spPr>
        <p:txBody>
          <a:bodyPr wrap="square" lIns="0" tIns="0" rIns="0" bIns="0" rtlCol="0" anchor="ctr"/>
          <a:lstStyle/>
          <a:p>
            <a:pPr indent="0" marL="0">
              <a:buNone/>
            </a:pPr>
            <a:r>
              <a:rPr lang="en-US" sz="1300" b="1" dirty="0">
                <a:solidFill>
                  <a:srgbClr val="28B894"/>
                </a:solidFill>
                <a:latin typeface="Microsoft YaHei" pitchFamily="34" charset="0"/>
                <a:ea typeface="Microsoft YaHei" pitchFamily="34" charset="-122"/>
                <a:cs typeface="Microsoft YaHei" pitchFamily="34" charset="-120"/>
              </a:rPr>
              <a:t>产品设计类</a:t>
            </a:r>
            <a:endParaRPr lang="en-US" sz="1300" dirty="0"/>
          </a:p>
        </p:txBody>
      </p:sp>
      <p:sp>
        <p:nvSpPr>
          <p:cNvPr id="13" name="Text 11"/>
          <p:cNvSpPr/>
          <p:nvPr/>
        </p:nvSpPr>
        <p:spPr>
          <a:xfrm>
            <a:off x="4892040" y="1847088"/>
            <a:ext cx="3566160" cy="502920"/>
          </a:xfrm>
          <a:prstGeom prst="rect">
            <a:avLst/>
          </a:prstGeom>
          <a:noFill/>
          <a:ln/>
        </p:spPr>
        <p:txBody>
          <a:bodyPr wrap="square" lIns="0" tIns="0" rIns="0" bIns="0" rtlCol="0" anchor="t"/>
          <a:lstStyle/>
          <a:p>
            <a:pPr indent="0" marL="0">
              <a:lnSpc>
                <a:spcPct val="118000"/>
              </a:lnSpc>
              <a:buNone/>
            </a:pPr>
            <a:r>
              <a:rPr lang="en-US" sz="950" dirty="0">
                <a:solidFill>
                  <a:srgbClr val="2C3E50"/>
                </a:solidFill>
                <a:latin typeface="Microsoft YaHei" pitchFamily="34" charset="0"/>
                <a:ea typeface="Microsoft YaHei" pitchFamily="34" charset="-122"/>
                <a:cs typeface="Microsoft YaHei" pitchFamily="34" charset="-120"/>
              </a:rPr>
              <a:t>专注于产品战略、市场定位、竞品分析以及原型设计。</a:t>
            </a:r>
            <a:endParaRPr lang="en-US" sz="950" dirty="0"/>
          </a:p>
        </p:txBody>
      </p:sp>
      <p:sp>
        <p:nvSpPr>
          <p:cNvPr id="14" name="Text 12"/>
          <p:cNvSpPr/>
          <p:nvPr/>
        </p:nvSpPr>
        <p:spPr>
          <a:xfrm>
            <a:off x="4892040" y="2395728"/>
            <a:ext cx="3566160" cy="530352"/>
          </a:xfrm>
          <a:prstGeom prst="rect">
            <a:avLst/>
          </a:prstGeom>
          <a:noFill/>
          <a:ln/>
        </p:spPr>
        <p:txBody>
          <a:bodyPr wrap="square" lIns="0" tIns="0" rIns="0" bIns="0" rtlCol="0" anchor="t"/>
          <a:lstStyle/>
          <a:p>
            <a:pPr indent="0" marL="0">
              <a:lnSpc>
                <a:spcPct val="118000"/>
              </a:lnSpc>
              <a:buNone/>
            </a:pPr>
            <a:r>
              <a:rPr lang="en-US" sz="950" b="1" dirty="0">
                <a:solidFill>
                  <a:srgbClr val="2E9E83"/>
                </a:solidFill>
                <a:latin typeface="Microsoft YaHei" pitchFamily="34" charset="0"/>
                <a:ea typeface="Microsoft YaHei" pitchFamily="34" charset="-122"/>
                <a:cs typeface="Microsoft YaHei" pitchFamily="34" charset="-120"/>
              </a:rPr>
              <a:t>案例：</a:t>
            </a:r>
            <a:pPr indent="0" marL="0">
              <a:lnSpc>
                <a:spcPct val="118000"/>
              </a:lnSpc>
              <a:buNone/>
            </a:pPr>
            <a:r>
              <a:rPr lang="en-US" sz="950" dirty="0">
                <a:solidFill>
                  <a:srgbClr val="2C3E50"/>
                </a:solidFill>
                <a:latin typeface="Microsoft YaHei" pitchFamily="34" charset="0"/>
                <a:ea typeface="Microsoft YaHei" pitchFamily="34" charset="-122"/>
                <a:cs typeface="Microsoft YaHei" pitchFamily="34" charset="-120"/>
              </a:rPr>
              <a:t>典型案例：新项目立项期，协助创业者在 3 天内完成 MVP（最小可行性产品）的市场定位与高保真原型输出。</a:t>
            </a:r>
            <a:endParaRPr lang="en-US" sz="950" dirty="0"/>
          </a:p>
        </p:txBody>
      </p:sp>
      <p:sp>
        <p:nvSpPr>
          <p:cNvPr id="15" name="Shape 13"/>
          <p:cNvSpPr/>
          <p:nvPr/>
        </p:nvSpPr>
        <p:spPr>
          <a:xfrm>
            <a:off x="548640" y="3063240"/>
            <a:ext cx="3931920" cy="16002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6" name="Shape 14"/>
          <p:cNvSpPr/>
          <p:nvPr/>
        </p:nvSpPr>
        <p:spPr>
          <a:xfrm>
            <a:off x="548640" y="3063240"/>
            <a:ext cx="54864" cy="1600200"/>
          </a:xfrm>
          <a:prstGeom prst="rect">
            <a:avLst/>
          </a:prstGeom>
          <a:solidFill>
            <a:srgbClr val="5A6B7F"/>
          </a:solidFill>
          <a:ln/>
        </p:spPr>
      </p:sp>
      <p:sp>
        <p:nvSpPr>
          <p:cNvPr id="17" name="Text 15"/>
          <p:cNvSpPr/>
          <p:nvPr/>
        </p:nvSpPr>
        <p:spPr>
          <a:xfrm>
            <a:off x="731520" y="3154680"/>
            <a:ext cx="3566160" cy="365760"/>
          </a:xfrm>
          <a:prstGeom prst="rect">
            <a:avLst/>
          </a:prstGeom>
          <a:noFill/>
          <a:ln/>
        </p:spPr>
        <p:txBody>
          <a:bodyPr wrap="square" lIns="0" tIns="0" rIns="0" bIns="0" rtlCol="0" anchor="ctr"/>
          <a:lstStyle/>
          <a:p>
            <a:pPr indent="0" marL="0">
              <a:buNone/>
            </a:pPr>
            <a:r>
              <a:rPr lang="en-US" sz="1300" b="1" dirty="0">
                <a:solidFill>
                  <a:srgbClr val="28B894"/>
                </a:solidFill>
                <a:latin typeface="Microsoft YaHei" pitchFamily="34" charset="0"/>
                <a:ea typeface="Microsoft YaHei" pitchFamily="34" charset="-122"/>
                <a:cs typeface="Microsoft YaHei" pitchFamily="34" charset="-120"/>
              </a:rPr>
              <a:t>技术工程类</a:t>
            </a:r>
            <a:endParaRPr lang="en-US" sz="1300" dirty="0"/>
          </a:p>
        </p:txBody>
      </p:sp>
      <p:sp>
        <p:nvSpPr>
          <p:cNvPr id="18" name="Text 16"/>
          <p:cNvSpPr/>
          <p:nvPr/>
        </p:nvSpPr>
        <p:spPr>
          <a:xfrm>
            <a:off x="731520" y="3538728"/>
            <a:ext cx="3566160" cy="502920"/>
          </a:xfrm>
          <a:prstGeom prst="rect">
            <a:avLst/>
          </a:prstGeom>
          <a:noFill/>
          <a:ln/>
        </p:spPr>
        <p:txBody>
          <a:bodyPr wrap="square" lIns="0" tIns="0" rIns="0" bIns="0" rtlCol="0" anchor="t"/>
          <a:lstStyle/>
          <a:p>
            <a:pPr indent="0" marL="0">
              <a:lnSpc>
                <a:spcPct val="118000"/>
              </a:lnSpc>
              <a:buNone/>
            </a:pPr>
            <a:r>
              <a:rPr lang="en-US" sz="950" dirty="0">
                <a:solidFill>
                  <a:srgbClr val="2C3E50"/>
                </a:solidFill>
                <a:latin typeface="Microsoft YaHei" pitchFamily="34" charset="0"/>
                <a:ea typeface="Microsoft YaHei" pitchFamily="34" charset="-122"/>
                <a:cs typeface="Microsoft YaHei" pitchFamily="34" charset="-120"/>
              </a:rPr>
              <a:t>模拟完整软件公司的技术编制，角色涵盖产品经理、架构师、工程师以及 QA 测试。</a:t>
            </a:r>
            <a:endParaRPr lang="en-US" sz="950" dirty="0"/>
          </a:p>
        </p:txBody>
      </p:sp>
      <p:sp>
        <p:nvSpPr>
          <p:cNvPr id="19" name="Text 17"/>
          <p:cNvSpPr/>
          <p:nvPr/>
        </p:nvSpPr>
        <p:spPr>
          <a:xfrm>
            <a:off x="731520" y="4087368"/>
            <a:ext cx="3566160" cy="530352"/>
          </a:xfrm>
          <a:prstGeom prst="rect">
            <a:avLst/>
          </a:prstGeom>
          <a:noFill/>
          <a:ln/>
        </p:spPr>
        <p:txBody>
          <a:bodyPr wrap="square" lIns="0" tIns="0" rIns="0" bIns="0" rtlCol="0" anchor="t"/>
          <a:lstStyle/>
          <a:p>
            <a:pPr indent="0" marL="0">
              <a:lnSpc>
                <a:spcPct val="118000"/>
              </a:lnSpc>
              <a:buNone/>
            </a:pPr>
            <a:r>
              <a:rPr lang="en-US" sz="950" b="1" dirty="0">
                <a:solidFill>
                  <a:srgbClr val="2E9E83"/>
                </a:solidFill>
                <a:latin typeface="Microsoft YaHei" pitchFamily="34" charset="0"/>
                <a:ea typeface="Microsoft YaHei" pitchFamily="34" charset="-122"/>
                <a:cs typeface="Microsoft YaHei" pitchFamily="34" charset="-120"/>
              </a:rPr>
              <a:t>案例：</a:t>
            </a:r>
            <a:pPr indent="0" marL="0">
              <a:lnSpc>
                <a:spcPct val="118000"/>
              </a:lnSpc>
              <a:buNone/>
            </a:pPr>
            <a:r>
              <a:rPr lang="en-US" sz="950" dirty="0">
                <a:solidFill>
                  <a:srgbClr val="2C3E50"/>
                </a:solidFill>
                <a:latin typeface="Microsoft YaHei" pitchFamily="34" charset="0"/>
                <a:ea typeface="Microsoft YaHei" pitchFamily="34" charset="-122"/>
                <a:cs typeface="Microsoft YaHei" pitchFamily="34" charset="-120"/>
              </a:rPr>
              <a:t>典型案例：代码部署前进行系统架构评审、性能瓶颈定位分析以及代码安全审计。</a:t>
            </a:r>
            <a:endParaRPr lang="en-US" sz="950" dirty="0"/>
          </a:p>
        </p:txBody>
      </p:sp>
      <p:sp>
        <p:nvSpPr>
          <p:cNvPr id="20" name="Shape 18"/>
          <p:cNvSpPr/>
          <p:nvPr/>
        </p:nvSpPr>
        <p:spPr>
          <a:xfrm>
            <a:off x="4709160" y="3063240"/>
            <a:ext cx="3931920" cy="16002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1" name="Shape 19"/>
          <p:cNvSpPr/>
          <p:nvPr/>
        </p:nvSpPr>
        <p:spPr>
          <a:xfrm>
            <a:off x="4709160" y="3063240"/>
            <a:ext cx="54864" cy="1600200"/>
          </a:xfrm>
          <a:prstGeom prst="rect">
            <a:avLst/>
          </a:prstGeom>
          <a:solidFill>
            <a:srgbClr val="A8895F"/>
          </a:solidFill>
          <a:ln/>
        </p:spPr>
      </p:sp>
      <p:sp>
        <p:nvSpPr>
          <p:cNvPr id="22" name="Text 20"/>
          <p:cNvSpPr/>
          <p:nvPr/>
        </p:nvSpPr>
        <p:spPr>
          <a:xfrm>
            <a:off x="4892040" y="3154680"/>
            <a:ext cx="3566160" cy="365760"/>
          </a:xfrm>
          <a:prstGeom prst="rect">
            <a:avLst/>
          </a:prstGeom>
          <a:noFill/>
          <a:ln/>
        </p:spPr>
        <p:txBody>
          <a:bodyPr wrap="square" lIns="0" tIns="0" rIns="0" bIns="0" rtlCol="0" anchor="ctr"/>
          <a:lstStyle/>
          <a:p>
            <a:pPr indent="0" marL="0">
              <a:buNone/>
            </a:pPr>
            <a:r>
              <a:rPr lang="en-US" sz="1300" b="1" dirty="0">
                <a:solidFill>
                  <a:srgbClr val="28B894"/>
                </a:solidFill>
                <a:latin typeface="Microsoft YaHei" pitchFamily="34" charset="0"/>
                <a:ea typeface="Microsoft YaHei" pitchFamily="34" charset="-122"/>
                <a:cs typeface="Microsoft YaHei" pitchFamily="34" charset="-120"/>
              </a:rPr>
              <a:t>金融投资类</a:t>
            </a:r>
            <a:endParaRPr lang="en-US" sz="1300" dirty="0"/>
          </a:p>
        </p:txBody>
      </p:sp>
      <p:sp>
        <p:nvSpPr>
          <p:cNvPr id="23" name="Text 21"/>
          <p:cNvSpPr/>
          <p:nvPr/>
        </p:nvSpPr>
        <p:spPr>
          <a:xfrm>
            <a:off x="4892040" y="3538728"/>
            <a:ext cx="3566160" cy="502920"/>
          </a:xfrm>
          <a:prstGeom prst="rect">
            <a:avLst/>
          </a:prstGeom>
          <a:noFill/>
          <a:ln/>
        </p:spPr>
        <p:txBody>
          <a:bodyPr wrap="square" lIns="0" tIns="0" rIns="0" bIns="0" rtlCol="0" anchor="t"/>
          <a:lstStyle/>
          <a:p>
            <a:pPr indent="0" marL="0">
              <a:lnSpc>
                <a:spcPct val="118000"/>
              </a:lnSpc>
              <a:buNone/>
            </a:pPr>
            <a:r>
              <a:rPr lang="en-US" sz="950" dirty="0">
                <a:solidFill>
                  <a:srgbClr val="2C3E50"/>
                </a:solidFill>
                <a:latin typeface="Microsoft YaHei" pitchFamily="34" charset="0"/>
                <a:ea typeface="Microsoft YaHei" pitchFamily="34" charset="-122"/>
                <a:cs typeface="Microsoft YaHei" pitchFamily="34" charset="-120"/>
              </a:rPr>
              <a:t>支持 A股/美股研究、个人理财规划、BP（商业计划书）财务建模与现金流推演。</a:t>
            </a:r>
            <a:endParaRPr lang="en-US" sz="950" dirty="0"/>
          </a:p>
        </p:txBody>
      </p:sp>
      <p:sp>
        <p:nvSpPr>
          <p:cNvPr id="24" name="Text 22"/>
          <p:cNvSpPr/>
          <p:nvPr/>
        </p:nvSpPr>
        <p:spPr>
          <a:xfrm>
            <a:off x="4892040" y="4087368"/>
            <a:ext cx="3566160" cy="530352"/>
          </a:xfrm>
          <a:prstGeom prst="rect">
            <a:avLst/>
          </a:prstGeom>
          <a:noFill/>
          <a:ln/>
        </p:spPr>
        <p:txBody>
          <a:bodyPr wrap="square" lIns="0" tIns="0" rIns="0" bIns="0" rtlCol="0" anchor="t"/>
          <a:lstStyle/>
          <a:p>
            <a:pPr indent="0" marL="0">
              <a:lnSpc>
                <a:spcPct val="118000"/>
              </a:lnSpc>
              <a:buNone/>
            </a:pPr>
            <a:r>
              <a:rPr lang="en-US" sz="950" b="1" dirty="0">
                <a:solidFill>
                  <a:srgbClr val="2E9E83"/>
                </a:solidFill>
                <a:latin typeface="Microsoft YaHei" pitchFamily="34" charset="0"/>
                <a:ea typeface="Microsoft YaHei" pitchFamily="34" charset="-122"/>
                <a:cs typeface="Microsoft YaHei" pitchFamily="34" charset="-120"/>
              </a:rPr>
              <a:t>案例：</a:t>
            </a:r>
            <a:pPr indent="0" marL="0">
              <a:lnSpc>
                <a:spcPct val="118000"/>
              </a:lnSpc>
              <a:buNone/>
            </a:pPr>
            <a:r>
              <a:rPr lang="en-US" sz="950" dirty="0">
                <a:solidFill>
                  <a:srgbClr val="2C3E50"/>
                </a:solidFill>
                <a:latin typeface="Microsoft YaHei" pitchFamily="34" charset="0"/>
                <a:ea typeface="Microsoft YaHei" pitchFamily="34" charset="-122"/>
                <a:cs typeface="Microsoft YaHei" pitchFamily="34" charset="-120"/>
              </a:rPr>
              <a:t>典型案例：为即将开启融资的创业项目建立详尽的财务模型。</a:t>
            </a:r>
            <a:endParaRPr lang="en-US" sz="950" dirty="0"/>
          </a:p>
        </p:txBody>
      </p:sp>
      <p:sp>
        <p:nvSpPr>
          <p:cNvPr id="25" name="Shape 23"/>
          <p:cNvSpPr/>
          <p:nvPr/>
        </p:nvSpPr>
        <p:spPr>
          <a:xfrm>
            <a:off x="548640" y="4754880"/>
            <a:ext cx="3931920" cy="16002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6" name="Shape 24"/>
          <p:cNvSpPr/>
          <p:nvPr/>
        </p:nvSpPr>
        <p:spPr>
          <a:xfrm>
            <a:off x="548640" y="4754880"/>
            <a:ext cx="54864" cy="1600200"/>
          </a:xfrm>
          <a:prstGeom prst="rect">
            <a:avLst/>
          </a:prstGeom>
          <a:solidFill>
            <a:srgbClr val="28B894"/>
          </a:solidFill>
          <a:ln/>
        </p:spPr>
      </p:sp>
      <p:sp>
        <p:nvSpPr>
          <p:cNvPr id="27" name="Text 25"/>
          <p:cNvSpPr/>
          <p:nvPr/>
        </p:nvSpPr>
        <p:spPr>
          <a:xfrm>
            <a:off x="731520" y="4846320"/>
            <a:ext cx="3566160" cy="365760"/>
          </a:xfrm>
          <a:prstGeom prst="rect">
            <a:avLst/>
          </a:prstGeom>
          <a:noFill/>
          <a:ln/>
        </p:spPr>
        <p:txBody>
          <a:bodyPr wrap="square" lIns="0" tIns="0" rIns="0" bIns="0" rtlCol="0" anchor="ctr"/>
          <a:lstStyle/>
          <a:p>
            <a:pPr indent="0" marL="0">
              <a:buNone/>
            </a:pPr>
            <a:r>
              <a:rPr lang="en-US" sz="1300" b="1" dirty="0">
                <a:solidFill>
                  <a:srgbClr val="28B894"/>
                </a:solidFill>
                <a:latin typeface="Microsoft YaHei" pitchFamily="34" charset="0"/>
                <a:ea typeface="Microsoft YaHei" pitchFamily="34" charset="-122"/>
                <a:cs typeface="Microsoft YaHei" pitchFamily="34" charset="-120"/>
              </a:rPr>
              <a:t>品牌营销类</a:t>
            </a:r>
            <a:endParaRPr lang="en-US" sz="1300" dirty="0"/>
          </a:p>
        </p:txBody>
      </p:sp>
      <p:sp>
        <p:nvSpPr>
          <p:cNvPr id="28" name="Text 26"/>
          <p:cNvSpPr/>
          <p:nvPr/>
        </p:nvSpPr>
        <p:spPr>
          <a:xfrm>
            <a:off x="731520" y="5230368"/>
            <a:ext cx="3566160" cy="502920"/>
          </a:xfrm>
          <a:prstGeom prst="rect">
            <a:avLst/>
          </a:prstGeom>
          <a:noFill/>
          <a:ln/>
        </p:spPr>
        <p:txBody>
          <a:bodyPr wrap="square" lIns="0" tIns="0" rIns="0" bIns="0" rtlCol="0" anchor="t"/>
          <a:lstStyle/>
          <a:p>
            <a:pPr indent="0" marL="0">
              <a:lnSpc>
                <a:spcPct val="118000"/>
              </a:lnSpc>
              <a:buNone/>
            </a:pPr>
            <a:r>
              <a:rPr lang="en-US" sz="950" dirty="0">
                <a:solidFill>
                  <a:srgbClr val="2C3E50"/>
                </a:solidFill>
                <a:latin typeface="Microsoft YaHei" pitchFamily="34" charset="0"/>
                <a:ea typeface="Microsoft YaHei" pitchFamily="34" charset="-122"/>
                <a:cs typeface="Microsoft YaHei" pitchFamily="34" charset="-120"/>
              </a:rPr>
              <a:t>专注内容创作、内容变现、SEO（搜索引擎优化）与传播策略以及私域运营方案。</a:t>
            </a:r>
            <a:endParaRPr lang="en-US" sz="950" dirty="0"/>
          </a:p>
        </p:txBody>
      </p:sp>
      <p:sp>
        <p:nvSpPr>
          <p:cNvPr id="29" name="Text 27"/>
          <p:cNvSpPr/>
          <p:nvPr/>
        </p:nvSpPr>
        <p:spPr>
          <a:xfrm>
            <a:off x="731520" y="5779008"/>
            <a:ext cx="3566160" cy="530352"/>
          </a:xfrm>
          <a:prstGeom prst="rect">
            <a:avLst/>
          </a:prstGeom>
          <a:noFill/>
          <a:ln/>
        </p:spPr>
        <p:txBody>
          <a:bodyPr wrap="square" lIns="0" tIns="0" rIns="0" bIns="0" rtlCol="0" anchor="t"/>
          <a:lstStyle/>
          <a:p>
            <a:pPr indent="0" marL="0">
              <a:lnSpc>
                <a:spcPct val="118000"/>
              </a:lnSpc>
              <a:buNone/>
            </a:pPr>
            <a:r>
              <a:rPr lang="en-US" sz="950" b="1" dirty="0">
                <a:solidFill>
                  <a:srgbClr val="2E9E83"/>
                </a:solidFill>
                <a:latin typeface="Microsoft YaHei" pitchFamily="34" charset="0"/>
                <a:ea typeface="Microsoft YaHei" pitchFamily="34" charset="-122"/>
                <a:cs typeface="Microsoft YaHei" pitchFamily="34" charset="-120"/>
              </a:rPr>
              <a:t>案例：</a:t>
            </a:r>
            <a:pPr indent="0" marL="0">
              <a:lnSpc>
                <a:spcPct val="118000"/>
              </a:lnSpc>
              <a:buNone/>
            </a:pPr>
            <a:r>
              <a:rPr lang="en-US" sz="950" dirty="0">
                <a:solidFill>
                  <a:srgbClr val="2C3E50"/>
                </a:solidFill>
                <a:latin typeface="Microsoft YaHei" pitchFamily="34" charset="0"/>
                <a:ea typeface="Microsoft YaHei" pitchFamily="34" charset="-122"/>
                <a:cs typeface="Microsoft YaHei" pitchFamily="34" charset="-120"/>
              </a:rPr>
              <a:t>典型案例：为一个全新的自媒体账号制定包含冷启动策略的 30 天增长计划。</a:t>
            </a:r>
            <a:endParaRPr lang="en-US" sz="950" dirty="0"/>
          </a:p>
        </p:txBody>
      </p:sp>
      <p:sp>
        <p:nvSpPr>
          <p:cNvPr id="30" name="Shape 28"/>
          <p:cNvSpPr/>
          <p:nvPr/>
        </p:nvSpPr>
        <p:spPr>
          <a:xfrm>
            <a:off x="4709160" y="4754880"/>
            <a:ext cx="3931920" cy="16002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31" name="Shape 29"/>
          <p:cNvSpPr/>
          <p:nvPr/>
        </p:nvSpPr>
        <p:spPr>
          <a:xfrm>
            <a:off x="4709160" y="4754880"/>
            <a:ext cx="54864" cy="1600200"/>
          </a:xfrm>
          <a:prstGeom prst="rect">
            <a:avLst/>
          </a:prstGeom>
          <a:solidFill>
            <a:srgbClr val="A8895F"/>
          </a:solidFill>
          <a:ln/>
        </p:spPr>
      </p:sp>
      <p:sp>
        <p:nvSpPr>
          <p:cNvPr id="32" name="Text 30"/>
          <p:cNvSpPr/>
          <p:nvPr/>
        </p:nvSpPr>
        <p:spPr>
          <a:xfrm>
            <a:off x="4892040" y="4846320"/>
            <a:ext cx="3566160" cy="365760"/>
          </a:xfrm>
          <a:prstGeom prst="rect">
            <a:avLst/>
          </a:prstGeom>
          <a:noFill/>
          <a:ln/>
        </p:spPr>
        <p:txBody>
          <a:bodyPr wrap="square" lIns="0" tIns="0" rIns="0" bIns="0" rtlCol="0" anchor="ctr"/>
          <a:lstStyle/>
          <a:p>
            <a:pPr indent="0" marL="0">
              <a:buNone/>
            </a:pPr>
            <a:r>
              <a:rPr lang="en-US" sz="1300" b="1" dirty="0">
                <a:solidFill>
                  <a:srgbClr val="28B894"/>
                </a:solidFill>
                <a:latin typeface="Microsoft YaHei" pitchFamily="34" charset="0"/>
                <a:ea typeface="Microsoft YaHei" pitchFamily="34" charset="-122"/>
                <a:cs typeface="Microsoft YaHei" pitchFamily="34" charset="-120"/>
              </a:rPr>
              <a:t>使用提示</a:t>
            </a:r>
            <a:endParaRPr lang="en-US" sz="1300" dirty="0"/>
          </a:p>
        </p:txBody>
      </p:sp>
      <p:sp>
        <p:nvSpPr>
          <p:cNvPr id="33" name="Text 31"/>
          <p:cNvSpPr/>
          <p:nvPr/>
        </p:nvSpPr>
        <p:spPr>
          <a:xfrm>
            <a:off x="4892040" y="5230368"/>
            <a:ext cx="3566160" cy="502920"/>
          </a:xfrm>
          <a:prstGeom prst="rect">
            <a:avLst/>
          </a:prstGeom>
          <a:noFill/>
          <a:ln/>
        </p:spPr>
        <p:txBody>
          <a:bodyPr wrap="square" lIns="0" tIns="0" rIns="0" bIns="0" rtlCol="0" anchor="t"/>
          <a:lstStyle/>
          <a:p>
            <a:pPr indent="0" marL="0">
              <a:lnSpc>
                <a:spcPct val="118000"/>
              </a:lnSpc>
              <a:buNone/>
            </a:pPr>
            <a:r>
              <a:rPr lang="en-US" sz="950" dirty="0">
                <a:solidFill>
                  <a:srgbClr val="2C3E50"/>
                </a:solidFill>
                <a:latin typeface="Microsoft YaHei" pitchFamily="34" charset="0"/>
                <a:ea typeface="Microsoft YaHei" pitchFamily="34" charset="-122"/>
                <a:cs typeface="Microsoft YaHei" pitchFamily="34" charset="-120"/>
              </a:rPr>
              <a:t>技术审计时确保敏感硬编码密钥或业务核心代码已适当遮蔽；AI 生成的金融内容仅供参考，绝不构成任何实质性的投资建议。</a:t>
            </a:r>
            <a:endParaRPr lang="en-US" sz="950" dirty="0"/>
          </a:p>
        </p:txBody>
      </p:sp>
      <p:sp>
        <p:nvSpPr>
          <p:cNvPr id="34" name="Text 32"/>
          <p:cNvSpPr/>
          <p:nvPr/>
        </p:nvSpPr>
        <p:spPr>
          <a:xfrm>
            <a:off x="4892040" y="5779008"/>
            <a:ext cx="3566160" cy="530352"/>
          </a:xfrm>
          <a:prstGeom prst="rect">
            <a:avLst/>
          </a:prstGeom>
          <a:noFill/>
          <a:ln/>
        </p:spPr>
        <p:txBody>
          <a:bodyPr wrap="square" lIns="0" tIns="0" rIns="0" bIns="0" rtlCol="0" anchor="t"/>
          <a:lstStyle/>
          <a:p>
            <a:pPr indent="0" marL="0">
              <a:lnSpc>
                <a:spcPct val="118000"/>
              </a:lnSpc>
              <a:buNone/>
            </a:pPr>
            <a:r>
              <a:rPr lang="en-US" sz="950" b="1" dirty="0">
                <a:solidFill>
                  <a:srgbClr val="2E9E83"/>
                </a:solidFill>
                <a:latin typeface="Microsoft YaHei" pitchFamily="34" charset="0"/>
                <a:ea typeface="Microsoft YaHei" pitchFamily="34" charset="-122"/>
                <a:cs typeface="Microsoft YaHei" pitchFamily="34" charset="-120"/>
              </a:rPr>
              <a:t>案例：</a:t>
            </a:r>
            <a:pPr indent="0" marL="0">
              <a:lnSpc>
                <a:spcPct val="118000"/>
              </a:lnSpc>
              <a:buNone/>
            </a:pPr>
            <a:r>
              <a:rPr lang="en-US" sz="950" dirty="0">
                <a:solidFill>
                  <a:srgbClr val="2C3E50"/>
                </a:solidFill>
                <a:latin typeface="Microsoft YaHei" pitchFamily="34" charset="0"/>
                <a:ea typeface="Microsoft YaHei" pitchFamily="34" charset="-122"/>
                <a:cs typeface="Microsoft YaHei" pitchFamily="34" charset="-120"/>
              </a:rPr>
              <a:t>五团分工：一人公司打底、产品设计开题、技术工程落地、金融投资护航、品牌营销放量。</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2F8F6"/>
        </a:solidFill>
      </p:bgPr>
    </p:bg>
    <p:spTree>
      <p:nvGrpSpPr>
        <p:cNvPr id="1" name=""/>
        <p:cNvGrpSpPr/>
        <p:nvPr/>
      </p:nvGrpSpPr>
      <p:grpSpPr>
        <a:xfrm>
          <a:off x="0" y="0"/>
          <a:ext cx="0" cy="0"/>
          <a:chOff x="0" y="0"/>
          <a:chExt cx="0" cy="0"/>
        </a:xfrm>
      </p:grpSpPr>
      <p:sp>
        <p:nvSpPr>
          <p:cNvPr id="2" name="Text 0"/>
          <p:cNvSpPr/>
          <p:nvPr/>
        </p:nvSpPr>
        <p:spPr>
          <a:xfrm>
            <a:off x="548640" y="274320"/>
            <a:ext cx="8046720" cy="594360"/>
          </a:xfrm>
          <a:prstGeom prst="rect">
            <a:avLst/>
          </a:prstGeom>
          <a:noFill/>
          <a:ln/>
        </p:spPr>
        <p:txBody>
          <a:bodyPr wrap="square" lIns="0" tIns="0" rIns="0" bIns="0" rtlCol="0" anchor="ctr"/>
          <a:lstStyle/>
          <a:p>
            <a:pPr indent="0" marL="0">
              <a:buNone/>
            </a:pPr>
            <a:r>
              <a:rPr lang="en-US" sz="2600" b="1" dirty="0">
                <a:solidFill>
                  <a:srgbClr val="28B894"/>
                </a:solidFill>
                <a:latin typeface="Microsoft YaHei" pitchFamily="34" charset="0"/>
                <a:ea typeface="Microsoft YaHei" pitchFamily="34" charset="-122"/>
                <a:cs typeface="Microsoft YaHei" pitchFamily="34" charset="-120"/>
              </a:rPr>
              <a:t>多团协作工作流</a:t>
            </a:r>
            <a:endParaRPr lang="en-US" sz="2600" dirty="0"/>
          </a:p>
        </p:txBody>
      </p:sp>
      <p:sp>
        <p:nvSpPr>
          <p:cNvPr id="3" name="Shape 1"/>
          <p:cNvSpPr/>
          <p:nvPr/>
        </p:nvSpPr>
        <p:spPr>
          <a:xfrm>
            <a:off x="548640" y="868680"/>
            <a:ext cx="914400" cy="32004"/>
          </a:xfrm>
          <a:prstGeom prst="rect">
            <a:avLst/>
          </a:prstGeom>
          <a:solidFill>
            <a:srgbClr val="2E9E83"/>
          </a:solidFill>
          <a:ln/>
        </p:spPr>
      </p:sp>
      <p:sp>
        <p:nvSpPr>
          <p:cNvPr id="4" name="Text 2"/>
          <p:cNvSpPr/>
          <p:nvPr/>
        </p:nvSpPr>
        <p:spPr>
          <a:xfrm>
            <a:off x="548640" y="1005840"/>
            <a:ext cx="8046720" cy="457200"/>
          </a:xfrm>
          <a:prstGeom prst="rect">
            <a:avLst/>
          </a:prstGeom>
          <a:noFill/>
          <a:ln/>
        </p:spPr>
        <p:txBody>
          <a:bodyPr wrap="square" lIns="0" tIns="0" rIns="0" bIns="0" rtlCol="0" anchor="ctr"/>
          <a:lstStyle/>
          <a:p>
            <a:pPr indent="0" marL="0">
              <a:lnSpc>
                <a:spcPct val="120000"/>
              </a:lnSpc>
              <a:buNone/>
            </a:pPr>
            <a:r>
              <a:rPr lang="en-US" sz="1250" dirty="0">
                <a:solidFill>
                  <a:srgbClr val="7F8C8D"/>
                </a:solidFill>
                <a:latin typeface="Microsoft YaHei" pitchFamily="34" charset="0"/>
                <a:ea typeface="Microsoft YaHei" pitchFamily="34" charset="-122"/>
                <a:cs typeface="Microsoft YaHei" pitchFamily="34" charset="-120"/>
              </a:rPr>
              <a:t>单一专家团队解决的是垂直领域的问题，而真正的商业闭环需要多团协作——标准“产品-内容-落地”闭环接力三步：</a:t>
            </a:r>
            <a:endParaRPr lang="en-US" sz="1250" dirty="0"/>
          </a:p>
        </p:txBody>
      </p:sp>
      <p:sp>
        <p:nvSpPr>
          <p:cNvPr id="5" name="Shape 3"/>
          <p:cNvSpPr/>
          <p:nvPr/>
        </p:nvSpPr>
        <p:spPr>
          <a:xfrm>
            <a:off x="548640" y="1600200"/>
            <a:ext cx="2606040" cy="12344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6" name="Shape 4"/>
          <p:cNvSpPr/>
          <p:nvPr/>
        </p:nvSpPr>
        <p:spPr>
          <a:xfrm>
            <a:off x="548640" y="1600200"/>
            <a:ext cx="54864" cy="1234440"/>
          </a:xfrm>
          <a:prstGeom prst="rect">
            <a:avLst/>
          </a:prstGeom>
          <a:solidFill>
            <a:srgbClr val="28B894"/>
          </a:solidFill>
          <a:ln/>
        </p:spPr>
      </p:sp>
      <p:sp>
        <p:nvSpPr>
          <p:cNvPr id="7" name="Shape 5"/>
          <p:cNvSpPr/>
          <p:nvPr/>
        </p:nvSpPr>
        <p:spPr>
          <a:xfrm>
            <a:off x="676656" y="1709928"/>
            <a:ext cx="411480" cy="411480"/>
          </a:xfrm>
          <a:prstGeom prst="ellipse">
            <a:avLst/>
          </a:prstGeom>
          <a:solidFill>
            <a:srgbClr val="5A6B7F"/>
          </a:solidFill>
          <a:ln/>
        </p:spPr>
      </p:sp>
      <p:sp>
        <p:nvSpPr>
          <p:cNvPr id="8" name="Text 6"/>
          <p:cNvSpPr/>
          <p:nvPr/>
        </p:nvSpPr>
        <p:spPr>
          <a:xfrm>
            <a:off x="676656" y="170992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01</a:t>
            </a:r>
            <a:endParaRPr lang="en-US" sz="1400" dirty="0"/>
          </a:p>
        </p:txBody>
      </p:sp>
      <p:sp>
        <p:nvSpPr>
          <p:cNvPr id="9" name="Text 7"/>
          <p:cNvSpPr/>
          <p:nvPr/>
        </p:nvSpPr>
        <p:spPr>
          <a:xfrm>
            <a:off x="1207008" y="1691640"/>
            <a:ext cx="1920240" cy="457200"/>
          </a:xfrm>
          <a:prstGeom prst="rect">
            <a:avLst/>
          </a:prstGeom>
          <a:noFill/>
          <a:ln/>
        </p:spPr>
        <p:txBody>
          <a:bodyPr wrap="square" lIns="0" tIns="0" rIns="0" bIns="0" rtlCol="0" anchor="ctr"/>
          <a:lstStyle/>
          <a:p>
            <a:pPr indent="0" marL="0">
              <a:buNone/>
            </a:pPr>
            <a:r>
              <a:rPr lang="en-US" sz="1300" b="1" dirty="0">
                <a:solidFill>
                  <a:srgbClr val="28B894"/>
                </a:solidFill>
                <a:latin typeface="Microsoft YaHei" pitchFamily="34" charset="0"/>
                <a:ea typeface="Microsoft YaHei" pitchFamily="34" charset="-122"/>
                <a:cs typeface="Microsoft YaHei" pitchFamily="34" charset="-120"/>
              </a:rPr>
              <a:t>产品设计类</a:t>
            </a:r>
            <a:endParaRPr lang="en-US" sz="1300" dirty="0"/>
          </a:p>
        </p:txBody>
      </p:sp>
      <p:sp>
        <p:nvSpPr>
          <p:cNvPr id="10" name="Text 8"/>
          <p:cNvSpPr/>
          <p:nvPr/>
        </p:nvSpPr>
        <p:spPr>
          <a:xfrm>
            <a:off x="694944" y="2212848"/>
            <a:ext cx="2331720" cy="548640"/>
          </a:xfrm>
          <a:prstGeom prst="rect">
            <a:avLst/>
          </a:prstGeom>
          <a:noFill/>
          <a:ln/>
        </p:spPr>
        <p:txBody>
          <a:bodyPr wrap="square" lIns="0" tIns="0" rIns="0" bIns="0" rtlCol="0" anchor="t"/>
          <a:lstStyle/>
          <a:p>
            <a:pPr indent="0" marL="0">
              <a:lnSpc>
                <a:spcPct val="120000"/>
              </a:lnSpc>
              <a:buNone/>
            </a:pPr>
            <a:r>
              <a:rPr lang="en-US" sz="1050" dirty="0">
                <a:solidFill>
                  <a:srgbClr val="2C3E50"/>
                </a:solidFill>
                <a:latin typeface="Microsoft YaHei" pitchFamily="34" charset="0"/>
                <a:ea typeface="Microsoft YaHei" pitchFamily="34" charset="-122"/>
                <a:cs typeface="Microsoft YaHei" pitchFamily="34" charset="-120"/>
              </a:rPr>
              <a:t>先调用，确定 MVP 原型</a:t>
            </a:r>
            <a:endParaRPr lang="en-US" sz="1050" dirty="0"/>
          </a:p>
        </p:txBody>
      </p:sp>
      <p:sp>
        <p:nvSpPr>
          <p:cNvPr id="11" name="Text 9"/>
          <p:cNvSpPr/>
          <p:nvPr/>
        </p:nvSpPr>
        <p:spPr>
          <a:xfrm>
            <a:off x="3172968" y="1920240"/>
            <a:ext cx="274320" cy="365760"/>
          </a:xfrm>
          <a:prstGeom prst="rect">
            <a:avLst/>
          </a:prstGeom>
          <a:noFill/>
          <a:ln/>
        </p:spPr>
        <p:txBody>
          <a:bodyPr wrap="square" lIns="0" tIns="0" rIns="0" bIns="0" rtlCol="0" anchor="ctr"/>
          <a:lstStyle/>
          <a:p>
            <a:pPr algn="ctr" indent="0" marL="0">
              <a:buNone/>
            </a:pPr>
            <a:r>
              <a:rPr lang="en-US" sz="1800" b="1" dirty="0">
                <a:solidFill>
                  <a:srgbClr val="5A6B7F"/>
                </a:solidFill>
                <a:latin typeface="Microsoft YaHei" pitchFamily="34" charset="0"/>
                <a:ea typeface="Microsoft YaHei" pitchFamily="34" charset="-122"/>
                <a:cs typeface="Microsoft YaHei" pitchFamily="34" charset="-120"/>
              </a:rPr>
              <a:t>→</a:t>
            </a:r>
            <a:endParaRPr lang="en-US" sz="1800" dirty="0"/>
          </a:p>
        </p:txBody>
      </p:sp>
      <p:sp>
        <p:nvSpPr>
          <p:cNvPr id="12" name="Shape 10"/>
          <p:cNvSpPr/>
          <p:nvPr/>
        </p:nvSpPr>
        <p:spPr>
          <a:xfrm>
            <a:off x="3310128" y="1600200"/>
            <a:ext cx="2606040" cy="12344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3" name="Shape 11"/>
          <p:cNvSpPr/>
          <p:nvPr/>
        </p:nvSpPr>
        <p:spPr>
          <a:xfrm>
            <a:off x="3310128" y="1600200"/>
            <a:ext cx="54864" cy="1234440"/>
          </a:xfrm>
          <a:prstGeom prst="rect">
            <a:avLst/>
          </a:prstGeom>
          <a:solidFill>
            <a:srgbClr val="28B894"/>
          </a:solidFill>
          <a:ln/>
        </p:spPr>
      </p:sp>
      <p:sp>
        <p:nvSpPr>
          <p:cNvPr id="14" name="Shape 12"/>
          <p:cNvSpPr/>
          <p:nvPr/>
        </p:nvSpPr>
        <p:spPr>
          <a:xfrm>
            <a:off x="3438144" y="1709928"/>
            <a:ext cx="411480" cy="411480"/>
          </a:xfrm>
          <a:prstGeom prst="ellipse">
            <a:avLst/>
          </a:prstGeom>
          <a:solidFill>
            <a:srgbClr val="5A6B7F"/>
          </a:solidFill>
          <a:ln/>
        </p:spPr>
      </p:sp>
      <p:sp>
        <p:nvSpPr>
          <p:cNvPr id="15" name="Text 13"/>
          <p:cNvSpPr/>
          <p:nvPr/>
        </p:nvSpPr>
        <p:spPr>
          <a:xfrm>
            <a:off x="3438144" y="170992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02</a:t>
            </a:r>
            <a:endParaRPr lang="en-US" sz="1400" dirty="0"/>
          </a:p>
        </p:txBody>
      </p:sp>
      <p:sp>
        <p:nvSpPr>
          <p:cNvPr id="16" name="Text 14"/>
          <p:cNvSpPr/>
          <p:nvPr/>
        </p:nvSpPr>
        <p:spPr>
          <a:xfrm>
            <a:off x="3968496" y="1691640"/>
            <a:ext cx="1920240" cy="457200"/>
          </a:xfrm>
          <a:prstGeom prst="rect">
            <a:avLst/>
          </a:prstGeom>
          <a:noFill/>
          <a:ln/>
        </p:spPr>
        <p:txBody>
          <a:bodyPr wrap="square" lIns="0" tIns="0" rIns="0" bIns="0" rtlCol="0" anchor="ctr"/>
          <a:lstStyle/>
          <a:p>
            <a:pPr indent="0" marL="0">
              <a:buNone/>
            </a:pPr>
            <a:r>
              <a:rPr lang="en-US" sz="1300" b="1" dirty="0">
                <a:solidFill>
                  <a:srgbClr val="28B894"/>
                </a:solidFill>
                <a:latin typeface="Microsoft YaHei" pitchFamily="34" charset="0"/>
                <a:ea typeface="Microsoft YaHei" pitchFamily="34" charset="-122"/>
                <a:cs typeface="Microsoft YaHei" pitchFamily="34" charset="-120"/>
              </a:rPr>
              <a:t>技术工程类</a:t>
            </a:r>
            <a:endParaRPr lang="en-US" sz="1300" dirty="0"/>
          </a:p>
        </p:txBody>
      </p:sp>
      <p:sp>
        <p:nvSpPr>
          <p:cNvPr id="17" name="Text 15"/>
          <p:cNvSpPr/>
          <p:nvPr/>
        </p:nvSpPr>
        <p:spPr>
          <a:xfrm>
            <a:off x="3456432" y="2212848"/>
            <a:ext cx="2331720" cy="548640"/>
          </a:xfrm>
          <a:prstGeom prst="rect">
            <a:avLst/>
          </a:prstGeom>
          <a:noFill/>
          <a:ln/>
        </p:spPr>
        <p:txBody>
          <a:bodyPr wrap="square" lIns="0" tIns="0" rIns="0" bIns="0" rtlCol="0" anchor="t"/>
          <a:lstStyle/>
          <a:p>
            <a:pPr indent="0" marL="0">
              <a:lnSpc>
                <a:spcPct val="120000"/>
              </a:lnSpc>
              <a:buNone/>
            </a:pPr>
            <a:r>
              <a:rPr lang="en-US" sz="1050" dirty="0">
                <a:solidFill>
                  <a:srgbClr val="2C3E50"/>
                </a:solidFill>
                <a:latin typeface="Microsoft YaHei" pitchFamily="34" charset="0"/>
                <a:ea typeface="Microsoft YaHei" pitchFamily="34" charset="-122"/>
                <a:cs typeface="Microsoft YaHei" pitchFamily="34" charset="-120"/>
              </a:rPr>
              <a:t>无缝切换，完成代码生成与测试部署</a:t>
            </a:r>
            <a:endParaRPr lang="en-US" sz="1050" dirty="0"/>
          </a:p>
        </p:txBody>
      </p:sp>
      <p:sp>
        <p:nvSpPr>
          <p:cNvPr id="18" name="Text 16"/>
          <p:cNvSpPr/>
          <p:nvPr/>
        </p:nvSpPr>
        <p:spPr>
          <a:xfrm>
            <a:off x="5934456" y="1920240"/>
            <a:ext cx="274320" cy="365760"/>
          </a:xfrm>
          <a:prstGeom prst="rect">
            <a:avLst/>
          </a:prstGeom>
          <a:noFill/>
          <a:ln/>
        </p:spPr>
        <p:txBody>
          <a:bodyPr wrap="square" lIns="0" tIns="0" rIns="0" bIns="0" rtlCol="0" anchor="ctr"/>
          <a:lstStyle/>
          <a:p>
            <a:pPr algn="ctr" indent="0" marL="0">
              <a:buNone/>
            </a:pPr>
            <a:r>
              <a:rPr lang="en-US" sz="1800" b="1" dirty="0">
                <a:solidFill>
                  <a:srgbClr val="5A6B7F"/>
                </a:solidFill>
                <a:latin typeface="Microsoft YaHei" pitchFamily="34" charset="0"/>
                <a:ea typeface="Microsoft YaHei" pitchFamily="34" charset="-122"/>
                <a:cs typeface="Microsoft YaHei" pitchFamily="34" charset="-120"/>
              </a:rPr>
              <a:t>→</a:t>
            </a:r>
            <a:endParaRPr lang="en-US" sz="1800" dirty="0"/>
          </a:p>
        </p:txBody>
      </p:sp>
      <p:sp>
        <p:nvSpPr>
          <p:cNvPr id="19" name="Shape 17"/>
          <p:cNvSpPr/>
          <p:nvPr/>
        </p:nvSpPr>
        <p:spPr>
          <a:xfrm>
            <a:off x="6071616" y="1600200"/>
            <a:ext cx="2606040" cy="12344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0" name="Shape 18"/>
          <p:cNvSpPr/>
          <p:nvPr/>
        </p:nvSpPr>
        <p:spPr>
          <a:xfrm>
            <a:off x="6071616" y="1600200"/>
            <a:ext cx="54864" cy="1234440"/>
          </a:xfrm>
          <a:prstGeom prst="rect">
            <a:avLst/>
          </a:prstGeom>
          <a:solidFill>
            <a:srgbClr val="28B894"/>
          </a:solidFill>
          <a:ln/>
        </p:spPr>
      </p:sp>
      <p:sp>
        <p:nvSpPr>
          <p:cNvPr id="21" name="Shape 19"/>
          <p:cNvSpPr/>
          <p:nvPr/>
        </p:nvSpPr>
        <p:spPr>
          <a:xfrm>
            <a:off x="6199632" y="1709928"/>
            <a:ext cx="411480" cy="411480"/>
          </a:xfrm>
          <a:prstGeom prst="ellipse">
            <a:avLst/>
          </a:prstGeom>
          <a:solidFill>
            <a:srgbClr val="5A6B7F"/>
          </a:solidFill>
          <a:ln/>
        </p:spPr>
      </p:sp>
      <p:sp>
        <p:nvSpPr>
          <p:cNvPr id="22" name="Text 20"/>
          <p:cNvSpPr/>
          <p:nvPr/>
        </p:nvSpPr>
        <p:spPr>
          <a:xfrm>
            <a:off x="6199632" y="170992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03</a:t>
            </a:r>
            <a:endParaRPr lang="en-US" sz="1400" dirty="0"/>
          </a:p>
        </p:txBody>
      </p:sp>
      <p:sp>
        <p:nvSpPr>
          <p:cNvPr id="23" name="Text 21"/>
          <p:cNvSpPr/>
          <p:nvPr/>
        </p:nvSpPr>
        <p:spPr>
          <a:xfrm>
            <a:off x="6729984" y="1691640"/>
            <a:ext cx="1920240" cy="457200"/>
          </a:xfrm>
          <a:prstGeom prst="rect">
            <a:avLst/>
          </a:prstGeom>
          <a:noFill/>
          <a:ln/>
        </p:spPr>
        <p:txBody>
          <a:bodyPr wrap="square" lIns="0" tIns="0" rIns="0" bIns="0" rtlCol="0" anchor="ctr"/>
          <a:lstStyle/>
          <a:p>
            <a:pPr indent="0" marL="0">
              <a:buNone/>
            </a:pPr>
            <a:r>
              <a:rPr lang="en-US" sz="1300" b="1" dirty="0">
                <a:solidFill>
                  <a:srgbClr val="28B894"/>
                </a:solidFill>
                <a:latin typeface="Microsoft YaHei" pitchFamily="34" charset="0"/>
                <a:ea typeface="Microsoft YaHei" pitchFamily="34" charset="-122"/>
                <a:cs typeface="Microsoft YaHei" pitchFamily="34" charset="-120"/>
              </a:rPr>
              <a:t>品牌营销类</a:t>
            </a:r>
            <a:endParaRPr lang="en-US" sz="1300" dirty="0"/>
          </a:p>
        </p:txBody>
      </p:sp>
      <p:sp>
        <p:nvSpPr>
          <p:cNvPr id="24" name="Text 22"/>
          <p:cNvSpPr/>
          <p:nvPr/>
        </p:nvSpPr>
        <p:spPr>
          <a:xfrm>
            <a:off x="6217920" y="2212848"/>
            <a:ext cx="2331720" cy="548640"/>
          </a:xfrm>
          <a:prstGeom prst="rect">
            <a:avLst/>
          </a:prstGeom>
          <a:noFill/>
          <a:ln/>
        </p:spPr>
        <p:txBody>
          <a:bodyPr wrap="square" lIns="0" tIns="0" rIns="0" bIns="0" rtlCol="0" anchor="t"/>
          <a:lstStyle/>
          <a:p>
            <a:pPr indent="0" marL="0">
              <a:lnSpc>
                <a:spcPct val="120000"/>
              </a:lnSpc>
              <a:buNone/>
            </a:pPr>
            <a:r>
              <a:rPr lang="en-US" sz="1050" dirty="0">
                <a:solidFill>
                  <a:srgbClr val="2C3E50"/>
                </a:solidFill>
                <a:latin typeface="Microsoft YaHei" pitchFamily="34" charset="0"/>
                <a:ea typeface="Microsoft YaHei" pitchFamily="34" charset="-122"/>
                <a:cs typeface="Microsoft YaHei" pitchFamily="34" charset="-120"/>
              </a:rPr>
              <a:t>最后接力，规划上线后的推广路径</a:t>
            </a:r>
            <a:endParaRPr lang="en-US" sz="1050" dirty="0"/>
          </a:p>
        </p:txBody>
      </p:sp>
      <p:sp>
        <p:nvSpPr>
          <p:cNvPr id="25" name="Shape 23"/>
          <p:cNvSpPr/>
          <p:nvPr/>
        </p:nvSpPr>
        <p:spPr>
          <a:xfrm>
            <a:off x="548640" y="3200400"/>
            <a:ext cx="8046720" cy="621792"/>
          </a:xfrm>
          <a:prstGeom prst="rect">
            <a:avLst/>
          </a:prstGeom>
          <a:solidFill>
            <a:srgbClr val="E9F5F1"/>
          </a:solidFill>
          <a:ln/>
          <a:effectLst>
            <a:outerShdw sx="100000" sy="100000" kx="0" ky="0" algn="bl" rotWithShape="0" blurRad="76200" dist="25400" dir="8100000">
              <a:srgbClr val="000000">
                <a:alpha val="8000"/>
              </a:srgbClr>
            </a:outerShdw>
          </a:effectLst>
        </p:spPr>
      </p:sp>
      <p:sp>
        <p:nvSpPr>
          <p:cNvPr id="26" name="Shape 24"/>
          <p:cNvSpPr/>
          <p:nvPr/>
        </p:nvSpPr>
        <p:spPr>
          <a:xfrm>
            <a:off x="548640" y="3200400"/>
            <a:ext cx="64008" cy="621792"/>
          </a:xfrm>
          <a:prstGeom prst="rect">
            <a:avLst/>
          </a:prstGeom>
          <a:solidFill>
            <a:srgbClr val="28B894"/>
          </a:solidFill>
          <a:ln/>
        </p:spPr>
      </p:sp>
      <p:sp>
        <p:nvSpPr>
          <p:cNvPr id="27" name="Text 25"/>
          <p:cNvSpPr/>
          <p:nvPr/>
        </p:nvSpPr>
        <p:spPr>
          <a:xfrm>
            <a:off x="868680" y="3200400"/>
            <a:ext cx="7498080" cy="621792"/>
          </a:xfrm>
          <a:prstGeom prst="rect">
            <a:avLst/>
          </a:prstGeom>
          <a:noFill/>
          <a:ln/>
        </p:spPr>
        <p:txBody>
          <a:bodyPr wrap="square" lIns="0" tIns="0" rIns="0" bIns="0" rtlCol="0" anchor="ctr">
            <a:normAutofit/>
          </a:bodyPr>
          <a:lstStyle/>
          <a:p>
            <a:pPr indent="0" marL="0">
              <a:lnSpc>
                <a:spcPct val="120000"/>
              </a:lnSpc>
              <a:buNone/>
            </a:pPr>
            <a:r>
              <a:rPr lang="en-US" sz="1200" b="1" dirty="0">
                <a:solidFill>
                  <a:srgbClr val="28B894"/>
                </a:solidFill>
                <a:latin typeface="Microsoft YaHei" pitchFamily="34" charset="0"/>
                <a:ea typeface="Microsoft YaHei" pitchFamily="34" charset="-122"/>
                <a:cs typeface="Microsoft YaHei" pitchFamily="34" charset="-120"/>
              </a:rPr>
              <a:t>多 Agent Team 协同作业，一名超级个体完全有能力在一周内打通以往多部门耗时数月的完整商业闭环。</a:t>
            </a:r>
            <a:endParaRPr lang="en-US" sz="1200" dirty="0"/>
          </a:p>
        </p:txBody>
      </p:sp>
      <p:sp>
        <p:nvSpPr>
          <p:cNvPr id="28" name="Shape 26"/>
          <p:cNvSpPr/>
          <p:nvPr/>
        </p:nvSpPr>
        <p:spPr>
          <a:xfrm>
            <a:off x="548640" y="4160520"/>
            <a:ext cx="8046720" cy="457200"/>
          </a:xfrm>
          <a:prstGeom prst="rect">
            <a:avLst/>
          </a:prstGeom>
          <a:solidFill>
            <a:srgbClr val="E7F3EE"/>
          </a:solidFill>
          <a:ln/>
        </p:spPr>
      </p:sp>
      <p:sp>
        <p:nvSpPr>
          <p:cNvPr id="29" name="Shape 27"/>
          <p:cNvSpPr/>
          <p:nvPr/>
        </p:nvSpPr>
        <p:spPr>
          <a:xfrm>
            <a:off x="548640" y="4160520"/>
            <a:ext cx="45720" cy="457200"/>
          </a:xfrm>
          <a:prstGeom prst="rect">
            <a:avLst/>
          </a:prstGeom>
          <a:solidFill>
            <a:srgbClr val="2E9E83"/>
          </a:solidFill>
          <a:ln/>
        </p:spPr>
      </p:sp>
      <p:sp>
        <p:nvSpPr>
          <p:cNvPr id="30" name="Text 28"/>
          <p:cNvSpPr/>
          <p:nvPr/>
        </p:nvSpPr>
        <p:spPr>
          <a:xfrm>
            <a:off x="777240" y="4160520"/>
            <a:ext cx="7589520" cy="457200"/>
          </a:xfrm>
          <a:prstGeom prst="rect">
            <a:avLst/>
          </a:prstGeom>
          <a:noFill/>
          <a:ln/>
        </p:spPr>
        <p:txBody>
          <a:bodyPr wrap="square" lIns="0" tIns="0" rIns="0" bIns="0" rtlCol="0" anchor="ctr"/>
          <a:lstStyle/>
          <a:p>
            <a:pPr indent="0" marL="0">
              <a:buNone/>
            </a:pPr>
            <a:r>
              <a:rPr lang="en-US" sz="1200" dirty="0">
                <a:solidFill>
                  <a:srgbClr val="2C3E50"/>
                </a:solidFill>
                <a:latin typeface="Microsoft YaHei" pitchFamily="34" charset="0"/>
                <a:ea typeface="Microsoft YaHei" pitchFamily="34" charset="-122"/>
                <a:cs typeface="Microsoft YaHei" pitchFamily="34" charset="-120"/>
              </a:rPr>
              <a:t>工作流节奏：先定原型 → 再做落地 → 最后推增长，专家团接力无缝切换。</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E8F73"/>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2E9E83"/>
          </a:solidFill>
          <a:ln/>
        </p:spPr>
      </p:sp>
      <p:sp>
        <p:nvSpPr>
          <p:cNvPr id="3" name="Shape 1"/>
          <p:cNvSpPr/>
          <p:nvPr/>
        </p:nvSpPr>
        <p:spPr>
          <a:xfrm>
            <a:off x="0" y="5097780"/>
            <a:ext cx="9144000" cy="45720"/>
          </a:xfrm>
          <a:prstGeom prst="rect">
            <a:avLst/>
          </a:prstGeom>
          <a:solidFill>
            <a:srgbClr val="2E9E83"/>
          </a:solidFill>
          <a:ln/>
        </p:spPr>
      </p:sp>
      <p:sp>
        <p:nvSpPr>
          <p:cNvPr id="4" name="Text 2"/>
          <p:cNvSpPr/>
          <p:nvPr/>
        </p:nvSpPr>
        <p:spPr>
          <a:xfrm>
            <a:off x="6035040" y="91440"/>
            <a:ext cx="3108960" cy="3108960"/>
          </a:xfrm>
          <a:prstGeom prst="rect">
            <a:avLst/>
          </a:prstGeom>
          <a:noFill/>
          <a:ln/>
        </p:spPr>
        <p:txBody>
          <a:bodyPr wrap="square" lIns="0" tIns="0" rIns="0" bIns="0" rtlCol="0" anchor="ctr"/>
          <a:lstStyle/>
          <a:p>
            <a:pPr algn="ctr" indent="0" marL="0">
              <a:buNone/>
            </a:pPr>
            <a:r>
              <a:rPr lang="en-US" sz="15000" b="1" dirty="0">
                <a:solidFill>
                  <a:srgbClr val="28B894">
                    <a:alpha val="18000"/>
                  </a:srgbClr>
                </a:solidFill>
                <a:latin typeface="Arial" pitchFamily="34" charset="0"/>
                <a:ea typeface="Arial" pitchFamily="34" charset="-122"/>
                <a:cs typeface="Arial" pitchFamily="34" charset="-120"/>
              </a:rPr>
              <a:t>实验</a:t>
            </a:r>
            <a:endParaRPr lang="en-US" sz="15000" dirty="0"/>
          </a:p>
        </p:txBody>
      </p:sp>
      <p:sp>
        <p:nvSpPr>
          <p:cNvPr id="5" name="Shape 3"/>
          <p:cNvSpPr/>
          <p:nvPr/>
        </p:nvSpPr>
        <p:spPr>
          <a:xfrm>
            <a:off x="7223760" y="-1188720"/>
            <a:ext cx="3291840" cy="3291840"/>
          </a:xfrm>
          <a:prstGeom prst="ellipse">
            <a:avLst/>
          </a:prstGeom>
          <a:solidFill>
            <a:srgbClr val="FFFFFF">
              <a:alpha val="7000"/>
            </a:srgbClr>
          </a:solidFill>
          <a:ln w="15240">
            <a:solidFill>
              <a:srgbClr val="B8E8DC">
                <a:alpha val="40000"/>
              </a:srgbClr>
            </a:solidFill>
            <a:prstDash val="solid"/>
          </a:ln>
        </p:spPr>
      </p:sp>
      <p:sp>
        <p:nvSpPr>
          <p:cNvPr id="6" name="Shape 4"/>
          <p:cNvSpPr/>
          <p:nvPr/>
        </p:nvSpPr>
        <p:spPr>
          <a:xfrm>
            <a:off x="7772400" y="-640080"/>
            <a:ext cx="2194560" cy="2194560"/>
          </a:xfrm>
          <a:prstGeom prst="ellipse">
            <a:avLst/>
          </a:prstGeom>
          <a:solidFill>
            <a:srgbClr val="28B894">
              <a:alpha val="13000"/>
            </a:srgbClr>
          </a:solidFill>
          <a:ln w="12700">
            <a:solidFill>
              <a:srgbClr val="B8E8DC">
                <a:alpha val="35000"/>
              </a:srgbClr>
            </a:solidFill>
            <a:prstDash val="solid"/>
          </a:ln>
        </p:spPr>
      </p:sp>
      <p:sp>
        <p:nvSpPr>
          <p:cNvPr id="7" name="Shape 5"/>
          <p:cNvSpPr/>
          <p:nvPr/>
        </p:nvSpPr>
        <p:spPr>
          <a:xfrm>
            <a:off x="-1188720" y="3749040"/>
            <a:ext cx="2560320" cy="2560320"/>
          </a:xfrm>
          <a:prstGeom prst="ellipse">
            <a:avLst/>
          </a:prstGeom>
          <a:solidFill>
            <a:srgbClr val="2E9E83">
              <a:alpha val="15000"/>
            </a:srgbClr>
          </a:solidFill>
          <a:ln w="12700">
            <a:solidFill>
              <a:srgbClr val="B8E8DC">
                <a:alpha val="40000"/>
              </a:srgbClr>
            </a:solidFill>
            <a:prstDash val="solid"/>
          </a:ln>
        </p:spPr>
      </p:sp>
      <p:sp>
        <p:nvSpPr>
          <p:cNvPr id="8" name="Shape 6"/>
          <p:cNvSpPr/>
          <p:nvPr/>
        </p:nvSpPr>
        <p:spPr>
          <a:xfrm>
            <a:off x="502920" y="457200"/>
            <a:ext cx="292608" cy="292608"/>
          </a:xfrm>
          <a:prstGeom prst="ellipse">
            <a:avLst/>
          </a:prstGeom>
          <a:solidFill>
            <a:srgbClr val="B8E8DC">
              <a:alpha val="45000"/>
            </a:srgbClr>
          </a:solidFill>
          <a:ln/>
        </p:spPr>
      </p:sp>
      <p:sp>
        <p:nvSpPr>
          <p:cNvPr id="9" name="Shape 7"/>
          <p:cNvSpPr/>
          <p:nvPr/>
        </p:nvSpPr>
        <p:spPr>
          <a:xfrm>
            <a:off x="731520" y="914400"/>
            <a:ext cx="64008" cy="2011680"/>
          </a:xfrm>
          <a:prstGeom prst="rect">
            <a:avLst/>
          </a:prstGeom>
          <a:solidFill>
            <a:srgbClr val="B8E8DC"/>
          </a:solidFill>
          <a:ln/>
        </p:spPr>
      </p:sp>
      <p:sp>
        <p:nvSpPr>
          <p:cNvPr id="10" name="Text 8"/>
          <p:cNvSpPr/>
          <p:nvPr/>
        </p:nvSpPr>
        <p:spPr>
          <a:xfrm>
            <a:off x="1097280" y="822960"/>
            <a:ext cx="2286000" cy="822960"/>
          </a:xfrm>
          <a:prstGeom prst="rect">
            <a:avLst/>
          </a:prstGeom>
          <a:noFill/>
          <a:ln/>
        </p:spPr>
        <p:txBody>
          <a:bodyPr wrap="square" lIns="0" tIns="0" rIns="0" bIns="0" rtlCol="0" anchor="ctr"/>
          <a:lstStyle/>
          <a:p>
            <a:pPr indent="0" marL="0">
              <a:buNone/>
            </a:pPr>
            <a:r>
              <a:rPr lang="en-US" sz="3200" b="1" dirty="0">
                <a:solidFill>
                  <a:srgbClr val="B8E8DC"/>
                </a:solidFill>
                <a:latin typeface="Microsoft YaHei" pitchFamily="34" charset="0"/>
                <a:ea typeface="Microsoft YaHei" pitchFamily="34" charset="-122"/>
                <a:cs typeface="Microsoft YaHei" pitchFamily="34" charset="-120"/>
              </a:rPr>
              <a:t>实验</a:t>
            </a:r>
            <a:endParaRPr lang="en-US" sz="3200" dirty="0"/>
          </a:p>
        </p:txBody>
      </p:sp>
      <p:sp>
        <p:nvSpPr>
          <p:cNvPr id="11" name="Text 9"/>
          <p:cNvSpPr/>
          <p:nvPr/>
        </p:nvSpPr>
        <p:spPr>
          <a:xfrm>
            <a:off x="1097280" y="1691640"/>
            <a:ext cx="6858000" cy="731520"/>
          </a:xfrm>
          <a:prstGeom prst="rect">
            <a:avLst/>
          </a:prstGeom>
          <a:noFill/>
          <a:ln/>
        </p:spPr>
        <p:txBody>
          <a:bodyPr wrap="square" lIns="0" tIns="0" rIns="0" bIns="0" rtlCol="0" anchor="ctr"/>
          <a:lstStyle/>
          <a:p>
            <a:pPr indent="0" marL="0">
              <a:buNone/>
            </a:pPr>
            <a:r>
              <a:rPr lang="en-US" sz="2400" b="1" dirty="0">
                <a:solidFill>
                  <a:srgbClr val="FFFFFF"/>
                </a:solidFill>
                <a:latin typeface="Microsoft YaHei" pitchFamily="34" charset="0"/>
                <a:ea typeface="Microsoft YaHei" pitchFamily="34" charset="-122"/>
                <a:cs typeface="Microsoft YaHei" pitchFamily="34" charset="-120"/>
              </a:rPr>
              <a:t>第 4 章配套实验</a:t>
            </a:r>
            <a:endParaRPr lang="en-US" sz="2400" dirty="0"/>
          </a:p>
        </p:txBody>
      </p:sp>
      <p:sp>
        <p:nvSpPr>
          <p:cNvPr id="12" name="Shape 10"/>
          <p:cNvSpPr/>
          <p:nvPr/>
        </p:nvSpPr>
        <p:spPr>
          <a:xfrm>
            <a:off x="1188720" y="2871216"/>
            <a:ext cx="164592" cy="164592"/>
          </a:xfrm>
          <a:prstGeom prst="ellipse">
            <a:avLst/>
          </a:prstGeom>
          <a:solidFill>
            <a:srgbClr val="28B894"/>
          </a:solidFill>
          <a:ln/>
        </p:spPr>
      </p:sp>
      <p:sp>
        <p:nvSpPr>
          <p:cNvPr id="13" name="Text 11"/>
          <p:cNvSpPr/>
          <p:nvPr/>
        </p:nvSpPr>
        <p:spPr>
          <a:xfrm>
            <a:off x="1508760" y="2743200"/>
            <a:ext cx="6766560" cy="411480"/>
          </a:xfrm>
          <a:prstGeom prst="rect">
            <a:avLst/>
          </a:prstGeom>
          <a:noFill/>
          <a:ln/>
        </p:spPr>
        <p:txBody>
          <a:bodyPr wrap="square" lIns="0" tIns="0" rIns="0" bIns="0" rtlCol="0" anchor="ctr"/>
          <a:lstStyle/>
          <a:p>
            <a:pPr indent="0" marL="0">
              <a:buNone/>
            </a:pPr>
            <a:r>
              <a:rPr lang="en-US" sz="1500" dirty="0">
                <a:solidFill>
                  <a:srgbClr val="DDF2EC"/>
                </a:solidFill>
                <a:latin typeface="Microsoft YaHei" pitchFamily="34" charset="0"/>
                <a:ea typeface="Microsoft YaHei" pitchFamily="34" charset="-122"/>
                <a:cs typeface="Microsoft YaHei" pitchFamily="34" charset="-120"/>
              </a:rPr>
              <a:t>图例：★ 必做实验（仅需 WorkBuddy 基础环境）；○ 可选实验（需额外账号/权限/配置）</a:t>
            </a:r>
            <a:endParaRPr lang="en-US" sz="1500" dirty="0"/>
          </a:p>
        </p:txBody>
      </p:sp>
      <p:sp>
        <p:nvSpPr>
          <p:cNvPr id="14" name="Shape 12"/>
          <p:cNvSpPr/>
          <p:nvPr/>
        </p:nvSpPr>
        <p:spPr>
          <a:xfrm>
            <a:off x="1188720" y="3328416"/>
            <a:ext cx="164592" cy="164592"/>
          </a:xfrm>
          <a:prstGeom prst="ellipse">
            <a:avLst/>
          </a:prstGeom>
          <a:solidFill>
            <a:srgbClr val="28B894"/>
          </a:solidFill>
          <a:ln/>
        </p:spPr>
      </p:sp>
      <p:sp>
        <p:nvSpPr>
          <p:cNvPr id="15" name="Text 13"/>
          <p:cNvSpPr/>
          <p:nvPr/>
        </p:nvSpPr>
        <p:spPr>
          <a:xfrm>
            <a:off x="1508760" y="3200400"/>
            <a:ext cx="6766560" cy="411480"/>
          </a:xfrm>
          <a:prstGeom prst="rect">
            <a:avLst/>
          </a:prstGeom>
          <a:noFill/>
          <a:ln/>
        </p:spPr>
        <p:txBody>
          <a:bodyPr wrap="square" lIns="0" tIns="0" rIns="0" bIns="0" rtlCol="0" anchor="ctr"/>
          <a:lstStyle/>
          <a:p>
            <a:pPr indent="0" marL="0">
              <a:buNone/>
            </a:pPr>
            <a:r>
              <a:rPr lang="en-US" sz="1500" dirty="0">
                <a:solidFill>
                  <a:srgbClr val="DDF2EC"/>
                </a:solidFill>
                <a:latin typeface="Microsoft YaHei" pitchFamily="34" charset="0"/>
                <a:ea typeface="Microsoft YaHei" pitchFamily="34" charset="-122"/>
                <a:cs typeface="Microsoft YaHei" pitchFamily="34" charset="-120"/>
              </a:rPr>
              <a:t>实验 4.1-4.3：技能市场与管理、技能调用验证、技能的三种安装方式</a:t>
            </a:r>
            <a:endParaRPr lang="en-US" sz="1500" dirty="0"/>
          </a:p>
        </p:txBody>
      </p:sp>
      <p:sp>
        <p:nvSpPr>
          <p:cNvPr id="16" name="Shape 14"/>
          <p:cNvSpPr/>
          <p:nvPr/>
        </p:nvSpPr>
        <p:spPr>
          <a:xfrm>
            <a:off x="1188720" y="3785616"/>
            <a:ext cx="164592" cy="164592"/>
          </a:xfrm>
          <a:prstGeom prst="ellipse">
            <a:avLst/>
          </a:prstGeom>
          <a:solidFill>
            <a:srgbClr val="28B894"/>
          </a:solidFill>
          <a:ln/>
        </p:spPr>
      </p:sp>
      <p:sp>
        <p:nvSpPr>
          <p:cNvPr id="17" name="Text 15"/>
          <p:cNvSpPr/>
          <p:nvPr/>
        </p:nvSpPr>
        <p:spPr>
          <a:xfrm>
            <a:off x="1508760" y="3657600"/>
            <a:ext cx="6766560" cy="411480"/>
          </a:xfrm>
          <a:prstGeom prst="rect">
            <a:avLst/>
          </a:prstGeom>
          <a:noFill/>
          <a:ln/>
        </p:spPr>
        <p:txBody>
          <a:bodyPr wrap="square" lIns="0" tIns="0" rIns="0" bIns="0" rtlCol="0" anchor="ctr"/>
          <a:lstStyle/>
          <a:p>
            <a:pPr indent="0" marL="0">
              <a:buNone/>
            </a:pPr>
            <a:r>
              <a:rPr lang="en-US" sz="1500" dirty="0">
                <a:solidFill>
                  <a:srgbClr val="DDF2EC"/>
                </a:solidFill>
                <a:latin typeface="Microsoft YaHei" pitchFamily="34" charset="0"/>
                <a:ea typeface="Microsoft YaHei" pitchFamily="34" charset="-122"/>
                <a:cs typeface="Microsoft YaHei" pitchFamily="34" charset="-120"/>
              </a:rPr>
              <a:t>实验 4.4-4.6：召唤专家、专家团与 Multi-Agent、创建自定义专家</a:t>
            </a:r>
            <a:endParaRPr lang="en-US" sz="1500" dirty="0"/>
          </a:p>
        </p:txBody>
      </p:sp>
      <p:sp>
        <p:nvSpPr>
          <p:cNvPr id="18" name="Shape 16"/>
          <p:cNvSpPr/>
          <p:nvPr/>
        </p:nvSpPr>
        <p:spPr>
          <a:xfrm>
            <a:off x="1188720" y="4242816"/>
            <a:ext cx="164592" cy="164592"/>
          </a:xfrm>
          <a:prstGeom prst="ellipse">
            <a:avLst/>
          </a:prstGeom>
          <a:solidFill>
            <a:srgbClr val="28B894"/>
          </a:solidFill>
          <a:ln/>
        </p:spPr>
      </p:sp>
      <p:sp>
        <p:nvSpPr>
          <p:cNvPr id="19" name="Text 17"/>
          <p:cNvSpPr/>
          <p:nvPr/>
        </p:nvSpPr>
        <p:spPr>
          <a:xfrm>
            <a:off x="1508760" y="4114800"/>
            <a:ext cx="6766560" cy="411480"/>
          </a:xfrm>
          <a:prstGeom prst="rect">
            <a:avLst/>
          </a:prstGeom>
          <a:noFill/>
          <a:ln/>
        </p:spPr>
        <p:txBody>
          <a:bodyPr wrap="square" lIns="0" tIns="0" rIns="0" bIns="0" rtlCol="0" anchor="ctr"/>
          <a:lstStyle/>
          <a:p>
            <a:pPr indent="0" marL="0">
              <a:buNone/>
            </a:pPr>
            <a:r>
              <a:rPr lang="en-US" sz="1500" dirty="0">
                <a:solidFill>
                  <a:srgbClr val="DDF2EC"/>
                </a:solidFill>
                <a:latin typeface="Microsoft YaHei" pitchFamily="34" charset="0"/>
                <a:ea typeface="Microsoft YaHei" pitchFamily="34" charset="-122"/>
                <a:cs typeface="Microsoft YaHei" pitchFamily="34" charset="-120"/>
              </a:rPr>
              <a:t>配套文档：labs/ch04-labs.md</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594360"/>
          </a:xfrm>
          <a:prstGeom prst="rect">
            <a:avLst/>
          </a:prstGeom>
          <a:noFill/>
          <a:ln/>
        </p:spPr>
        <p:txBody>
          <a:bodyPr wrap="square" lIns="0" tIns="0" rIns="0" bIns="0" rtlCol="0" anchor="ctr"/>
          <a:lstStyle/>
          <a:p>
            <a:pPr indent="0" marL="0">
              <a:buNone/>
            </a:pPr>
            <a:r>
              <a:rPr lang="en-US" sz="2600" b="1" dirty="0">
                <a:solidFill>
                  <a:srgbClr val="28B894"/>
                </a:solidFill>
                <a:latin typeface="Microsoft YaHei" pitchFamily="34" charset="0"/>
                <a:ea typeface="Microsoft YaHei" pitchFamily="34" charset="-122"/>
                <a:cs typeface="Microsoft YaHei" pitchFamily="34" charset="-120"/>
              </a:rPr>
              <a:t>第 4 章配套实验（labs/ch04-labs.md）</a:t>
            </a:r>
            <a:endParaRPr lang="en-US" sz="2600" dirty="0"/>
          </a:p>
        </p:txBody>
      </p:sp>
      <p:sp>
        <p:nvSpPr>
          <p:cNvPr id="3" name="Shape 1"/>
          <p:cNvSpPr/>
          <p:nvPr/>
        </p:nvSpPr>
        <p:spPr>
          <a:xfrm>
            <a:off x="548640" y="868680"/>
            <a:ext cx="914400" cy="32004"/>
          </a:xfrm>
          <a:prstGeom prst="rect">
            <a:avLst/>
          </a:prstGeom>
          <a:solidFill>
            <a:srgbClr val="2E9E83"/>
          </a:solidFill>
          <a:ln/>
        </p:spPr>
      </p:sp>
      <p:sp>
        <p:nvSpPr>
          <p:cNvPr id="4" name="Shape 2"/>
          <p:cNvSpPr/>
          <p:nvPr/>
        </p:nvSpPr>
        <p:spPr>
          <a:xfrm>
            <a:off x="548640" y="1234440"/>
            <a:ext cx="2606040" cy="15544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5" name="Shape 3"/>
          <p:cNvSpPr/>
          <p:nvPr/>
        </p:nvSpPr>
        <p:spPr>
          <a:xfrm>
            <a:off x="548640" y="1234440"/>
            <a:ext cx="54864" cy="1554480"/>
          </a:xfrm>
          <a:prstGeom prst="rect">
            <a:avLst/>
          </a:prstGeom>
          <a:solidFill>
            <a:srgbClr val="28B894"/>
          </a:solidFill>
          <a:ln/>
        </p:spPr>
      </p:sp>
      <p:sp>
        <p:nvSpPr>
          <p:cNvPr id="6" name="Shape 4"/>
          <p:cNvSpPr/>
          <p:nvPr/>
        </p:nvSpPr>
        <p:spPr>
          <a:xfrm>
            <a:off x="685800" y="1325880"/>
            <a:ext cx="411480" cy="411480"/>
          </a:xfrm>
          <a:prstGeom prst="ellipse">
            <a:avLst/>
          </a:prstGeom>
          <a:solidFill>
            <a:srgbClr val="28B894"/>
          </a:solidFill>
          <a:ln/>
        </p:spPr>
      </p:sp>
      <p:sp>
        <p:nvSpPr>
          <p:cNvPr id="7" name="Text 5"/>
          <p:cNvSpPr/>
          <p:nvPr/>
        </p:nvSpPr>
        <p:spPr>
          <a:xfrm>
            <a:off x="685800" y="13258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4.1</a:t>
            </a:r>
            <a:endParaRPr lang="en-US" sz="1400" dirty="0"/>
          </a:p>
        </p:txBody>
      </p:sp>
      <p:sp>
        <p:nvSpPr>
          <p:cNvPr id="8" name="Text 6"/>
          <p:cNvSpPr/>
          <p:nvPr/>
        </p:nvSpPr>
        <p:spPr>
          <a:xfrm>
            <a:off x="1234440" y="1325880"/>
            <a:ext cx="1828800" cy="411480"/>
          </a:xfrm>
          <a:prstGeom prst="rect">
            <a:avLst/>
          </a:prstGeom>
          <a:noFill/>
          <a:ln/>
        </p:spPr>
        <p:txBody>
          <a:bodyPr wrap="square" lIns="0" tIns="0" rIns="0" bIns="0" rtlCol="0" anchor="ctr"/>
          <a:lstStyle/>
          <a:p>
            <a:pPr indent="0" marL="0">
              <a:buNone/>
            </a:pPr>
            <a:r>
              <a:rPr lang="en-US" sz="1250" b="1" dirty="0">
                <a:solidFill>
                  <a:srgbClr val="2C3E50"/>
                </a:solidFill>
                <a:latin typeface="Microsoft YaHei" pitchFamily="34" charset="0"/>
                <a:ea typeface="Microsoft YaHei" pitchFamily="34" charset="-122"/>
                <a:cs typeface="Microsoft YaHei" pitchFamily="34" charset="-120"/>
              </a:rPr>
              <a:t>技能市场与管理</a:t>
            </a:r>
            <a:endParaRPr lang="en-US" sz="1250" dirty="0"/>
          </a:p>
        </p:txBody>
      </p:sp>
      <p:sp>
        <p:nvSpPr>
          <p:cNvPr id="9" name="Text 7"/>
          <p:cNvSpPr/>
          <p:nvPr/>
        </p:nvSpPr>
        <p:spPr>
          <a:xfrm>
            <a:off x="685800" y="1801368"/>
            <a:ext cx="2377440" cy="566928"/>
          </a:xfrm>
          <a:prstGeom prst="rect">
            <a:avLst/>
          </a:prstGeom>
          <a:noFill/>
          <a:ln/>
        </p:spPr>
        <p:txBody>
          <a:bodyPr wrap="square" lIns="0" tIns="0" rIns="0" bIns="0" rtlCol="0" anchor="t"/>
          <a:lstStyle/>
          <a:p>
            <a:pPr indent="0" marL="0">
              <a:lnSpc>
                <a:spcPct val="120000"/>
              </a:lnSpc>
              <a:buNone/>
            </a:pPr>
            <a:r>
              <a:rPr lang="en-US" sz="950" dirty="0">
                <a:solidFill>
                  <a:srgbClr val="7F8C8D"/>
                </a:solidFill>
                <a:latin typeface="Microsoft YaHei" pitchFamily="34" charset="0"/>
                <a:ea typeface="Microsoft YaHei" pitchFamily="34" charset="-122"/>
                <a:cs typeface="Microsoft YaHei" pitchFamily="34" charset="-120"/>
              </a:rPr>
              <a:t>技能市场/已安装两大区域、一键安装、启用/关闭、搜索、卸载</a:t>
            </a:r>
            <a:endParaRPr lang="en-US" sz="950" dirty="0"/>
          </a:p>
        </p:txBody>
      </p:sp>
      <p:sp>
        <p:nvSpPr>
          <p:cNvPr id="10" name="Text 8"/>
          <p:cNvSpPr/>
          <p:nvPr/>
        </p:nvSpPr>
        <p:spPr>
          <a:xfrm>
            <a:off x="685800" y="2441448"/>
            <a:ext cx="2377440" cy="274320"/>
          </a:xfrm>
          <a:prstGeom prst="rect">
            <a:avLst/>
          </a:prstGeom>
          <a:noFill/>
          <a:ln/>
        </p:spPr>
        <p:txBody>
          <a:bodyPr wrap="square" lIns="0" tIns="0" rIns="0" bIns="0" rtlCol="0" anchor="ctr"/>
          <a:lstStyle/>
          <a:p>
            <a:pPr indent="0" marL="0">
              <a:buNone/>
            </a:pPr>
            <a:r>
              <a:rPr lang="en-US" sz="950" b="1" dirty="0">
                <a:solidFill>
                  <a:srgbClr val="28B894"/>
                </a:solidFill>
                <a:latin typeface="Microsoft YaHei" pitchFamily="34" charset="0"/>
                <a:ea typeface="Microsoft YaHei" pitchFamily="34" charset="-122"/>
                <a:cs typeface="Microsoft YaHei" pitchFamily="34" charset="-120"/>
              </a:rPr>
              <a:t>★ 必做  </a:t>
            </a:r>
            <a:pPr indent="0" marL="0">
              <a:buNone/>
            </a:pPr>
            <a:r>
              <a:rPr lang="en-US" sz="950" dirty="0">
                <a:solidFill>
                  <a:srgbClr val="7F8C8D"/>
                </a:solidFill>
                <a:latin typeface="Microsoft YaHei" pitchFamily="34" charset="0"/>
                <a:ea typeface="Microsoft YaHei" pitchFamily="34" charset="-122"/>
                <a:cs typeface="Microsoft YaHei" pitchFamily="34" charset="-120"/>
              </a:rPr>
              <a:t>前置：完成 1.1</a:t>
            </a:r>
            <a:endParaRPr lang="en-US" sz="950" dirty="0"/>
          </a:p>
        </p:txBody>
      </p:sp>
      <p:sp>
        <p:nvSpPr>
          <p:cNvPr id="11" name="Shape 9"/>
          <p:cNvSpPr/>
          <p:nvPr/>
        </p:nvSpPr>
        <p:spPr>
          <a:xfrm>
            <a:off x="3310128" y="1234440"/>
            <a:ext cx="2606040" cy="15544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2" name="Shape 10"/>
          <p:cNvSpPr/>
          <p:nvPr/>
        </p:nvSpPr>
        <p:spPr>
          <a:xfrm>
            <a:off x="3310128" y="1234440"/>
            <a:ext cx="54864" cy="1554480"/>
          </a:xfrm>
          <a:prstGeom prst="rect">
            <a:avLst/>
          </a:prstGeom>
          <a:solidFill>
            <a:srgbClr val="28B894"/>
          </a:solidFill>
          <a:ln/>
        </p:spPr>
      </p:sp>
      <p:sp>
        <p:nvSpPr>
          <p:cNvPr id="13" name="Shape 11"/>
          <p:cNvSpPr/>
          <p:nvPr/>
        </p:nvSpPr>
        <p:spPr>
          <a:xfrm>
            <a:off x="3447288" y="1325880"/>
            <a:ext cx="411480" cy="411480"/>
          </a:xfrm>
          <a:prstGeom prst="ellipse">
            <a:avLst/>
          </a:prstGeom>
          <a:solidFill>
            <a:srgbClr val="28B894"/>
          </a:solidFill>
          <a:ln/>
        </p:spPr>
      </p:sp>
      <p:sp>
        <p:nvSpPr>
          <p:cNvPr id="14" name="Text 12"/>
          <p:cNvSpPr/>
          <p:nvPr/>
        </p:nvSpPr>
        <p:spPr>
          <a:xfrm>
            <a:off x="3447288" y="13258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4.2</a:t>
            </a:r>
            <a:endParaRPr lang="en-US" sz="1400" dirty="0"/>
          </a:p>
        </p:txBody>
      </p:sp>
      <p:sp>
        <p:nvSpPr>
          <p:cNvPr id="15" name="Text 13"/>
          <p:cNvSpPr/>
          <p:nvPr/>
        </p:nvSpPr>
        <p:spPr>
          <a:xfrm>
            <a:off x="3995928" y="1325880"/>
            <a:ext cx="1828800" cy="411480"/>
          </a:xfrm>
          <a:prstGeom prst="rect">
            <a:avLst/>
          </a:prstGeom>
          <a:noFill/>
          <a:ln/>
        </p:spPr>
        <p:txBody>
          <a:bodyPr wrap="square" lIns="0" tIns="0" rIns="0" bIns="0" rtlCol="0" anchor="ctr"/>
          <a:lstStyle/>
          <a:p>
            <a:pPr indent="0" marL="0">
              <a:buNone/>
            </a:pPr>
            <a:r>
              <a:rPr lang="en-US" sz="1250" b="1" dirty="0">
                <a:solidFill>
                  <a:srgbClr val="2C3E50"/>
                </a:solidFill>
                <a:latin typeface="Microsoft YaHei" pitchFamily="34" charset="0"/>
                <a:ea typeface="Microsoft YaHei" pitchFamily="34" charset="-122"/>
                <a:cs typeface="Microsoft YaHei" pitchFamily="34" charset="-120"/>
              </a:rPr>
              <a:t>技能调用验证</a:t>
            </a:r>
            <a:endParaRPr lang="en-US" sz="1250" dirty="0"/>
          </a:p>
        </p:txBody>
      </p:sp>
      <p:sp>
        <p:nvSpPr>
          <p:cNvPr id="16" name="Text 14"/>
          <p:cNvSpPr/>
          <p:nvPr/>
        </p:nvSpPr>
        <p:spPr>
          <a:xfrm>
            <a:off x="3447288" y="1801368"/>
            <a:ext cx="2377440" cy="566928"/>
          </a:xfrm>
          <a:prstGeom prst="rect">
            <a:avLst/>
          </a:prstGeom>
          <a:noFill/>
          <a:ln/>
        </p:spPr>
        <p:txBody>
          <a:bodyPr wrap="square" lIns="0" tIns="0" rIns="0" bIns="0" rtlCol="0" anchor="t"/>
          <a:lstStyle/>
          <a:p>
            <a:pPr indent="0" marL="0">
              <a:lnSpc>
                <a:spcPct val="120000"/>
              </a:lnSpc>
              <a:buNone/>
            </a:pPr>
            <a:r>
              <a:rPr lang="en-US" sz="950" dirty="0">
                <a:solidFill>
                  <a:srgbClr val="7F8C8D"/>
                </a:solidFill>
                <a:latin typeface="Microsoft YaHei" pitchFamily="34" charset="0"/>
                <a:ea typeface="Microsoft YaHei" pitchFamily="34" charset="-122"/>
                <a:cs typeface="Microsoft YaHei" pitchFamily="34" charset="-120"/>
              </a:rPr>
              <a:t>零成本技能实际调用（Web Search / 办公文档四件套 / Local Whisper），观察工具调用链路</a:t>
            </a:r>
            <a:endParaRPr lang="en-US" sz="950" dirty="0"/>
          </a:p>
        </p:txBody>
      </p:sp>
      <p:sp>
        <p:nvSpPr>
          <p:cNvPr id="17" name="Text 15"/>
          <p:cNvSpPr/>
          <p:nvPr/>
        </p:nvSpPr>
        <p:spPr>
          <a:xfrm>
            <a:off x="3447288" y="2441448"/>
            <a:ext cx="2377440" cy="274320"/>
          </a:xfrm>
          <a:prstGeom prst="rect">
            <a:avLst/>
          </a:prstGeom>
          <a:noFill/>
          <a:ln/>
        </p:spPr>
        <p:txBody>
          <a:bodyPr wrap="square" lIns="0" tIns="0" rIns="0" bIns="0" rtlCol="0" anchor="ctr"/>
          <a:lstStyle/>
          <a:p>
            <a:pPr indent="0" marL="0">
              <a:buNone/>
            </a:pPr>
            <a:r>
              <a:rPr lang="en-US" sz="950" b="1" dirty="0">
                <a:solidFill>
                  <a:srgbClr val="28B894"/>
                </a:solidFill>
                <a:latin typeface="Microsoft YaHei" pitchFamily="34" charset="0"/>
                <a:ea typeface="Microsoft YaHei" pitchFamily="34" charset="-122"/>
                <a:cs typeface="Microsoft YaHei" pitchFamily="34" charset="-120"/>
              </a:rPr>
              <a:t>★ 必做  </a:t>
            </a:r>
            <a:pPr indent="0" marL="0">
              <a:buNone/>
            </a:pPr>
            <a:r>
              <a:rPr lang="en-US" sz="950" dirty="0">
                <a:solidFill>
                  <a:srgbClr val="7F8C8D"/>
                </a:solidFill>
                <a:latin typeface="Microsoft YaHei" pitchFamily="34" charset="0"/>
                <a:ea typeface="Microsoft YaHei" pitchFamily="34" charset="-122"/>
                <a:cs typeface="Microsoft YaHei" pitchFamily="34" charset="-120"/>
              </a:rPr>
              <a:t>前置：完成 4.1</a:t>
            </a:r>
            <a:endParaRPr lang="en-US" sz="950" dirty="0"/>
          </a:p>
        </p:txBody>
      </p:sp>
      <p:sp>
        <p:nvSpPr>
          <p:cNvPr id="18" name="Shape 16"/>
          <p:cNvSpPr/>
          <p:nvPr/>
        </p:nvSpPr>
        <p:spPr>
          <a:xfrm>
            <a:off x="6071616" y="1234440"/>
            <a:ext cx="2606040" cy="15544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9" name="Shape 17"/>
          <p:cNvSpPr/>
          <p:nvPr/>
        </p:nvSpPr>
        <p:spPr>
          <a:xfrm>
            <a:off x="6071616" y="1234440"/>
            <a:ext cx="54864" cy="1554480"/>
          </a:xfrm>
          <a:prstGeom prst="rect">
            <a:avLst/>
          </a:prstGeom>
          <a:solidFill>
            <a:srgbClr val="28B894"/>
          </a:solidFill>
          <a:ln/>
        </p:spPr>
      </p:sp>
      <p:sp>
        <p:nvSpPr>
          <p:cNvPr id="20" name="Shape 18"/>
          <p:cNvSpPr/>
          <p:nvPr/>
        </p:nvSpPr>
        <p:spPr>
          <a:xfrm>
            <a:off x="6208776" y="1325880"/>
            <a:ext cx="411480" cy="411480"/>
          </a:xfrm>
          <a:prstGeom prst="ellipse">
            <a:avLst/>
          </a:prstGeom>
          <a:solidFill>
            <a:srgbClr val="28B894"/>
          </a:solidFill>
          <a:ln/>
        </p:spPr>
      </p:sp>
      <p:sp>
        <p:nvSpPr>
          <p:cNvPr id="21" name="Text 19"/>
          <p:cNvSpPr/>
          <p:nvPr/>
        </p:nvSpPr>
        <p:spPr>
          <a:xfrm>
            <a:off x="6208776" y="13258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4.3</a:t>
            </a:r>
            <a:endParaRPr lang="en-US" sz="1400" dirty="0"/>
          </a:p>
        </p:txBody>
      </p:sp>
      <p:sp>
        <p:nvSpPr>
          <p:cNvPr id="22" name="Text 20"/>
          <p:cNvSpPr/>
          <p:nvPr/>
        </p:nvSpPr>
        <p:spPr>
          <a:xfrm>
            <a:off x="6757416" y="1325880"/>
            <a:ext cx="1828800" cy="411480"/>
          </a:xfrm>
          <a:prstGeom prst="rect">
            <a:avLst/>
          </a:prstGeom>
          <a:noFill/>
          <a:ln/>
        </p:spPr>
        <p:txBody>
          <a:bodyPr wrap="square" lIns="0" tIns="0" rIns="0" bIns="0" rtlCol="0" anchor="ctr"/>
          <a:lstStyle/>
          <a:p>
            <a:pPr indent="0" marL="0">
              <a:buNone/>
            </a:pPr>
            <a:r>
              <a:rPr lang="en-US" sz="1250" b="1" dirty="0">
                <a:solidFill>
                  <a:srgbClr val="2C3E50"/>
                </a:solidFill>
                <a:latin typeface="Microsoft YaHei" pitchFamily="34" charset="0"/>
                <a:ea typeface="Microsoft YaHei" pitchFamily="34" charset="-122"/>
                <a:cs typeface="Microsoft YaHei" pitchFamily="34" charset="-120"/>
              </a:rPr>
              <a:t>技能的三种安装方式</a:t>
            </a:r>
            <a:endParaRPr lang="en-US" sz="1250" dirty="0"/>
          </a:p>
        </p:txBody>
      </p:sp>
      <p:sp>
        <p:nvSpPr>
          <p:cNvPr id="23" name="Text 21"/>
          <p:cNvSpPr/>
          <p:nvPr/>
        </p:nvSpPr>
        <p:spPr>
          <a:xfrm>
            <a:off x="6208776" y="1801368"/>
            <a:ext cx="2377440" cy="566928"/>
          </a:xfrm>
          <a:prstGeom prst="rect">
            <a:avLst/>
          </a:prstGeom>
          <a:noFill/>
          <a:ln/>
        </p:spPr>
        <p:txBody>
          <a:bodyPr wrap="square" lIns="0" tIns="0" rIns="0" bIns="0" rtlCol="0" anchor="t"/>
          <a:lstStyle/>
          <a:p>
            <a:pPr indent="0" marL="0">
              <a:lnSpc>
                <a:spcPct val="120000"/>
              </a:lnSpc>
              <a:buNone/>
            </a:pPr>
            <a:r>
              <a:rPr lang="en-US" sz="950" dirty="0">
                <a:solidFill>
                  <a:srgbClr val="7F8C8D"/>
                </a:solidFill>
                <a:latin typeface="Microsoft YaHei" pitchFamily="34" charset="0"/>
                <a:ea typeface="Microsoft YaHei" pitchFamily="34" charset="-122"/>
                <a:cs typeface="Microsoft YaHei" pitchFamily="34" charset="-120"/>
              </a:rPr>
              <a:t>查找技能、创建技能（自我进化）、上传技能</a:t>
            </a:r>
            <a:endParaRPr lang="en-US" sz="950" dirty="0"/>
          </a:p>
        </p:txBody>
      </p:sp>
      <p:sp>
        <p:nvSpPr>
          <p:cNvPr id="24" name="Text 22"/>
          <p:cNvSpPr/>
          <p:nvPr/>
        </p:nvSpPr>
        <p:spPr>
          <a:xfrm>
            <a:off x="6208776" y="2441448"/>
            <a:ext cx="2377440" cy="274320"/>
          </a:xfrm>
          <a:prstGeom prst="rect">
            <a:avLst/>
          </a:prstGeom>
          <a:noFill/>
          <a:ln/>
        </p:spPr>
        <p:txBody>
          <a:bodyPr wrap="square" lIns="0" tIns="0" rIns="0" bIns="0" rtlCol="0" anchor="ctr"/>
          <a:lstStyle/>
          <a:p>
            <a:pPr indent="0" marL="0">
              <a:buNone/>
            </a:pPr>
            <a:r>
              <a:rPr lang="en-US" sz="950" b="1" dirty="0">
                <a:solidFill>
                  <a:srgbClr val="28B894"/>
                </a:solidFill>
                <a:latin typeface="Microsoft YaHei" pitchFamily="34" charset="0"/>
                <a:ea typeface="Microsoft YaHei" pitchFamily="34" charset="-122"/>
                <a:cs typeface="Microsoft YaHei" pitchFamily="34" charset="-120"/>
              </a:rPr>
              <a:t>★ 必做  </a:t>
            </a:r>
            <a:pPr indent="0" marL="0">
              <a:buNone/>
            </a:pPr>
            <a:r>
              <a:rPr lang="en-US" sz="950" dirty="0">
                <a:solidFill>
                  <a:srgbClr val="7F8C8D"/>
                </a:solidFill>
                <a:latin typeface="Microsoft YaHei" pitchFamily="34" charset="0"/>
                <a:ea typeface="Microsoft YaHei" pitchFamily="34" charset="-122"/>
                <a:cs typeface="Microsoft YaHei" pitchFamily="34" charset="-120"/>
              </a:rPr>
              <a:t>前置：完成 4.1</a:t>
            </a:r>
            <a:endParaRPr lang="en-US" sz="950" dirty="0"/>
          </a:p>
        </p:txBody>
      </p:sp>
      <p:sp>
        <p:nvSpPr>
          <p:cNvPr id="25" name="Shape 23"/>
          <p:cNvSpPr/>
          <p:nvPr/>
        </p:nvSpPr>
        <p:spPr>
          <a:xfrm>
            <a:off x="548640" y="2926080"/>
            <a:ext cx="2606040" cy="15544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6" name="Shape 24"/>
          <p:cNvSpPr/>
          <p:nvPr/>
        </p:nvSpPr>
        <p:spPr>
          <a:xfrm>
            <a:off x="548640" y="2926080"/>
            <a:ext cx="54864" cy="1554480"/>
          </a:xfrm>
          <a:prstGeom prst="rect">
            <a:avLst/>
          </a:prstGeom>
          <a:solidFill>
            <a:srgbClr val="28B894"/>
          </a:solidFill>
          <a:ln/>
        </p:spPr>
      </p:sp>
      <p:sp>
        <p:nvSpPr>
          <p:cNvPr id="27" name="Shape 25"/>
          <p:cNvSpPr/>
          <p:nvPr/>
        </p:nvSpPr>
        <p:spPr>
          <a:xfrm>
            <a:off x="685800" y="3017520"/>
            <a:ext cx="411480" cy="411480"/>
          </a:xfrm>
          <a:prstGeom prst="ellipse">
            <a:avLst/>
          </a:prstGeom>
          <a:solidFill>
            <a:srgbClr val="28B894"/>
          </a:solidFill>
          <a:ln/>
        </p:spPr>
      </p:sp>
      <p:sp>
        <p:nvSpPr>
          <p:cNvPr id="28" name="Text 26"/>
          <p:cNvSpPr/>
          <p:nvPr/>
        </p:nvSpPr>
        <p:spPr>
          <a:xfrm>
            <a:off x="685800" y="301752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4.4</a:t>
            </a:r>
            <a:endParaRPr lang="en-US" sz="1400" dirty="0"/>
          </a:p>
        </p:txBody>
      </p:sp>
      <p:sp>
        <p:nvSpPr>
          <p:cNvPr id="29" name="Text 27"/>
          <p:cNvSpPr/>
          <p:nvPr/>
        </p:nvSpPr>
        <p:spPr>
          <a:xfrm>
            <a:off x="1234440" y="3017520"/>
            <a:ext cx="1828800" cy="411480"/>
          </a:xfrm>
          <a:prstGeom prst="rect">
            <a:avLst/>
          </a:prstGeom>
          <a:noFill/>
          <a:ln/>
        </p:spPr>
        <p:txBody>
          <a:bodyPr wrap="square" lIns="0" tIns="0" rIns="0" bIns="0" rtlCol="0" anchor="ctr"/>
          <a:lstStyle/>
          <a:p>
            <a:pPr indent="0" marL="0">
              <a:buNone/>
            </a:pPr>
            <a:r>
              <a:rPr lang="en-US" sz="1250" b="1" dirty="0">
                <a:solidFill>
                  <a:srgbClr val="2C3E50"/>
                </a:solidFill>
                <a:latin typeface="Microsoft YaHei" pitchFamily="34" charset="0"/>
                <a:ea typeface="Microsoft YaHei" pitchFamily="34" charset="-122"/>
                <a:cs typeface="Microsoft YaHei" pitchFamily="34" charset="-120"/>
              </a:rPr>
              <a:t>召唤专家</a:t>
            </a:r>
            <a:endParaRPr lang="en-US" sz="1250" dirty="0"/>
          </a:p>
        </p:txBody>
      </p:sp>
      <p:sp>
        <p:nvSpPr>
          <p:cNvPr id="30" name="Text 28"/>
          <p:cNvSpPr/>
          <p:nvPr/>
        </p:nvSpPr>
        <p:spPr>
          <a:xfrm>
            <a:off x="685800" y="3493008"/>
            <a:ext cx="2377440" cy="566928"/>
          </a:xfrm>
          <a:prstGeom prst="rect">
            <a:avLst/>
          </a:prstGeom>
          <a:noFill/>
          <a:ln/>
        </p:spPr>
        <p:txBody>
          <a:bodyPr wrap="square" lIns="0" tIns="0" rIns="0" bIns="0" rtlCol="0" anchor="t"/>
          <a:lstStyle/>
          <a:p>
            <a:pPr indent="0" marL="0">
              <a:lnSpc>
                <a:spcPct val="120000"/>
              </a:lnSpc>
              <a:buNone/>
            </a:pPr>
            <a:r>
              <a:rPr lang="en-US" sz="950" dirty="0">
                <a:solidFill>
                  <a:srgbClr val="7F8C8D"/>
                </a:solidFill>
                <a:latin typeface="Microsoft YaHei" pitchFamily="34" charset="0"/>
                <a:ea typeface="Microsoft YaHei" pitchFamily="34" charset="-122"/>
                <a:cs typeface="Microsoft YaHei" pitchFamily="34" charset="-120"/>
              </a:rPr>
              <a:t>专家中心入口、按行业分类浏览、卡片评估、确认积分、下达任务</a:t>
            </a:r>
            <a:endParaRPr lang="en-US" sz="950" dirty="0"/>
          </a:p>
        </p:txBody>
      </p:sp>
      <p:sp>
        <p:nvSpPr>
          <p:cNvPr id="31" name="Text 29"/>
          <p:cNvSpPr/>
          <p:nvPr/>
        </p:nvSpPr>
        <p:spPr>
          <a:xfrm>
            <a:off x="685800" y="4133088"/>
            <a:ext cx="2377440" cy="274320"/>
          </a:xfrm>
          <a:prstGeom prst="rect">
            <a:avLst/>
          </a:prstGeom>
          <a:noFill/>
          <a:ln/>
        </p:spPr>
        <p:txBody>
          <a:bodyPr wrap="square" lIns="0" tIns="0" rIns="0" bIns="0" rtlCol="0" anchor="ctr"/>
          <a:lstStyle/>
          <a:p>
            <a:pPr indent="0" marL="0">
              <a:buNone/>
            </a:pPr>
            <a:r>
              <a:rPr lang="en-US" sz="950" b="1" dirty="0">
                <a:solidFill>
                  <a:srgbClr val="28B894"/>
                </a:solidFill>
                <a:latin typeface="Microsoft YaHei" pitchFamily="34" charset="0"/>
                <a:ea typeface="Microsoft YaHei" pitchFamily="34" charset="-122"/>
                <a:cs typeface="Microsoft YaHei" pitchFamily="34" charset="-120"/>
              </a:rPr>
              <a:t>★ 必做  </a:t>
            </a:r>
            <a:pPr indent="0" marL="0">
              <a:buNone/>
            </a:pPr>
            <a:r>
              <a:rPr lang="en-US" sz="950" dirty="0">
                <a:solidFill>
                  <a:srgbClr val="7F8C8D"/>
                </a:solidFill>
                <a:latin typeface="Microsoft YaHei" pitchFamily="34" charset="0"/>
                <a:ea typeface="Microsoft YaHei" pitchFamily="34" charset="-122"/>
                <a:cs typeface="Microsoft YaHei" pitchFamily="34" charset="-120"/>
              </a:rPr>
              <a:t>前置：完成 1.1</a:t>
            </a:r>
            <a:endParaRPr lang="en-US" sz="950" dirty="0"/>
          </a:p>
        </p:txBody>
      </p:sp>
      <p:sp>
        <p:nvSpPr>
          <p:cNvPr id="32" name="Shape 30"/>
          <p:cNvSpPr/>
          <p:nvPr/>
        </p:nvSpPr>
        <p:spPr>
          <a:xfrm>
            <a:off x="3310128" y="2926080"/>
            <a:ext cx="2606040" cy="15544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33" name="Shape 31"/>
          <p:cNvSpPr/>
          <p:nvPr/>
        </p:nvSpPr>
        <p:spPr>
          <a:xfrm>
            <a:off x="3310128" y="2926080"/>
            <a:ext cx="54864" cy="1554480"/>
          </a:xfrm>
          <a:prstGeom prst="rect">
            <a:avLst/>
          </a:prstGeom>
          <a:solidFill>
            <a:srgbClr val="28B894"/>
          </a:solidFill>
          <a:ln/>
        </p:spPr>
      </p:sp>
      <p:sp>
        <p:nvSpPr>
          <p:cNvPr id="34" name="Shape 32"/>
          <p:cNvSpPr/>
          <p:nvPr/>
        </p:nvSpPr>
        <p:spPr>
          <a:xfrm>
            <a:off x="3447288" y="3017520"/>
            <a:ext cx="411480" cy="411480"/>
          </a:xfrm>
          <a:prstGeom prst="ellipse">
            <a:avLst/>
          </a:prstGeom>
          <a:solidFill>
            <a:srgbClr val="28B894"/>
          </a:solidFill>
          <a:ln/>
        </p:spPr>
      </p:sp>
      <p:sp>
        <p:nvSpPr>
          <p:cNvPr id="35" name="Text 33"/>
          <p:cNvSpPr/>
          <p:nvPr/>
        </p:nvSpPr>
        <p:spPr>
          <a:xfrm>
            <a:off x="3447288" y="301752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4.5</a:t>
            </a:r>
            <a:endParaRPr lang="en-US" sz="1400" dirty="0"/>
          </a:p>
        </p:txBody>
      </p:sp>
      <p:sp>
        <p:nvSpPr>
          <p:cNvPr id="36" name="Text 34"/>
          <p:cNvSpPr/>
          <p:nvPr/>
        </p:nvSpPr>
        <p:spPr>
          <a:xfrm>
            <a:off x="3995928" y="3017520"/>
            <a:ext cx="1828800" cy="411480"/>
          </a:xfrm>
          <a:prstGeom prst="rect">
            <a:avLst/>
          </a:prstGeom>
          <a:noFill/>
          <a:ln/>
        </p:spPr>
        <p:txBody>
          <a:bodyPr wrap="square" lIns="0" tIns="0" rIns="0" bIns="0" rtlCol="0" anchor="ctr"/>
          <a:lstStyle/>
          <a:p>
            <a:pPr indent="0" marL="0">
              <a:buNone/>
            </a:pPr>
            <a:r>
              <a:rPr lang="en-US" sz="1250" b="1" dirty="0">
                <a:solidFill>
                  <a:srgbClr val="2C3E50"/>
                </a:solidFill>
                <a:latin typeface="Microsoft YaHei" pitchFamily="34" charset="0"/>
                <a:ea typeface="Microsoft YaHei" pitchFamily="34" charset="-122"/>
                <a:cs typeface="Microsoft YaHei" pitchFamily="34" charset="-120"/>
              </a:rPr>
              <a:t>专家团与 Multi-Agent</a:t>
            </a:r>
            <a:endParaRPr lang="en-US" sz="1250" dirty="0"/>
          </a:p>
        </p:txBody>
      </p:sp>
      <p:sp>
        <p:nvSpPr>
          <p:cNvPr id="37" name="Text 35"/>
          <p:cNvSpPr/>
          <p:nvPr/>
        </p:nvSpPr>
        <p:spPr>
          <a:xfrm>
            <a:off x="3447288" y="3493008"/>
            <a:ext cx="2377440" cy="566928"/>
          </a:xfrm>
          <a:prstGeom prst="rect">
            <a:avLst/>
          </a:prstGeom>
          <a:noFill/>
          <a:ln/>
        </p:spPr>
        <p:txBody>
          <a:bodyPr wrap="square" lIns="0" tIns="0" rIns="0" bIns="0" rtlCol="0" anchor="t"/>
          <a:lstStyle/>
          <a:p>
            <a:pPr indent="0" marL="0">
              <a:lnSpc>
                <a:spcPct val="120000"/>
              </a:lnSpc>
              <a:buNone/>
            </a:pPr>
            <a:r>
              <a:rPr lang="en-US" sz="950" dirty="0">
                <a:solidFill>
                  <a:srgbClr val="7F8C8D"/>
                </a:solidFill>
                <a:latin typeface="Microsoft YaHei" pitchFamily="34" charset="0"/>
                <a:ea typeface="Microsoft YaHei" pitchFamily="34" charset="-122"/>
                <a:cs typeface="Microsoft YaHei" pitchFamily="34" charset="-120"/>
              </a:rPr>
              <a:t>团长拆解、并行执行、整合交付、积分消耗 3–5 倍</a:t>
            </a:r>
            <a:endParaRPr lang="en-US" sz="950" dirty="0"/>
          </a:p>
        </p:txBody>
      </p:sp>
      <p:sp>
        <p:nvSpPr>
          <p:cNvPr id="38" name="Text 36"/>
          <p:cNvSpPr/>
          <p:nvPr/>
        </p:nvSpPr>
        <p:spPr>
          <a:xfrm>
            <a:off x="3447288" y="4133088"/>
            <a:ext cx="2377440" cy="274320"/>
          </a:xfrm>
          <a:prstGeom prst="rect">
            <a:avLst/>
          </a:prstGeom>
          <a:noFill/>
          <a:ln/>
        </p:spPr>
        <p:txBody>
          <a:bodyPr wrap="square" lIns="0" tIns="0" rIns="0" bIns="0" rtlCol="0" anchor="ctr"/>
          <a:lstStyle/>
          <a:p>
            <a:pPr indent="0" marL="0">
              <a:buNone/>
            </a:pPr>
            <a:r>
              <a:rPr lang="en-US" sz="950" b="1" dirty="0">
                <a:solidFill>
                  <a:srgbClr val="A8895F"/>
                </a:solidFill>
                <a:latin typeface="Microsoft YaHei" pitchFamily="34" charset="0"/>
                <a:ea typeface="Microsoft YaHei" pitchFamily="34" charset="-122"/>
                <a:cs typeface="Microsoft YaHei" pitchFamily="34" charset="-120"/>
              </a:rPr>
              <a:t>○ 可选  </a:t>
            </a:r>
            <a:pPr indent="0" marL="0">
              <a:buNone/>
            </a:pPr>
            <a:r>
              <a:rPr lang="en-US" sz="950" dirty="0">
                <a:solidFill>
                  <a:srgbClr val="7F8C8D"/>
                </a:solidFill>
                <a:latin typeface="Microsoft YaHei" pitchFamily="34" charset="0"/>
                <a:ea typeface="Microsoft YaHei" pitchFamily="34" charset="-122"/>
                <a:cs typeface="Microsoft YaHei" pitchFamily="34" charset="-120"/>
              </a:rPr>
              <a:t>前置：完成 4.4</a:t>
            </a:r>
            <a:endParaRPr lang="en-US" sz="950" dirty="0"/>
          </a:p>
        </p:txBody>
      </p:sp>
      <p:sp>
        <p:nvSpPr>
          <p:cNvPr id="39" name="Shape 37"/>
          <p:cNvSpPr/>
          <p:nvPr/>
        </p:nvSpPr>
        <p:spPr>
          <a:xfrm>
            <a:off x="6071616" y="2926080"/>
            <a:ext cx="2606040" cy="15544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40" name="Shape 38"/>
          <p:cNvSpPr/>
          <p:nvPr/>
        </p:nvSpPr>
        <p:spPr>
          <a:xfrm>
            <a:off x="6071616" y="2926080"/>
            <a:ext cx="54864" cy="1554480"/>
          </a:xfrm>
          <a:prstGeom prst="rect">
            <a:avLst/>
          </a:prstGeom>
          <a:solidFill>
            <a:srgbClr val="28B894"/>
          </a:solidFill>
          <a:ln/>
        </p:spPr>
      </p:sp>
      <p:sp>
        <p:nvSpPr>
          <p:cNvPr id="41" name="Shape 39"/>
          <p:cNvSpPr/>
          <p:nvPr/>
        </p:nvSpPr>
        <p:spPr>
          <a:xfrm>
            <a:off x="6208776" y="3017520"/>
            <a:ext cx="411480" cy="411480"/>
          </a:xfrm>
          <a:prstGeom prst="ellipse">
            <a:avLst/>
          </a:prstGeom>
          <a:solidFill>
            <a:srgbClr val="28B894"/>
          </a:solidFill>
          <a:ln/>
        </p:spPr>
      </p:sp>
      <p:sp>
        <p:nvSpPr>
          <p:cNvPr id="42" name="Text 40"/>
          <p:cNvSpPr/>
          <p:nvPr/>
        </p:nvSpPr>
        <p:spPr>
          <a:xfrm>
            <a:off x="6208776" y="301752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4.6</a:t>
            </a:r>
            <a:endParaRPr lang="en-US" sz="1400" dirty="0"/>
          </a:p>
        </p:txBody>
      </p:sp>
      <p:sp>
        <p:nvSpPr>
          <p:cNvPr id="43" name="Text 41"/>
          <p:cNvSpPr/>
          <p:nvPr/>
        </p:nvSpPr>
        <p:spPr>
          <a:xfrm>
            <a:off x="6757416" y="3017520"/>
            <a:ext cx="1828800" cy="411480"/>
          </a:xfrm>
          <a:prstGeom prst="rect">
            <a:avLst/>
          </a:prstGeom>
          <a:noFill/>
          <a:ln/>
        </p:spPr>
        <p:txBody>
          <a:bodyPr wrap="square" lIns="0" tIns="0" rIns="0" bIns="0" rtlCol="0" anchor="ctr"/>
          <a:lstStyle/>
          <a:p>
            <a:pPr indent="0" marL="0">
              <a:buNone/>
            </a:pPr>
            <a:r>
              <a:rPr lang="en-US" sz="1250" b="1" dirty="0">
                <a:solidFill>
                  <a:srgbClr val="2C3E50"/>
                </a:solidFill>
                <a:latin typeface="Microsoft YaHei" pitchFamily="34" charset="0"/>
                <a:ea typeface="Microsoft YaHei" pitchFamily="34" charset="-122"/>
                <a:cs typeface="Microsoft YaHei" pitchFamily="34" charset="-120"/>
              </a:rPr>
              <a:t>创建自定义专家</a:t>
            </a:r>
            <a:endParaRPr lang="en-US" sz="1250" dirty="0"/>
          </a:p>
        </p:txBody>
      </p:sp>
      <p:sp>
        <p:nvSpPr>
          <p:cNvPr id="44" name="Text 42"/>
          <p:cNvSpPr/>
          <p:nvPr/>
        </p:nvSpPr>
        <p:spPr>
          <a:xfrm>
            <a:off x="6208776" y="3493008"/>
            <a:ext cx="2377440" cy="566928"/>
          </a:xfrm>
          <a:prstGeom prst="rect">
            <a:avLst/>
          </a:prstGeom>
          <a:noFill/>
          <a:ln/>
        </p:spPr>
        <p:txBody>
          <a:bodyPr wrap="square" lIns="0" tIns="0" rIns="0" bIns="0" rtlCol="0" anchor="t"/>
          <a:lstStyle/>
          <a:p>
            <a:pPr indent="0" marL="0">
              <a:lnSpc>
                <a:spcPct val="120000"/>
              </a:lnSpc>
              <a:buNone/>
            </a:pPr>
            <a:r>
              <a:rPr lang="en-US" sz="950" dirty="0">
                <a:solidFill>
                  <a:srgbClr val="7F8C8D"/>
                </a:solidFill>
                <a:latin typeface="Microsoft YaHei" pitchFamily="34" charset="0"/>
                <a:ea typeface="Microsoft YaHei" pitchFamily="34" charset="-122"/>
                <a:cs typeface="Microsoft YaHei" pitchFamily="34" charset="-120"/>
              </a:rPr>
              <a:t>“我的专家”创建、人设+方法论+工具链配置</a:t>
            </a:r>
            <a:endParaRPr lang="en-US" sz="950" dirty="0"/>
          </a:p>
        </p:txBody>
      </p:sp>
      <p:sp>
        <p:nvSpPr>
          <p:cNvPr id="45" name="Text 43"/>
          <p:cNvSpPr/>
          <p:nvPr/>
        </p:nvSpPr>
        <p:spPr>
          <a:xfrm>
            <a:off x="6208776" y="4133088"/>
            <a:ext cx="2377440" cy="274320"/>
          </a:xfrm>
          <a:prstGeom prst="rect">
            <a:avLst/>
          </a:prstGeom>
          <a:noFill/>
          <a:ln/>
        </p:spPr>
        <p:txBody>
          <a:bodyPr wrap="square" lIns="0" tIns="0" rIns="0" bIns="0" rtlCol="0" anchor="ctr"/>
          <a:lstStyle/>
          <a:p>
            <a:pPr indent="0" marL="0">
              <a:buNone/>
            </a:pPr>
            <a:r>
              <a:rPr lang="en-US" sz="950" b="1" dirty="0">
                <a:solidFill>
                  <a:srgbClr val="A8895F"/>
                </a:solidFill>
                <a:latin typeface="Microsoft YaHei" pitchFamily="34" charset="0"/>
                <a:ea typeface="Microsoft YaHei" pitchFamily="34" charset="-122"/>
                <a:cs typeface="Microsoft YaHei" pitchFamily="34" charset="-120"/>
              </a:rPr>
              <a:t>○ 可选  </a:t>
            </a:r>
            <a:pPr indent="0" marL="0">
              <a:buNone/>
            </a:pPr>
            <a:r>
              <a:rPr lang="en-US" sz="950" dirty="0">
                <a:solidFill>
                  <a:srgbClr val="7F8C8D"/>
                </a:solidFill>
                <a:latin typeface="Microsoft YaHei" pitchFamily="34" charset="0"/>
                <a:ea typeface="Microsoft YaHei" pitchFamily="34" charset="-122"/>
                <a:cs typeface="Microsoft YaHei" pitchFamily="34" charset="-120"/>
              </a:rPr>
              <a:t>前置：完成 4.4</a:t>
            </a:r>
            <a:endParaRPr lang="en-US" sz="950" dirty="0"/>
          </a:p>
        </p:txBody>
      </p:sp>
      <p:sp>
        <p:nvSpPr>
          <p:cNvPr id="46" name="Shape 44"/>
          <p:cNvSpPr/>
          <p:nvPr/>
        </p:nvSpPr>
        <p:spPr>
          <a:xfrm>
            <a:off x="548640" y="4617720"/>
            <a:ext cx="8046720" cy="457200"/>
          </a:xfrm>
          <a:prstGeom prst="rect">
            <a:avLst/>
          </a:prstGeom>
          <a:solidFill>
            <a:srgbClr val="E7F3EE"/>
          </a:solidFill>
          <a:ln/>
        </p:spPr>
      </p:sp>
      <p:sp>
        <p:nvSpPr>
          <p:cNvPr id="47" name="Shape 45"/>
          <p:cNvSpPr/>
          <p:nvPr/>
        </p:nvSpPr>
        <p:spPr>
          <a:xfrm>
            <a:off x="548640" y="4617720"/>
            <a:ext cx="45720" cy="457200"/>
          </a:xfrm>
          <a:prstGeom prst="rect">
            <a:avLst/>
          </a:prstGeom>
          <a:solidFill>
            <a:srgbClr val="2E9E83"/>
          </a:solidFill>
          <a:ln/>
        </p:spPr>
      </p:sp>
      <p:sp>
        <p:nvSpPr>
          <p:cNvPr id="48" name="Text 46"/>
          <p:cNvSpPr/>
          <p:nvPr/>
        </p:nvSpPr>
        <p:spPr>
          <a:xfrm>
            <a:off x="777240" y="4617720"/>
            <a:ext cx="7589520" cy="457200"/>
          </a:xfrm>
          <a:prstGeom prst="rect">
            <a:avLst/>
          </a:prstGeom>
          <a:noFill/>
          <a:ln/>
        </p:spPr>
        <p:txBody>
          <a:bodyPr wrap="square" lIns="0" tIns="0" rIns="0" bIns="0" rtlCol="0" anchor="ctr"/>
          <a:lstStyle/>
          <a:p>
            <a:pPr indent="0" marL="0">
              <a:buNone/>
            </a:pPr>
            <a:r>
              <a:rPr lang="en-US" sz="1200" dirty="0">
                <a:solidFill>
                  <a:srgbClr val="2C3E50"/>
                </a:solidFill>
                <a:latin typeface="Microsoft YaHei" pitchFamily="34" charset="0"/>
                <a:ea typeface="Microsoft YaHei" pitchFamily="34" charset="-122"/>
                <a:cs typeface="Microsoft YaHei" pitchFamily="34" charset="-120"/>
              </a:rPr>
              <a:t>实验顺序：4.1 → 4.2 → 4.3 → 4.4；4.5、4.6 为可选实验，完成 4.4 后可继续挑战。</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2F8F6"/>
        </a:solidFill>
      </p:bgPr>
    </p:bg>
    <p:spTree>
      <p:nvGrpSpPr>
        <p:cNvPr id="1" name=""/>
        <p:cNvGrpSpPr/>
        <p:nvPr/>
      </p:nvGrpSpPr>
      <p:grpSpPr>
        <a:xfrm>
          <a:off x="0" y="0"/>
          <a:ext cx="0" cy="0"/>
          <a:chOff x="0" y="0"/>
          <a:chExt cx="0" cy="0"/>
        </a:xfrm>
      </p:grpSpPr>
      <p:sp>
        <p:nvSpPr>
          <p:cNvPr id="2" name="Text 0"/>
          <p:cNvSpPr/>
          <p:nvPr/>
        </p:nvSpPr>
        <p:spPr>
          <a:xfrm>
            <a:off x="548640" y="274320"/>
            <a:ext cx="8046720" cy="594360"/>
          </a:xfrm>
          <a:prstGeom prst="rect">
            <a:avLst/>
          </a:prstGeom>
          <a:noFill/>
          <a:ln/>
        </p:spPr>
        <p:txBody>
          <a:bodyPr wrap="square" lIns="0" tIns="0" rIns="0" bIns="0" rtlCol="0" anchor="ctr"/>
          <a:lstStyle/>
          <a:p>
            <a:pPr indent="0" marL="0">
              <a:buNone/>
            </a:pPr>
            <a:r>
              <a:rPr lang="en-US" sz="2600" b="1" dirty="0">
                <a:solidFill>
                  <a:srgbClr val="28B894"/>
                </a:solidFill>
                <a:latin typeface="Microsoft YaHei" pitchFamily="34" charset="0"/>
                <a:ea typeface="Microsoft YaHei" pitchFamily="34" charset="-122"/>
                <a:cs typeface="Microsoft YaHei" pitchFamily="34" charset="-120"/>
              </a:rPr>
              <a:t>本章小结</a:t>
            </a:r>
            <a:endParaRPr lang="en-US" sz="2600" dirty="0"/>
          </a:p>
        </p:txBody>
      </p:sp>
      <p:sp>
        <p:nvSpPr>
          <p:cNvPr id="3" name="Shape 1"/>
          <p:cNvSpPr/>
          <p:nvPr/>
        </p:nvSpPr>
        <p:spPr>
          <a:xfrm>
            <a:off x="548640" y="868680"/>
            <a:ext cx="914400" cy="32004"/>
          </a:xfrm>
          <a:prstGeom prst="rect">
            <a:avLst/>
          </a:prstGeom>
          <a:solidFill>
            <a:srgbClr val="2E9E83"/>
          </a:solidFill>
          <a:ln/>
        </p:spPr>
      </p:sp>
      <p:sp>
        <p:nvSpPr>
          <p:cNvPr id="4" name="Shape 2"/>
          <p:cNvSpPr/>
          <p:nvPr/>
        </p:nvSpPr>
        <p:spPr>
          <a:xfrm>
            <a:off x="7040880" y="-1280160"/>
            <a:ext cx="3474720" cy="3474720"/>
          </a:xfrm>
          <a:prstGeom prst="ellipse">
            <a:avLst/>
          </a:prstGeom>
          <a:solidFill>
            <a:srgbClr val="FFFFFF">
              <a:alpha val="20000"/>
            </a:srgbClr>
          </a:solidFill>
          <a:ln w="15240">
            <a:solidFill>
              <a:srgbClr val="28B894">
                <a:alpha val="45000"/>
              </a:srgbClr>
            </a:solidFill>
            <a:prstDash val="solid"/>
          </a:ln>
        </p:spPr>
      </p:sp>
      <p:sp>
        <p:nvSpPr>
          <p:cNvPr id="5" name="Shape 3"/>
          <p:cNvSpPr/>
          <p:nvPr/>
        </p:nvSpPr>
        <p:spPr>
          <a:xfrm>
            <a:off x="7635240" y="-685800"/>
            <a:ext cx="2286000" cy="2286000"/>
          </a:xfrm>
          <a:prstGeom prst="ellipse">
            <a:avLst/>
          </a:prstGeom>
          <a:solidFill>
            <a:srgbClr val="28B894">
              <a:alpha val="12000"/>
            </a:srgbClr>
          </a:solidFill>
          <a:ln w="12700">
            <a:solidFill>
              <a:srgbClr val="D5DBDB">
                <a:alpha val="40000"/>
              </a:srgbClr>
            </a:solidFill>
            <a:prstDash val="solid"/>
          </a:ln>
        </p:spPr>
      </p:sp>
      <p:sp>
        <p:nvSpPr>
          <p:cNvPr id="6" name="Text 4"/>
          <p:cNvSpPr/>
          <p:nvPr/>
        </p:nvSpPr>
        <p:spPr>
          <a:xfrm>
            <a:off x="7315200" y="640080"/>
            <a:ext cx="1828800" cy="1097280"/>
          </a:xfrm>
          <a:prstGeom prst="rect">
            <a:avLst/>
          </a:prstGeom>
          <a:noFill/>
          <a:ln/>
        </p:spPr>
        <p:txBody>
          <a:bodyPr wrap="square" lIns="0" tIns="0" rIns="0" bIns="0" rtlCol="0" anchor="ctr"/>
          <a:lstStyle/>
          <a:p>
            <a:pPr algn="ctr" indent="0" marL="0">
              <a:buNone/>
            </a:pPr>
            <a:r>
              <a:rPr lang="en-US" sz="6600" b="1" dirty="0">
                <a:solidFill>
                  <a:srgbClr val="28B894">
                    <a:alpha val="22000"/>
                  </a:srgbClr>
                </a:solidFill>
                <a:latin typeface="Arial" pitchFamily="34" charset="0"/>
                <a:ea typeface="Arial" pitchFamily="34" charset="-122"/>
                <a:cs typeface="Arial" pitchFamily="34" charset="-120"/>
              </a:rPr>
              <a:t>04</a:t>
            </a:r>
            <a:endParaRPr lang="en-US" sz="6600" dirty="0"/>
          </a:p>
        </p:txBody>
      </p:sp>
      <p:sp>
        <p:nvSpPr>
          <p:cNvPr id="7" name="Shape 5"/>
          <p:cNvSpPr/>
          <p:nvPr/>
        </p:nvSpPr>
        <p:spPr>
          <a:xfrm>
            <a:off x="-914400" y="4023360"/>
            <a:ext cx="2194560" cy="2194560"/>
          </a:xfrm>
          <a:prstGeom prst="ellipse">
            <a:avLst/>
          </a:prstGeom>
          <a:solidFill>
            <a:srgbClr val="2E9E83">
              <a:alpha val="12000"/>
            </a:srgbClr>
          </a:solidFill>
          <a:ln w="12700">
            <a:solidFill>
              <a:srgbClr val="D5DBDB">
                <a:alpha val="35000"/>
              </a:srgbClr>
            </a:solidFill>
            <a:prstDash val="solid"/>
          </a:ln>
        </p:spPr>
      </p:sp>
      <p:sp>
        <p:nvSpPr>
          <p:cNvPr id="8" name="Shape 6"/>
          <p:cNvSpPr/>
          <p:nvPr/>
        </p:nvSpPr>
        <p:spPr>
          <a:xfrm>
            <a:off x="566928" y="1325880"/>
            <a:ext cx="256032" cy="256032"/>
          </a:xfrm>
          <a:prstGeom prst="ellipse">
            <a:avLst/>
          </a:prstGeom>
          <a:solidFill>
            <a:srgbClr val="28B894"/>
          </a:solidFill>
          <a:ln/>
        </p:spPr>
      </p:sp>
      <p:sp>
        <p:nvSpPr>
          <p:cNvPr id="9" name="Shape 7"/>
          <p:cNvSpPr/>
          <p:nvPr/>
        </p:nvSpPr>
        <p:spPr>
          <a:xfrm>
            <a:off x="566928" y="1325880"/>
            <a:ext cx="256032" cy="256032"/>
          </a:xfrm>
          <a:prstGeom prst="ellipse">
            <a:avLst/>
          </a:prstGeom>
          <a:solidFill>
            <a:srgbClr val="FFFFFF">
              <a:alpha val="45000"/>
            </a:srgbClr>
          </a:solidFill>
          <a:ln/>
        </p:spPr>
      </p:sp>
      <p:sp>
        <p:nvSpPr>
          <p:cNvPr id="10" name="Text 8"/>
          <p:cNvSpPr/>
          <p:nvPr/>
        </p:nvSpPr>
        <p:spPr>
          <a:xfrm>
            <a:off x="566928" y="1298448"/>
            <a:ext cx="256032"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11" name="Text 9"/>
          <p:cNvSpPr/>
          <p:nvPr/>
        </p:nvSpPr>
        <p:spPr>
          <a:xfrm>
            <a:off x="1005840" y="1207008"/>
            <a:ext cx="7315200" cy="502920"/>
          </a:xfrm>
          <a:prstGeom prst="rect">
            <a:avLst/>
          </a:prstGeom>
          <a:noFill/>
          <a:ln/>
        </p:spPr>
        <p:txBody>
          <a:bodyPr wrap="square" lIns="0" tIns="0" rIns="0" bIns="0" rtlCol="0" anchor="ctr"/>
          <a:lstStyle/>
          <a:p>
            <a:pPr indent="0" marL="0">
              <a:lnSpc>
                <a:spcPct val="115000"/>
              </a:lnSpc>
              <a:buNone/>
            </a:pPr>
            <a:r>
              <a:rPr lang="en-US" sz="1150" dirty="0">
                <a:solidFill>
                  <a:srgbClr val="2C3E50"/>
                </a:solidFill>
                <a:latin typeface="Microsoft YaHei" pitchFamily="34" charset="0"/>
                <a:ea typeface="Microsoft YaHei" pitchFamily="34" charset="-122"/>
                <a:cs typeface="Microsoft YaHei" pitchFamily="34" charset="-120"/>
              </a:rPr>
              <a:t>技能是“专业工具箱”：底层为预定义工具函数（TOOL）+ Function Calling，由隔离目录与按需授权的安全沙箱保障调用</a:t>
            </a:r>
            <a:endParaRPr lang="en-US" sz="1150" dirty="0"/>
          </a:p>
        </p:txBody>
      </p:sp>
      <p:sp>
        <p:nvSpPr>
          <p:cNvPr id="12" name="Shape 10"/>
          <p:cNvSpPr/>
          <p:nvPr/>
        </p:nvSpPr>
        <p:spPr>
          <a:xfrm>
            <a:off x="566928" y="1929384"/>
            <a:ext cx="256032" cy="256032"/>
          </a:xfrm>
          <a:prstGeom prst="ellipse">
            <a:avLst/>
          </a:prstGeom>
          <a:solidFill>
            <a:srgbClr val="28B894"/>
          </a:solidFill>
          <a:ln/>
        </p:spPr>
      </p:sp>
      <p:sp>
        <p:nvSpPr>
          <p:cNvPr id="13" name="Shape 11"/>
          <p:cNvSpPr/>
          <p:nvPr/>
        </p:nvSpPr>
        <p:spPr>
          <a:xfrm>
            <a:off x="566928" y="1929384"/>
            <a:ext cx="256032" cy="256032"/>
          </a:xfrm>
          <a:prstGeom prst="ellipse">
            <a:avLst/>
          </a:prstGeom>
          <a:solidFill>
            <a:srgbClr val="FFFFFF">
              <a:alpha val="45000"/>
            </a:srgbClr>
          </a:solidFill>
          <a:ln/>
        </p:spPr>
      </p:sp>
      <p:sp>
        <p:nvSpPr>
          <p:cNvPr id="14" name="Text 12"/>
          <p:cNvSpPr/>
          <p:nvPr/>
        </p:nvSpPr>
        <p:spPr>
          <a:xfrm>
            <a:off x="566928" y="1901952"/>
            <a:ext cx="256032"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5" name="Text 13"/>
          <p:cNvSpPr/>
          <p:nvPr/>
        </p:nvSpPr>
        <p:spPr>
          <a:xfrm>
            <a:off x="1005840" y="1810512"/>
            <a:ext cx="7315200" cy="502920"/>
          </a:xfrm>
          <a:prstGeom prst="rect">
            <a:avLst/>
          </a:prstGeom>
          <a:noFill/>
          <a:ln/>
        </p:spPr>
        <p:txBody>
          <a:bodyPr wrap="square" lIns="0" tIns="0" rIns="0" bIns="0" rtlCol="0" anchor="ctr"/>
          <a:lstStyle/>
          <a:p>
            <a:pPr indent="0" marL="0">
              <a:lnSpc>
                <a:spcPct val="115000"/>
              </a:lnSpc>
              <a:buNone/>
            </a:pPr>
            <a:r>
              <a:rPr lang="en-US" sz="1150" dirty="0">
                <a:solidFill>
                  <a:srgbClr val="2C3E50"/>
                </a:solidFill>
                <a:latin typeface="Microsoft YaHei" pitchFamily="34" charset="0"/>
                <a:ea typeface="Microsoft YaHei" pitchFamily="34" charset="-122"/>
                <a:cs typeface="Microsoft YaHei" pitchFamily="34" charset="-120"/>
              </a:rPr>
              <a:t>三种安装方式：上传导入 / 查找与推荐 / 对话式创建；十大零成本技能覆盖浏览器、文档、语音、搜索等日常场景</a:t>
            </a:r>
            <a:endParaRPr lang="en-US" sz="1150" dirty="0"/>
          </a:p>
        </p:txBody>
      </p:sp>
      <p:sp>
        <p:nvSpPr>
          <p:cNvPr id="16" name="Shape 14"/>
          <p:cNvSpPr/>
          <p:nvPr/>
        </p:nvSpPr>
        <p:spPr>
          <a:xfrm>
            <a:off x="566928" y="2532888"/>
            <a:ext cx="256032" cy="256032"/>
          </a:xfrm>
          <a:prstGeom prst="ellipse">
            <a:avLst/>
          </a:prstGeom>
          <a:solidFill>
            <a:srgbClr val="28B894"/>
          </a:solidFill>
          <a:ln/>
        </p:spPr>
      </p:sp>
      <p:sp>
        <p:nvSpPr>
          <p:cNvPr id="17" name="Shape 15"/>
          <p:cNvSpPr/>
          <p:nvPr/>
        </p:nvSpPr>
        <p:spPr>
          <a:xfrm>
            <a:off x="566928" y="2532888"/>
            <a:ext cx="256032" cy="256032"/>
          </a:xfrm>
          <a:prstGeom prst="ellipse">
            <a:avLst/>
          </a:prstGeom>
          <a:solidFill>
            <a:srgbClr val="FFFFFF">
              <a:alpha val="45000"/>
            </a:srgbClr>
          </a:solidFill>
          <a:ln/>
        </p:spPr>
      </p:sp>
      <p:sp>
        <p:nvSpPr>
          <p:cNvPr id="18" name="Text 16"/>
          <p:cNvSpPr/>
          <p:nvPr/>
        </p:nvSpPr>
        <p:spPr>
          <a:xfrm>
            <a:off x="566928" y="2505456"/>
            <a:ext cx="256032"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9" name="Text 17"/>
          <p:cNvSpPr/>
          <p:nvPr/>
        </p:nvSpPr>
        <p:spPr>
          <a:xfrm>
            <a:off x="1005840" y="2414016"/>
            <a:ext cx="7315200" cy="502920"/>
          </a:xfrm>
          <a:prstGeom prst="rect">
            <a:avLst/>
          </a:prstGeom>
          <a:noFill/>
          <a:ln/>
        </p:spPr>
        <p:txBody>
          <a:bodyPr wrap="square" lIns="0" tIns="0" rIns="0" bIns="0" rtlCol="0" anchor="ctr"/>
          <a:lstStyle/>
          <a:p>
            <a:pPr indent="0" marL="0">
              <a:lnSpc>
                <a:spcPct val="115000"/>
              </a:lnSpc>
              <a:buNone/>
            </a:pPr>
            <a:r>
              <a:rPr lang="en-US" sz="1150" dirty="0">
                <a:solidFill>
                  <a:srgbClr val="2C3E50"/>
                </a:solidFill>
                <a:latin typeface="Microsoft YaHei" pitchFamily="34" charset="0"/>
                <a:ea typeface="Microsoft YaHei" pitchFamily="34" charset="-122"/>
                <a:cs typeface="Microsoft YaHei" pitchFamily="34" charset="-120"/>
              </a:rPr>
              <a:t>专家（Agent）＝方法与角色，专家团（Team）＝多 Agent 团队协作；专家团积分消耗通常为单个专家的 3–5 倍</a:t>
            </a:r>
            <a:endParaRPr lang="en-US" sz="1150" dirty="0"/>
          </a:p>
        </p:txBody>
      </p:sp>
      <p:sp>
        <p:nvSpPr>
          <p:cNvPr id="20" name="Shape 18"/>
          <p:cNvSpPr/>
          <p:nvPr/>
        </p:nvSpPr>
        <p:spPr>
          <a:xfrm>
            <a:off x="566928" y="3136392"/>
            <a:ext cx="256032" cy="256032"/>
          </a:xfrm>
          <a:prstGeom prst="ellipse">
            <a:avLst/>
          </a:prstGeom>
          <a:solidFill>
            <a:srgbClr val="28B894"/>
          </a:solidFill>
          <a:ln/>
        </p:spPr>
      </p:sp>
      <p:sp>
        <p:nvSpPr>
          <p:cNvPr id="21" name="Shape 19"/>
          <p:cNvSpPr/>
          <p:nvPr/>
        </p:nvSpPr>
        <p:spPr>
          <a:xfrm>
            <a:off x="566928" y="3136392"/>
            <a:ext cx="256032" cy="256032"/>
          </a:xfrm>
          <a:prstGeom prst="ellipse">
            <a:avLst/>
          </a:prstGeom>
          <a:solidFill>
            <a:srgbClr val="FFFFFF">
              <a:alpha val="45000"/>
            </a:srgbClr>
          </a:solidFill>
          <a:ln/>
        </p:spPr>
      </p:sp>
      <p:sp>
        <p:nvSpPr>
          <p:cNvPr id="22" name="Text 20"/>
          <p:cNvSpPr/>
          <p:nvPr/>
        </p:nvSpPr>
        <p:spPr>
          <a:xfrm>
            <a:off x="566928" y="3108960"/>
            <a:ext cx="256032"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4</a:t>
            </a:r>
            <a:endParaRPr lang="en-US" sz="1300" dirty="0"/>
          </a:p>
        </p:txBody>
      </p:sp>
      <p:sp>
        <p:nvSpPr>
          <p:cNvPr id="23" name="Text 21"/>
          <p:cNvSpPr/>
          <p:nvPr/>
        </p:nvSpPr>
        <p:spPr>
          <a:xfrm>
            <a:off x="1005840" y="3017520"/>
            <a:ext cx="7315200" cy="502920"/>
          </a:xfrm>
          <a:prstGeom prst="rect">
            <a:avLst/>
          </a:prstGeom>
          <a:noFill/>
          <a:ln/>
        </p:spPr>
        <p:txBody>
          <a:bodyPr wrap="square" lIns="0" tIns="0" rIns="0" bIns="0" rtlCol="0" anchor="ctr"/>
          <a:lstStyle/>
          <a:p>
            <a:pPr indent="0" marL="0">
              <a:lnSpc>
                <a:spcPct val="115000"/>
              </a:lnSpc>
              <a:buNone/>
            </a:pPr>
            <a:r>
              <a:rPr lang="en-US" sz="1150" dirty="0">
                <a:solidFill>
                  <a:srgbClr val="2C3E50"/>
                </a:solidFill>
                <a:latin typeface="Microsoft YaHei" pitchFamily="34" charset="0"/>
                <a:ea typeface="Microsoft YaHei" pitchFamily="34" charset="-122"/>
                <a:cs typeface="Microsoft YaHei" pitchFamily="34" charset="-120"/>
              </a:rPr>
              <a:t>口诀：想要能力找技能；想要建议找专家；想要团队协作攻坚找专家团</a:t>
            </a:r>
            <a:endParaRPr lang="en-US" sz="1150" dirty="0"/>
          </a:p>
        </p:txBody>
      </p:sp>
      <p:sp>
        <p:nvSpPr>
          <p:cNvPr id="24" name="Shape 22"/>
          <p:cNvSpPr/>
          <p:nvPr/>
        </p:nvSpPr>
        <p:spPr>
          <a:xfrm>
            <a:off x="566928" y="3739896"/>
            <a:ext cx="256032" cy="256032"/>
          </a:xfrm>
          <a:prstGeom prst="ellipse">
            <a:avLst/>
          </a:prstGeom>
          <a:solidFill>
            <a:srgbClr val="A8895F"/>
          </a:solidFill>
          <a:ln/>
        </p:spPr>
      </p:sp>
      <p:sp>
        <p:nvSpPr>
          <p:cNvPr id="25" name="Shape 23"/>
          <p:cNvSpPr/>
          <p:nvPr/>
        </p:nvSpPr>
        <p:spPr>
          <a:xfrm>
            <a:off x="566928" y="3739896"/>
            <a:ext cx="256032" cy="256032"/>
          </a:xfrm>
          <a:prstGeom prst="ellipse">
            <a:avLst/>
          </a:prstGeom>
          <a:solidFill>
            <a:srgbClr val="FFFFFF">
              <a:alpha val="45000"/>
            </a:srgbClr>
          </a:solidFill>
          <a:ln/>
        </p:spPr>
      </p:sp>
      <p:sp>
        <p:nvSpPr>
          <p:cNvPr id="26" name="Text 24"/>
          <p:cNvSpPr/>
          <p:nvPr/>
        </p:nvSpPr>
        <p:spPr>
          <a:xfrm>
            <a:off x="566928" y="3712464"/>
            <a:ext cx="256032"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5</a:t>
            </a:r>
            <a:endParaRPr lang="en-US" sz="1300" dirty="0"/>
          </a:p>
        </p:txBody>
      </p:sp>
      <p:sp>
        <p:nvSpPr>
          <p:cNvPr id="27" name="Text 25"/>
          <p:cNvSpPr/>
          <p:nvPr/>
        </p:nvSpPr>
        <p:spPr>
          <a:xfrm>
            <a:off x="1005840" y="3621024"/>
            <a:ext cx="7315200" cy="502920"/>
          </a:xfrm>
          <a:prstGeom prst="rect">
            <a:avLst/>
          </a:prstGeom>
          <a:noFill/>
          <a:ln/>
        </p:spPr>
        <p:txBody>
          <a:bodyPr wrap="square" lIns="0" tIns="0" rIns="0" bIns="0" rtlCol="0" anchor="ctr"/>
          <a:lstStyle/>
          <a:p>
            <a:pPr indent="0" marL="0">
              <a:lnSpc>
                <a:spcPct val="115000"/>
              </a:lnSpc>
              <a:buNone/>
            </a:pPr>
            <a:r>
              <a:rPr lang="en-US" sz="1150" dirty="0">
                <a:solidFill>
                  <a:srgbClr val="2C3E50"/>
                </a:solidFill>
                <a:latin typeface="Microsoft YaHei" pitchFamily="34" charset="0"/>
                <a:ea typeface="Microsoft YaHei" pitchFamily="34" charset="-122"/>
                <a:cs typeface="Microsoft YaHei" pitchFamily="34" charset="-120"/>
              </a:rPr>
              <a:t>Multi-Agent 五阶段：需求理解 → 任务拆解 → 智能分配 → 协同执行 → 整合交付；五类专家团 + 多团协作打通商业闭环</a:t>
            </a:r>
            <a:endParaRPr lang="en-US" sz="1150" dirty="0"/>
          </a:p>
        </p:txBody>
      </p:sp>
      <p:sp>
        <p:nvSpPr>
          <p:cNvPr id="28" name="Shape 26"/>
          <p:cNvSpPr/>
          <p:nvPr/>
        </p:nvSpPr>
        <p:spPr>
          <a:xfrm>
            <a:off x="548640" y="4297680"/>
            <a:ext cx="8046720" cy="621792"/>
          </a:xfrm>
          <a:prstGeom prst="rect">
            <a:avLst/>
          </a:prstGeom>
          <a:solidFill>
            <a:srgbClr val="E9F5F1"/>
          </a:solidFill>
          <a:ln/>
          <a:effectLst>
            <a:outerShdw sx="100000" sy="100000" kx="0" ky="0" algn="bl" rotWithShape="0" blurRad="76200" dist="25400" dir="8100000">
              <a:srgbClr val="000000">
                <a:alpha val="8000"/>
              </a:srgbClr>
            </a:outerShdw>
          </a:effectLst>
        </p:spPr>
      </p:sp>
      <p:sp>
        <p:nvSpPr>
          <p:cNvPr id="29" name="Shape 27"/>
          <p:cNvSpPr/>
          <p:nvPr/>
        </p:nvSpPr>
        <p:spPr>
          <a:xfrm>
            <a:off x="548640" y="4297680"/>
            <a:ext cx="64008" cy="621792"/>
          </a:xfrm>
          <a:prstGeom prst="rect">
            <a:avLst/>
          </a:prstGeom>
          <a:solidFill>
            <a:srgbClr val="28B894"/>
          </a:solidFill>
          <a:ln/>
        </p:spPr>
      </p:sp>
      <p:sp>
        <p:nvSpPr>
          <p:cNvPr id="30" name="Text 28"/>
          <p:cNvSpPr/>
          <p:nvPr/>
        </p:nvSpPr>
        <p:spPr>
          <a:xfrm>
            <a:off x="868680" y="4297680"/>
            <a:ext cx="7498080" cy="621792"/>
          </a:xfrm>
          <a:prstGeom prst="rect">
            <a:avLst/>
          </a:prstGeom>
          <a:noFill/>
          <a:ln/>
        </p:spPr>
        <p:txBody>
          <a:bodyPr wrap="square" lIns="0" tIns="0" rIns="0" bIns="0" rtlCol="0" anchor="ctr">
            <a:normAutofit/>
          </a:bodyPr>
          <a:lstStyle/>
          <a:p>
            <a:pPr indent="0" marL="0">
              <a:lnSpc>
                <a:spcPct val="120000"/>
              </a:lnSpc>
              <a:buNone/>
            </a:pPr>
            <a:r>
              <a:rPr lang="en-US" sz="1200" b="1" dirty="0">
                <a:solidFill>
                  <a:srgbClr val="28B894"/>
                </a:solidFill>
                <a:latin typeface="Microsoft YaHei" pitchFamily="34" charset="0"/>
                <a:ea typeface="Microsoft YaHei" pitchFamily="34" charset="-122"/>
                <a:cs typeface="Microsoft YaHei" pitchFamily="34" charset="-120"/>
              </a:rPr>
              <a:t>下一章：连接器与资料库——理解 MCP 协议与 OAuth 授权，掌握“取资料 → AI 加工 → 存回沉淀”的完整闭环。</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2F8F6"/>
        </a:solidFill>
      </p:bgPr>
    </p:bg>
    <p:spTree>
      <p:nvGrpSpPr>
        <p:cNvPr id="1" name=""/>
        <p:cNvGrpSpPr/>
        <p:nvPr/>
      </p:nvGrpSpPr>
      <p:grpSpPr>
        <a:xfrm>
          <a:off x="0" y="0"/>
          <a:ext cx="0" cy="0"/>
          <a:chOff x="0" y="0"/>
          <a:chExt cx="0" cy="0"/>
        </a:xfrm>
      </p:grpSpPr>
      <p:sp>
        <p:nvSpPr>
          <p:cNvPr id="2" name="Text 0"/>
          <p:cNvSpPr/>
          <p:nvPr/>
        </p:nvSpPr>
        <p:spPr>
          <a:xfrm>
            <a:off x="548640" y="274320"/>
            <a:ext cx="8046720" cy="594360"/>
          </a:xfrm>
          <a:prstGeom prst="rect">
            <a:avLst/>
          </a:prstGeom>
          <a:noFill/>
          <a:ln/>
        </p:spPr>
        <p:txBody>
          <a:bodyPr wrap="square" lIns="0" tIns="0" rIns="0" bIns="0" rtlCol="0" anchor="ctr"/>
          <a:lstStyle/>
          <a:p>
            <a:pPr indent="0" marL="0">
              <a:buNone/>
            </a:pPr>
            <a:r>
              <a:rPr lang="en-US" sz="2600" b="1" dirty="0">
                <a:solidFill>
                  <a:srgbClr val="28B894"/>
                </a:solidFill>
                <a:latin typeface="Microsoft YaHei" pitchFamily="34" charset="0"/>
                <a:ea typeface="Microsoft YaHei" pitchFamily="34" charset="-122"/>
                <a:cs typeface="Microsoft YaHei" pitchFamily="34" charset="-120"/>
              </a:rPr>
              <a:t>课后思考题</a:t>
            </a:r>
            <a:endParaRPr lang="en-US" sz="2600" dirty="0"/>
          </a:p>
        </p:txBody>
      </p:sp>
      <p:sp>
        <p:nvSpPr>
          <p:cNvPr id="3" name="Shape 1"/>
          <p:cNvSpPr/>
          <p:nvPr/>
        </p:nvSpPr>
        <p:spPr>
          <a:xfrm>
            <a:off x="548640" y="868680"/>
            <a:ext cx="914400" cy="32004"/>
          </a:xfrm>
          <a:prstGeom prst="rect">
            <a:avLst/>
          </a:prstGeom>
          <a:solidFill>
            <a:srgbClr val="2E9E83"/>
          </a:solidFill>
          <a:ln/>
        </p:spPr>
      </p:sp>
      <p:sp>
        <p:nvSpPr>
          <p:cNvPr id="4" name="Shape 2"/>
          <p:cNvSpPr/>
          <p:nvPr/>
        </p:nvSpPr>
        <p:spPr>
          <a:xfrm>
            <a:off x="640080" y="1261872"/>
            <a:ext cx="411480" cy="411480"/>
          </a:xfrm>
          <a:prstGeom prst="ellipse">
            <a:avLst/>
          </a:prstGeom>
          <a:solidFill>
            <a:srgbClr val="5A6B7F"/>
          </a:solidFill>
          <a:ln/>
        </p:spPr>
      </p:sp>
      <p:sp>
        <p:nvSpPr>
          <p:cNvPr id="5" name="Text 3"/>
          <p:cNvSpPr/>
          <p:nvPr/>
        </p:nvSpPr>
        <p:spPr>
          <a:xfrm>
            <a:off x="640080" y="126187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01</a:t>
            </a:r>
            <a:endParaRPr lang="en-US" sz="1400" dirty="0"/>
          </a:p>
        </p:txBody>
      </p:sp>
      <p:sp>
        <p:nvSpPr>
          <p:cNvPr id="6" name="Text 4"/>
          <p:cNvSpPr/>
          <p:nvPr/>
        </p:nvSpPr>
        <p:spPr>
          <a:xfrm>
            <a:off x="1234440" y="1234440"/>
            <a:ext cx="7315200" cy="566928"/>
          </a:xfrm>
          <a:prstGeom prst="rect">
            <a:avLst/>
          </a:prstGeom>
          <a:noFill/>
          <a:ln/>
        </p:spPr>
        <p:txBody>
          <a:bodyPr wrap="square" lIns="0" tIns="0" rIns="0" bIns="0" rtlCol="0" anchor="ctr"/>
          <a:lstStyle/>
          <a:p>
            <a:pPr indent="0" marL="0">
              <a:lnSpc>
                <a:spcPct val="120000"/>
              </a:lnSpc>
              <a:buNone/>
            </a:pPr>
            <a:r>
              <a:rPr lang="en-US" sz="1350" dirty="0">
                <a:solidFill>
                  <a:srgbClr val="2C3E50"/>
                </a:solidFill>
                <a:latin typeface="Microsoft YaHei" pitchFamily="34" charset="0"/>
                <a:ea typeface="Microsoft YaHei" pitchFamily="34" charset="-122"/>
                <a:cs typeface="Microsoft YaHei" pitchFamily="34" charset="-120"/>
              </a:rPr>
              <a:t>技能与普通对话在输出结果和适用场景上的核心区别是什么？</a:t>
            </a:r>
            <a:endParaRPr lang="en-US" sz="1350" dirty="0"/>
          </a:p>
        </p:txBody>
      </p:sp>
      <p:sp>
        <p:nvSpPr>
          <p:cNvPr id="7" name="Shape 5"/>
          <p:cNvSpPr/>
          <p:nvPr/>
        </p:nvSpPr>
        <p:spPr>
          <a:xfrm>
            <a:off x="640080" y="1920240"/>
            <a:ext cx="411480" cy="411480"/>
          </a:xfrm>
          <a:prstGeom prst="ellipse">
            <a:avLst/>
          </a:prstGeom>
          <a:solidFill>
            <a:srgbClr val="5A6B7F"/>
          </a:solidFill>
          <a:ln/>
        </p:spPr>
      </p:sp>
      <p:sp>
        <p:nvSpPr>
          <p:cNvPr id="8" name="Text 6"/>
          <p:cNvSpPr/>
          <p:nvPr/>
        </p:nvSpPr>
        <p:spPr>
          <a:xfrm>
            <a:off x="640080" y="19202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02</a:t>
            </a:r>
            <a:endParaRPr lang="en-US" sz="1400" dirty="0"/>
          </a:p>
        </p:txBody>
      </p:sp>
      <p:sp>
        <p:nvSpPr>
          <p:cNvPr id="9" name="Text 7"/>
          <p:cNvSpPr/>
          <p:nvPr/>
        </p:nvSpPr>
        <p:spPr>
          <a:xfrm>
            <a:off x="1234440" y="1892808"/>
            <a:ext cx="7315200" cy="566928"/>
          </a:xfrm>
          <a:prstGeom prst="rect">
            <a:avLst/>
          </a:prstGeom>
          <a:noFill/>
          <a:ln/>
        </p:spPr>
        <p:txBody>
          <a:bodyPr wrap="square" lIns="0" tIns="0" rIns="0" bIns="0" rtlCol="0" anchor="ctr"/>
          <a:lstStyle/>
          <a:p>
            <a:pPr indent="0" marL="0">
              <a:lnSpc>
                <a:spcPct val="120000"/>
              </a:lnSpc>
              <a:buNone/>
            </a:pPr>
            <a:r>
              <a:rPr lang="en-US" sz="1350" dirty="0">
                <a:solidFill>
                  <a:srgbClr val="2C3E50"/>
                </a:solidFill>
                <a:latin typeface="Microsoft YaHei" pitchFamily="34" charset="0"/>
                <a:ea typeface="Microsoft YaHei" pitchFamily="34" charset="-122"/>
                <a:cs typeface="Microsoft YaHei" pitchFamily="34" charset="-120"/>
              </a:rPr>
              <a:t>WorkBuddy 调用技能的 Function Calling 过程包含哪几个主要步骤？面对可能产生风险的技能操作，系统提供了哪些安全保障机制？</a:t>
            </a:r>
            <a:endParaRPr lang="en-US" sz="1350" dirty="0"/>
          </a:p>
        </p:txBody>
      </p:sp>
      <p:sp>
        <p:nvSpPr>
          <p:cNvPr id="10" name="Shape 8"/>
          <p:cNvSpPr/>
          <p:nvPr/>
        </p:nvSpPr>
        <p:spPr>
          <a:xfrm>
            <a:off x="640080" y="2578608"/>
            <a:ext cx="411480" cy="411480"/>
          </a:xfrm>
          <a:prstGeom prst="ellipse">
            <a:avLst/>
          </a:prstGeom>
          <a:solidFill>
            <a:srgbClr val="5A6B7F"/>
          </a:solidFill>
          <a:ln/>
        </p:spPr>
      </p:sp>
      <p:sp>
        <p:nvSpPr>
          <p:cNvPr id="11" name="Text 9"/>
          <p:cNvSpPr/>
          <p:nvPr/>
        </p:nvSpPr>
        <p:spPr>
          <a:xfrm>
            <a:off x="640080" y="257860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03</a:t>
            </a:r>
            <a:endParaRPr lang="en-US" sz="1400" dirty="0"/>
          </a:p>
        </p:txBody>
      </p:sp>
      <p:sp>
        <p:nvSpPr>
          <p:cNvPr id="12" name="Text 10"/>
          <p:cNvSpPr/>
          <p:nvPr/>
        </p:nvSpPr>
        <p:spPr>
          <a:xfrm>
            <a:off x="1234440" y="2551176"/>
            <a:ext cx="7315200" cy="566928"/>
          </a:xfrm>
          <a:prstGeom prst="rect">
            <a:avLst/>
          </a:prstGeom>
          <a:noFill/>
          <a:ln/>
        </p:spPr>
        <p:txBody>
          <a:bodyPr wrap="square" lIns="0" tIns="0" rIns="0" bIns="0" rtlCol="0" anchor="ctr"/>
          <a:lstStyle/>
          <a:p>
            <a:pPr indent="0" marL="0">
              <a:lnSpc>
                <a:spcPct val="120000"/>
              </a:lnSpc>
              <a:buNone/>
            </a:pPr>
            <a:r>
              <a:rPr lang="en-US" sz="1350" dirty="0">
                <a:solidFill>
                  <a:srgbClr val="2C3E50"/>
                </a:solidFill>
                <a:latin typeface="Microsoft YaHei" pitchFamily="34" charset="0"/>
                <a:ea typeface="Microsoft YaHei" pitchFamily="34" charset="-122"/>
                <a:cs typeface="Microsoft YaHei" pitchFamily="34" charset="-120"/>
              </a:rPr>
              <a:t>在什么业务场景下，你会毫不犹豫地选择创建一个“专家团”而非单个“专家”？</a:t>
            </a:r>
            <a:endParaRPr lang="en-US" sz="1350" dirty="0"/>
          </a:p>
        </p:txBody>
      </p:sp>
      <p:sp>
        <p:nvSpPr>
          <p:cNvPr id="13" name="Shape 11"/>
          <p:cNvSpPr/>
          <p:nvPr/>
        </p:nvSpPr>
        <p:spPr>
          <a:xfrm>
            <a:off x="640080" y="3236976"/>
            <a:ext cx="411480" cy="411480"/>
          </a:xfrm>
          <a:prstGeom prst="ellipse">
            <a:avLst/>
          </a:prstGeom>
          <a:solidFill>
            <a:srgbClr val="5A6B7F"/>
          </a:solidFill>
          <a:ln/>
        </p:spPr>
      </p:sp>
      <p:sp>
        <p:nvSpPr>
          <p:cNvPr id="14" name="Text 12"/>
          <p:cNvSpPr/>
          <p:nvPr/>
        </p:nvSpPr>
        <p:spPr>
          <a:xfrm>
            <a:off x="640080" y="323697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04</a:t>
            </a:r>
            <a:endParaRPr lang="en-US" sz="1400" dirty="0"/>
          </a:p>
        </p:txBody>
      </p:sp>
      <p:sp>
        <p:nvSpPr>
          <p:cNvPr id="15" name="Text 13"/>
          <p:cNvSpPr/>
          <p:nvPr/>
        </p:nvSpPr>
        <p:spPr>
          <a:xfrm>
            <a:off x="1234440" y="3209544"/>
            <a:ext cx="7315200" cy="566928"/>
          </a:xfrm>
          <a:prstGeom prst="rect">
            <a:avLst/>
          </a:prstGeom>
          <a:noFill/>
          <a:ln/>
        </p:spPr>
        <p:txBody>
          <a:bodyPr wrap="square" lIns="0" tIns="0" rIns="0" bIns="0" rtlCol="0" anchor="ctr"/>
          <a:lstStyle/>
          <a:p>
            <a:pPr indent="0" marL="0">
              <a:lnSpc>
                <a:spcPct val="120000"/>
              </a:lnSpc>
              <a:buNone/>
            </a:pPr>
            <a:r>
              <a:rPr lang="en-US" sz="1350" dirty="0">
                <a:solidFill>
                  <a:srgbClr val="2C3E50"/>
                </a:solidFill>
                <a:latin typeface="Microsoft YaHei" pitchFamily="34" charset="0"/>
                <a:ea typeface="Microsoft YaHei" pitchFamily="34" charset="-122"/>
                <a:cs typeface="Microsoft YaHei" pitchFamily="34" charset="-120"/>
              </a:rPr>
              <a:t>简述 Multi-Agent 协作机制的五个关键阶段，团长在其中分别承担哪些职责？</a:t>
            </a:r>
            <a:endParaRPr lang="en-US" sz="1350" dirty="0"/>
          </a:p>
        </p:txBody>
      </p:sp>
      <p:sp>
        <p:nvSpPr>
          <p:cNvPr id="16" name="Shape 14"/>
          <p:cNvSpPr/>
          <p:nvPr/>
        </p:nvSpPr>
        <p:spPr>
          <a:xfrm>
            <a:off x="640080" y="3895344"/>
            <a:ext cx="411480" cy="411480"/>
          </a:xfrm>
          <a:prstGeom prst="ellipse">
            <a:avLst/>
          </a:prstGeom>
          <a:solidFill>
            <a:srgbClr val="5A6B7F"/>
          </a:solidFill>
          <a:ln/>
        </p:spPr>
      </p:sp>
      <p:sp>
        <p:nvSpPr>
          <p:cNvPr id="17" name="Text 15"/>
          <p:cNvSpPr/>
          <p:nvPr/>
        </p:nvSpPr>
        <p:spPr>
          <a:xfrm>
            <a:off x="640080" y="3895344"/>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05</a:t>
            </a:r>
            <a:endParaRPr lang="en-US" sz="1400" dirty="0"/>
          </a:p>
        </p:txBody>
      </p:sp>
      <p:sp>
        <p:nvSpPr>
          <p:cNvPr id="18" name="Text 16"/>
          <p:cNvSpPr/>
          <p:nvPr/>
        </p:nvSpPr>
        <p:spPr>
          <a:xfrm>
            <a:off x="1234440" y="3867912"/>
            <a:ext cx="7315200" cy="566928"/>
          </a:xfrm>
          <a:prstGeom prst="rect">
            <a:avLst/>
          </a:prstGeom>
          <a:noFill/>
          <a:ln/>
        </p:spPr>
        <p:txBody>
          <a:bodyPr wrap="square" lIns="0" tIns="0" rIns="0" bIns="0" rtlCol="0" anchor="ctr"/>
          <a:lstStyle/>
          <a:p>
            <a:pPr indent="0" marL="0">
              <a:lnSpc>
                <a:spcPct val="120000"/>
              </a:lnSpc>
              <a:buNone/>
            </a:pPr>
            <a:r>
              <a:rPr lang="en-US" sz="1350" dirty="0">
                <a:solidFill>
                  <a:srgbClr val="2C3E50"/>
                </a:solidFill>
                <a:latin typeface="Microsoft YaHei" pitchFamily="34" charset="0"/>
                <a:ea typeface="Microsoft YaHei" pitchFamily="34" charset="-122"/>
                <a:cs typeface="Microsoft YaHei" pitchFamily="34" charset="-120"/>
              </a:rPr>
              <a:t>结合五类典型专家团中的任意一个说明其典型任务场景，并用一个“产品-内容-落地”的例子描述多团协作如何运作。</a:t>
            </a:r>
            <a:endParaRPr lang="en-US" sz="1350" dirty="0"/>
          </a:p>
        </p:txBody>
      </p:sp>
      <p:sp>
        <p:nvSpPr>
          <p:cNvPr id="19" name="Shape 17"/>
          <p:cNvSpPr/>
          <p:nvPr/>
        </p:nvSpPr>
        <p:spPr>
          <a:xfrm>
            <a:off x="548640" y="4663440"/>
            <a:ext cx="8046720" cy="457200"/>
          </a:xfrm>
          <a:prstGeom prst="rect">
            <a:avLst/>
          </a:prstGeom>
          <a:solidFill>
            <a:srgbClr val="E7F3EE"/>
          </a:solidFill>
          <a:ln/>
        </p:spPr>
      </p:sp>
      <p:sp>
        <p:nvSpPr>
          <p:cNvPr id="20" name="Shape 18"/>
          <p:cNvSpPr/>
          <p:nvPr/>
        </p:nvSpPr>
        <p:spPr>
          <a:xfrm>
            <a:off x="548640" y="4663440"/>
            <a:ext cx="45720" cy="457200"/>
          </a:xfrm>
          <a:prstGeom prst="rect">
            <a:avLst/>
          </a:prstGeom>
          <a:solidFill>
            <a:srgbClr val="2E9E83"/>
          </a:solidFill>
          <a:ln/>
        </p:spPr>
      </p:sp>
      <p:sp>
        <p:nvSpPr>
          <p:cNvPr id="21" name="Text 19"/>
          <p:cNvSpPr/>
          <p:nvPr/>
        </p:nvSpPr>
        <p:spPr>
          <a:xfrm>
            <a:off x="777240" y="4663440"/>
            <a:ext cx="7589520" cy="457200"/>
          </a:xfrm>
          <a:prstGeom prst="rect">
            <a:avLst/>
          </a:prstGeom>
          <a:noFill/>
          <a:ln/>
        </p:spPr>
        <p:txBody>
          <a:bodyPr wrap="square" lIns="0" tIns="0" rIns="0" bIns="0" rtlCol="0" anchor="ctr"/>
          <a:lstStyle/>
          <a:p>
            <a:pPr indent="0" marL="0">
              <a:buNone/>
            </a:pPr>
            <a:r>
              <a:rPr lang="en-US" sz="1200" dirty="0">
                <a:solidFill>
                  <a:srgbClr val="2C3E50"/>
                </a:solidFill>
                <a:latin typeface="Microsoft YaHei" pitchFamily="34" charset="0"/>
                <a:ea typeface="Microsoft YaHei" pitchFamily="34" charset="-122"/>
                <a:cs typeface="Microsoft YaHei" pitchFamily="34" charset="-120"/>
              </a:rPr>
              <a:t>建议先独立思考，再回到 WorkBuddy 动手验证你的答案。</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第4章 技能、专家与专家团</dc:title>
  <dc:subject>PptxGenJS Presentation</dc:subject>
  <dc:creator>WorkBuddy 效率进阶实训课程</dc:creator>
  <cp:lastModifiedBy>WorkBuddy 效率进阶实训课程</cp:lastModifiedBy>
  <cp:revision>1</cp:revision>
  <dcterms:created xsi:type="dcterms:W3CDTF">2026-08-17T12:53:23Z</dcterms:created>
  <dcterms:modified xsi:type="dcterms:W3CDTF">2026-08-17T12:53:23Z</dcterms:modified>
</cp:coreProperties>
</file>