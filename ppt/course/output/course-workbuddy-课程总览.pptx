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-1463040"/>
            <a:ext cx="4206240" cy="4206240"/>
          </a:xfrm>
          <a:prstGeom prst="ellipse">
            <a:avLst/>
          </a:prstGeom>
          <a:solidFill>
            <a:srgbClr val="28B894">
              <a:alpha val="22000"/>
            </a:srgbClr>
          </a:solidFill>
          <a:ln w="12700">
            <a:solidFill>
              <a:srgbClr val="B8E8DC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280160" y="3291840"/>
            <a:ext cx="3108960" cy="3108960"/>
          </a:xfrm>
          <a:prstGeom prst="ellipse">
            <a:avLst/>
          </a:prstGeom>
          <a:solidFill>
            <a:srgbClr val="2E9E83">
              <a:alpha val="28000"/>
            </a:srgbClr>
          </a:solidFill>
          <a:ln w="12700">
            <a:solidFill>
              <a:srgbClr val="B8E8DC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3840480"/>
            <a:ext cx="1371600" cy="1371600"/>
          </a:xfrm>
          <a:prstGeom prst="ellipse">
            <a:avLst/>
          </a:prstGeom>
          <a:solidFill>
            <a:srgbClr val="A8895F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8B894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029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效率进阶实训 · 全场景 AI 办公工作台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105156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822960" y="193852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效率进阶实训课程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68680" y="2743200"/>
            <a:ext cx="2011680" cy="36576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880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从新手到 OPC 一人公司 —— 让 AI 成为你的全场景生产力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61188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B8E8DC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118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F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理解语言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0" y="361188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B8E8DC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36118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F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规划执行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361188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B8E8DC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36118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F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361188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B8E8DC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36118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F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本地文件操作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4343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D8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体系化课程 · 配套实验 · 教学课件 · 官方文档全链接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800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D8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效率进阶实训课程 · 2026 教育版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课程学习路线图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5875">
            <a:solidFill>
              <a:srgbClr val="28B89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2646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入门筑基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359152" y="1490472"/>
            <a:ext cx="329184" cy="329184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359152" y="1490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会用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9751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认识产品 · 学会提问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2377440"/>
            <a:ext cx="146304" cy="146304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1" name="Text 9"/>
          <p:cNvSpPr/>
          <p:nvPr/>
        </p:nvSpPr>
        <p:spPr>
          <a:xfrm>
            <a:off x="987552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 产品与基础入门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880360"/>
            <a:ext cx="146304" cy="146304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任务创建与结果管理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383280"/>
            <a:ext cx="146304" cy="146304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987552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 灵感模块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27248" y="24231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10128" y="137160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5875">
            <a:solidFill>
              <a:srgbClr val="5A6B7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10128" y="137160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5A6B7F"/>
          </a:solidFill>
          <a:ln/>
        </p:spPr>
      </p:sp>
      <p:sp>
        <p:nvSpPr>
          <p:cNvPr id="19" name="Text 17"/>
          <p:cNvSpPr/>
          <p:nvPr/>
        </p:nvSpPr>
        <p:spPr>
          <a:xfrm>
            <a:off x="3493008" y="142646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进阶修能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120640" y="1490472"/>
            <a:ext cx="329184" cy="329184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1490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善用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93008" y="19751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配置能力 · 组合武器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93008" y="2377440"/>
            <a:ext cx="146304" cy="146304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24" name="Text 22"/>
          <p:cNvSpPr/>
          <p:nvPr/>
        </p:nvSpPr>
        <p:spPr>
          <a:xfrm>
            <a:off x="374904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 技能·专家·专家团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93008" y="2880360"/>
            <a:ext cx="146304" cy="146304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26" name="Text 24"/>
          <p:cNvSpPr/>
          <p:nvPr/>
        </p:nvSpPr>
        <p:spPr>
          <a:xfrm>
            <a:off x="374904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 连接器与资料库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93008" y="3383280"/>
            <a:ext cx="146304" cy="146304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28" name="Text 26"/>
          <p:cNvSpPr/>
          <p:nvPr/>
        </p:nvSpPr>
        <p:spPr>
          <a:xfrm>
            <a:off x="374904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第6章 模型配置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88736" y="24231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071616" y="137160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5875">
            <a:solidFill>
              <a:srgbClr val="2E9E8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71616" y="137160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2E9E83"/>
          </a:solidFill>
          <a:ln/>
        </p:spPr>
      </p:sp>
      <p:sp>
        <p:nvSpPr>
          <p:cNvPr id="32" name="Text 30"/>
          <p:cNvSpPr/>
          <p:nvPr/>
        </p:nvSpPr>
        <p:spPr>
          <a:xfrm>
            <a:off x="6254496" y="142646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实战出师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882128" y="1490472"/>
            <a:ext cx="329184" cy="329184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882128" y="1490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驾驭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54496" y="19751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场景贯通 · 无人值守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54496" y="2377440"/>
            <a:ext cx="146304" cy="1463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7" name="Text 35"/>
          <p:cNvSpPr/>
          <p:nvPr/>
        </p:nvSpPr>
        <p:spPr>
          <a:xfrm>
            <a:off x="6510528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第7章 助理连接配置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54496" y="2880360"/>
            <a:ext cx="146304" cy="1463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9" name="Text 37"/>
          <p:cNvSpPr/>
          <p:nvPr/>
        </p:nvSpPr>
        <p:spPr>
          <a:xfrm>
            <a:off x="6510528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第8章 自动化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54496" y="3383280"/>
            <a:ext cx="146304" cy="1463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1" name="Text 39"/>
          <p:cNvSpPr/>
          <p:nvPr/>
        </p:nvSpPr>
        <p:spPr>
          <a:xfrm>
            <a:off x="6510528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第9章 综合实战与 OPC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4343400"/>
            <a:ext cx="8046720" cy="347472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48640" y="4343400"/>
            <a:ext cx="64008" cy="347472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44" name="Text 42"/>
          <p:cNvSpPr/>
          <p:nvPr/>
        </p:nvSpPr>
        <p:spPr>
          <a:xfrm>
            <a:off x="868680" y="434340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全程路线：会用（3 章）→ 善用（3 章）→ 驾驭（3 章），每章配必做实验验证。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九章回顾 · 一页看懂课程全貌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5DBDB"/>
            </a:solidFill>
            <a:prstDash val="solid"/>
          </a:ln>
          <a:effectLst>
            <a:outerShdw sx="100000" sy="100000" kx="0" ky="0" algn="bl" rotWithShape="0" blurRad="50800" dist="1524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64008" cy="1024128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075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3258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产品与基础入门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1737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工作台 · 三模式 · 任务体系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10128" y="123444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5DBDB"/>
            </a:solidFill>
            <a:prstDash val="solid"/>
          </a:ln>
          <a:effectLst>
            <a:outerShdw sx="100000" sy="100000" kx="0" ky="0" algn="bl" rotWithShape="0" blurRad="50800" dist="1524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234440"/>
            <a:ext cx="64008" cy="1024128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13075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41648" y="13258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任务创建与结果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11296" y="1737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三要素公式 · 结果区四类内容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71616" y="123444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5DBDB"/>
            </a:solidFill>
            <a:prstDash val="solid"/>
          </a:ln>
          <a:effectLst>
            <a:outerShdw sx="100000" sy="100000" kx="0" ky="0" algn="bl" rotWithShape="0" blurRad="50800" dist="1524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71616" y="1234440"/>
            <a:ext cx="64008" cy="1024128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6" name="Text 14"/>
          <p:cNvSpPr/>
          <p:nvPr/>
        </p:nvSpPr>
        <p:spPr>
          <a:xfrm>
            <a:off x="6254496" y="13075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03136" y="13258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灵感模块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72784" y="1737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精选成品 · 一键复刻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242316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5DBDB"/>
            </a:solidFill>
            <a:prstDash val="solid"/>
          </a:ln>
          <a:effectLst>
            <a:outerShdw sx="100000" sy="100000" kx="0" ky="0" algn="bl" rotWithShape="0" blurRad="50800" dist="1524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2423160"/>
            <a:ext cx="64008" cy="1024128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4963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25146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技能·专家·专家团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能做什么 / 谁能帮我 / 团队协作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10128" y="242316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5DBDB"/>
            </a:solidFill>
            <a:prstDash val="solid"/>
          </a:ln>
          <a:effectLst>
            <a:outerShdw sx="100000" sy="100000" kx="0" ky="0" algn="bl" rotWithShape="0" blurRad="50800" dist="1524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10128" y="2423160"/>
            <a:ext cx="64008" cy="1024128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26" name="Text 24"/>
          <p:cNvSpPr/>
          <p:nvPr/>
        </p:nvSpPr>
        <p:spPr>
          <a:xfrm>
            <a:off x="3493008" y="24963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041648" y="25146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连接器与资料库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11296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· OAuth · 双模检索 · 存回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71616" y="242316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5DBDB"/>
            </a:solidFill>
            <a:prstDash val="solid"/>
          </a:ln>
          <a:effectLst>
            <a:outerShdw sx="100000" sy="100000" kx="0" ky="0" algn="bl" rotWithShape="0" blurRad="50800" dist="1524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71616" y="2423160"/>
            <a:ext cx="64008" cy="1024128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31" name="Text 29"/>
          <p:cNvSpPr/>
          <p:nvPr/>
        </p:nvSpPr>
        <p:spPr>
          <a:xfrm>
            <a:off x="6254496" y="24963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03136" y="25146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模型配置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72784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推理模式 · 选型 · 成本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361188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5DBDB"/>
            </a:solidFill>
            <a:prstDash val="solid"/>
          </a:ln>
          <a:effectLst>
            <a:outerShdw sx="100000" sy="100000" kx="0" ky="0" algn="bl" rotWithShape="0" blurRad="50800" dist="1524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" y="3611880"/>
            <a:ext cx="64008" cy="1024128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368503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80160" y="37033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助理连接配置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49808" y="4114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微信/企微/飞书 · 远程触达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310128" y="361188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5DBDB"/>
            </a:solidFill>
            <a:prstDash val="solid"/>
          </a:ln>
          <a:effectLst>
            <a:outerShdw sx="100000" sy="100000" kx="0" ky="0" algn="bl" rotWithShape="0" blurRad="50800" dist="1524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310128" y="3611880"/>
            <a:ext cx="64008" cy="1024128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1" name="Text 39"/>
          <p:cNvSpPr/>
          <p:nvPr/>
        </p:nvSpPr>
        <p:spPr>
          <a:xfrm>
            <a:off x="3493008" y="368503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041648" y="37033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511296" y="4114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定时触发 · 无人值守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071616" y="361188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5DBDB"/>
            </a:solidFill>
            <a:prstDash val="solid"/>
          </a:ln>
          <a:effectLst>
            <a:outerShdw sx="100000" sy="100000" kx="0" ky="0" algn="bl" rotWithShape="0" blurRad="50800" dist="1524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71616" y="3611880"/>
            <a:ext cx="64008" cy="1024128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6" name="Text 44"/>
          <p:cNvSpPr/>
          <p:nvPr/>
        </p:nvSpPr>
        <p:spPr>
          <a:xfrm>
            <a:off x="6254496" y="368503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803136" y="37033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综合实战与 OPC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272784" y="4114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四链路串联 · 一人公司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48640" y="4663440"/>
            <a:ext cx="8046720" cy="347472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48640" y="4663440"/>
            <a:ext cx="64008" cy="347472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51" name="Text 49"/>
          <p:cNvSpPr/>
          <p:nvPr/>
        </p:nvSpPr>
        <p:spPr>
          <a:xfrm>
            <a:off x="868680" y="46634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核心能力一以贯之：理解语言 · 规划执行 · 多模态 · 本地文件操作。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-1280160"/>
            <a:ext cx="2926080" cy="2926080"/>
          </a:xfrm>
          <a:prstGeom prst="ellipse">
            <a:avLst/>
          </a:prstGeom>
          <a:solidFill>
            <a:srgbClr val="28B894">
              <a:alpha val="20000"/>
            </a:srgbClr>
          </a:solidFill>
          <a:ln w="12700">
            <a:solidFill>
              <a:srgbClr val="B8E8DC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3108960"/>
            <a:ext cx="2743200" cy="2743200"/>
          </a:xfrm>
          <a:prstGeom prst="ellipse">
            <a:avLst/>
          </a:prstGeom>
          <a:solidFill>
            <a:srgbClr val="2E9E83">
              <a:alpha val="22000"/>
            </a:srgbClr>
          </a:solidFill>
          <a:ln w="12700">
            <a:solidFill>
              <a:srgbClr val="B8E8DC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960120"/>
            <a:ext cx="1371600" cy="1371600"/>
          </a:xfrm>
          <a:prstGeom prst="ellipse">
            <a:avLst/>
          </a:prstGeom>
          <a:solidFill>
            <a:srgbClr val="FFFFFF">
              <a:alpha val="88000"/>
            </a:srgbClr>
          </a:solidFill>
          <a:ln w="19050">
            <a:solidFill>
              <a:srgbClr val="B8E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161288"/>
            <a:ext cx="969264" cy="969264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93268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651760" y="10515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恭喜完成全部课程学习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51760" y="16916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从一句需求到一人公司级交付 —— 你已经走完了「认知 → 能力 → 场景」的完整路径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651760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51760" y="2990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章体系化课程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0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72000" y="2990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套配套实验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92240" y="2990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套教学课件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12480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30+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412480" y="2990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个官方文档链接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68680" y="3383280"/>
            <a:ext cx="740664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B8E8DC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3493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下一步建议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43000" y="378561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F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完成实验 9（综合演练·咖啡品牌季度经营分析）并对照综合评分表自评；结合官方文档深化练习，向 OPC 一人公司进阶。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4526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D8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课程资源：textbook/ 教材 · labs/ 配套实验 · ppt/ 课件   |   官方文档：workbuddy.cn/docs/workbuddy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48280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效率进阶实训课程 · 2026 教育版 · 感谢使用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WorkBuddy 效率进阶实训课程 · 总览</dc:title>
  <dc:subject>PptxGenJS Presentation</dc:subject>
  <dc:creator>WorkBuddy 效率进阶实训课程</dc:creator>
  <cp:lastModifiedBy>WorkBuddy 效率进阶实训课程</cp:lastModifiedBy>
  <cp:revision>1</cp:revision>
  <dcterms:created xsi:type="dcterms:W3CDTF">2026-08-17T12:53:24Z</dcterms:created>
  <dcterms:modified xsi:type="dcterms:W3CDTF">2026-08-17T12:53:24Z</dcterms:modified>
</cp:coreProperties>
</file>